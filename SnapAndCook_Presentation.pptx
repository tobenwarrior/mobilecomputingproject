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6" d="100"/>
          <a:sy n="156" d="100"/>
        </p:scale>
        <p:origin x="456" y="1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85A847D-D043-4220-AFC9-DD3166CC2DA4}" type="datetimeFigureOut">
              <a:rPr lang="en-SG" smtClean="0"/>
              <a:t>22/2/2026</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675D35-E381-4437-9D8C-020FC23383EC}" type="slidenum">
              <a:rPr lang="en-SG" smtClean="0"/>
              <a:t>‹#›</a:t>
            </a:fld>
            <a:endParaRPr lang="en-SG"/>
          </a:p>
        </p:txBody>
      </p:sp>
    </p:spTree>
    <p:extLst>
      <p:ext uri="{BB962C8B-B14F-4D97-AF65-F5344CB8AC3E}">
        <p14:creationId xmlns:p14="http://schemas.microsoft.com/office/powerpoint/2010/main" val="365892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02675D35-E381-4437-9D8C-020FC23383EC}" type="slidenum">
              <a:rPr lang="en-SG" smtClean="0"/>
              <a:t>3</a:t>
            </a:fld>
            <a:endParaRPr lang="en-SG"/>
          </a:p>
        </p:txBody>
      </p:sp>
    </p:spTree>
    <p:extLst>
      <p:ext uri="{BB962C8B-B14F-4D97-AF65-F5344CB8AC3E}">
        <p14:creationId xmlns:p14="http://schemas.microsoft.com/office/powerpoint/2010/main" val="21973013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2/22/2026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2/22/2026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2/22/2026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2/22/2026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7.xml"/><Relationship Id="rId1" Type="http://schemas.openxmlformats.org/officeDocument/2006/relationships/video" Target="https://www.youtube.com/embed/JWJMpj2Y8c0?feature=oembed"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3383280"/>
            <a:ext cx="12188952" cy="347472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3291840"/>
            <a:ext cx="12188952" cy="109728"/>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548640" y="594360"/>
            <a:ext cx="1554480" cy="155448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777240"/>
            <a:ext cx="1554480" cy="1097280"/>
          </a:xfrm>
          <a:prstGeom prst="rect">
            <a:avLst/>
          </a:prstGeom>
          <a:noFill/>
        </p:spPr>
        <p:txBody>
          <a:bodyPr wrap="square">
            <a:spAutoFit/>
          </a:bodyPr>
          <a:lstStyle/>
          <a:p>
            <a:pPr algn="ctr"/>
            <a:r>
              <a:rPr sz="3600" b="1" i="0">
                <a:solidFill>
                  <a:srgbClr val="FFFFFF"/>
                </a:solidFill>
                <a:latin typeface="Calibri"/>
              </a:rPr>
              <a:t>S&amp;C</a:t>
            </a:r>
          </a:p>
        </p:txBody>
      </p:sp>
      <p:sp>
        <p:nvSpPr>
          <p:cNvPr id="7" name="TextBox 6"/>
          <p:cNvSpPr txBox="1"/>
          <p:nvPr/>
        </p:nvSpPr>
        <p:spPr>
          <a:xfrm>
            <a:off x="2377440" y="685800"/>
            <a:ext cx="8686800" cy="1005840"/>
          </a:xfrm>
          <a:prstGeom prst="rect">
            <a:avLst/>
          </a:prstGeom>
          <a:noFill/>
        </p:spPr>
        <p:txBody>
          <a:bodyPr wrap="square">
            <a:spAutoFit/>
          </a:bodyPr>
          <a:lstStyle/>
          <a:p>
            <a:pPr algn="l"/>
            <a:r>
              <a:rPr sz="5400" b="1" i="0">
                <a:solidFill>
                  <a:srgbClr val="FFFFFF"/>
                </a:solidFill>
                <a:latin typeface="Calibri"/>
              </a:rPr>
              <a:t>Snap &amp; Cook</a:t>
            </a:r>
          </a:p>
        </p:txBody>
      </p:sp>
      <p:sp>
        <p:nvSpPr>
          <p:cNvPr id="8" name="TextBox 7"/>
          <p:cNvSpPr txBox="1"/>
          <p:nvPr/>
        </p:nvSpPr>
        <p:spPr>
          <a:xfrm>
            <a:off x="2377440" y="1737360"/>
            <a:ext cx="8686800" cy="594360"/>
          </a:xfrm>
          <a:prstGeom prst="rect">
            <a:avLst/>
          </a:prstGeom>
          <a:noFill/>
        </p:spPr>
        <p:txBody>
          <a:bodyPr wrap="square">
            <a:spAutoFit/>
          </a:bodyPr>
          <a:lstStyle/>
          <a:p>
            <a:pPr algn="l"/>
            <a:r>
              <a:rPr sz="1900" b="0" i="0">
                <a:solidFill>
                  <a:srgbClr val="66BB6A"/>
                </a:solidFill>
                <a:latin typeface="Calibri"/>
              </a:rPr>
              <a:t>AI-Powered Ingredient Detection &amp; Recipe Guidance</a:t>
            </a:r>
          </a:p>
        </p:txBody>
      </p:sp>
      <p:sp>
        <p:nvSpPr>
          <p:cNvPr id="9" name="TextBox 8"/>
          <p:cNvSpPr txBox="1"/>
          <p:nvPr/>
        </p:nvSpPr>
        <p:spPr>
          <a:xfrm>
            <a:off x="548640" y="3611880"/>
            <a:ext cx="11064240" cy="685800"/>
          </a:xfrm>
          <a:prstGeom prst="rect">
            <a:avLst/>
          </a:prstGeom>
          <a:noFill/>
        </p:spPr>
        <p:txBody>
          <a:bodyPr wrap="square">
            <a:spAutoFit/>
          </a:bodyPr>
          <a:lstStyle/>
          <a:p>
            <a:pPr algn="ctr"/>
            <a:r>
              <a:rPr sz="2500" b="0" i="1">
                <a:solidFill>
                  <a:srgbClr val="FFA726"/>
                </a:solidFill>
                <a:latin typeface="Calibri"/>
              </a:rPr>
              <a:t>"Turn your fridge into a recipe book"</a:t>
            </a:r>
          </a:p>
        </p:txBody>
      </p:sp>
      <p:sp>
        <p:nvSpPr>
          <p:cNvPr id="10" name="TextBox 9"/>
          <p:cNvSpPr txBox="1"/>
          <p:nvPr/>
        </p:nvSpPr>
        <p:spPr>
          <a:xfrm>
            <a:off x="548640" y="4663440"/>
            <a:ext cx="11064240" cy="457200"/>
          </a:xfrm>
          <a:prstGeom prst="rect">
            <a:avLst/>
          </a:prstGeom>
          <a:noFill/>
        </p:spPr>
        <p:txBody>
          <a:bodyPr wrap="square">
            <a:spAutoFit/>
          </a:bodyPr>
          <a:lstStyle/>
          <a:p>
            <a:pPr algn="ctr"/>
            <a:r>
              <a:rPr sz="1400" b="0" i="0">
                <a:solidFill>
                  <a:srgbClr val="FFFFFF"/>
                </a:solidFill>
                <a:latin typeface="Calibri"/>
              </a:rPr>
              <a:t>Ernest Ho  ·  Lucas Yee  ·  Tan Shun Zhi Tomy  ·  Wong Woon Li  ·  Yan Yu  ·  Muhammad Zikry</a:t>
            </a:r>
          </a:p>
        </p:txBody>
      </p:sp>
      <p:sp>
        <p:nvSpPr>
          <p:cNvPr id="11" name="TextBox 10"/>
          <p:cNvSpPr txBox="1"/>
          <p:nvPr/>
        </p:nvSpPr>
        <p:spPr>
          <a:xfrm>
            <a:off x="548640" y="5212080"/>
            <a:ext cx="11064240" cy="365760"/>
          </a:xfrm>
          <a:prstGeom prst="rect">
            <a:avLst/>
          </a:prstGeom>
          <a:noFill/>
        </p:spPr>
        <p:txBody>
          <a:bodyPr wrap="square">
            <a:spAutoFit/>
          </a:bodyPr>
          <a:lstStyle/>
          <a:p>
            <a:pPr algn="ctr"/>
            <a:r>
              <a:rPr sz="1200" b="0" i="0">
                <a:solidFill>
                  <a:srgbClr val="66BB6A"/>
                </a:solidFill>
                <a:latin typeface="Calibri"/>
              </a:rPr>
              <a:t>CSD3156 Mobile and Cloud Computing  |  Singapore Institute of Technology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91440"/>
            <a:ext cx="10972800" cy="658368"/>
          </a:xfrm>
          <a:prstGeom prst="rect">
            <a:avLst/>
          </a:prstGeom>
          <a:noFill/>
        </p:spPr>
        <p:txBody>
          <a:bodyPr wrap="square">
            <a:spAutoFit/>
          </a:bodyPr>
          <a:lstStyle/>
          <a:p>
            <a:pPr algn="l"/>
            <a:r>
              <a:rPr sz="3000" b="1" i="0">
                <a:solidFill>
                  <a:srgbClr val="FFFFFF"/>
                </a:solidFill>
                <a:latin typeface="Calibri"/>
              </a:rPr>
              <a:t>Problem &amp; Solution</a:t>
            </a:r>
          </a:p>
        </p:txBody>
      </p:sp>
      <p:sp>
        <p:nvSpPr>
          <p:cNvPr id="4" name="Rectangle 3"/>
          <p:cNvSpPr/>
          <p:nvPr/>
        </p:nvSpPr>
        <p:spPr>
          <a:xfrm>
            <a:off x="0" y="1097280"/>
            <a:ext cx="12188952" cy="54864"/>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6537960"/>
            <a:ext cx="12188952" cy="32004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56248"/>
            <a:ext cx="11430000" cy="256032"/>
          </a:xfrm>
          <a:prstGeom prst="rect">
            <a:avLst/>
          </a:prstGeom>
          <a:noFill/>
        </p:spPr>
        <p:txBody>
          <a:bodyPr wrap="square">
            <a:spAutoFit/>
          </a:bodyPr>
          <a:lstStyle/>
          <a:p>
            <a:pPr algn="l"/>
            <a:r>
              <a:rPr sz="1000" b="0" i="0">
                <a:solidFill>
                  <a:srgbClr val="66BB6A"/>
                </a:solidFill>
                <a:latin typeface="Calibri"/>
              </a:rPr>
              <a:t>Snap &amp; Cook  |  CSD3156 Mobile and Cloud Computing  |  SIT</a:t>
            </a:r>
          </a:p>
        </p:txBody>
      </p:sp>
      <p:sp>
        <p:nvSpPr>
          <p:cNvPr id="7" name="Rectangle 6"/>
          <p:cNvSpPr/>
          <p:nvPr/>
        </p:nvSpPr>
        <p:spPr>
          <a:xfrm>
            <a:off x="365760" y="1261872"/>
            <a:ext cx="5394960" cy="4956048"/>
          </a:xfrm>
          <a:prstGeom prst="rect">
            <a:avLst/>
          </a:prstGeom>
          <a:solidFill>
            <a:srgbClr val="FFEBEE"/>
          </a:solidFill>
          <a:ln w="12700">
            <a:solidFill>
              <a:srgbClr val="EF9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1353312"/>
            <a:ext cx="4937760" cy="457200"/>
          </a:xfrm>
          <a:prstGeom prst="rect">
            <a:avLst/>
          </a:prstGeom>
          <a:noFill/>
        </p:spPr>
        <p:txBody>
          <a:bodyPr wrap="square">
            <a:spAutoFit/>
          </a:bodyPr>
          <a:lstStyle/>
          <a:p>
            <a:pPr algn="l"/>
            <a:r>
              <a:rPr sz="1900" b="1" i="0">
                <a:solidFill>
                  <a:srgbClr val="C62828"/>
                </a:solidFill>
                <a:latin typeface="Calibri"/>
              </a:rPr>
              <a:t>The Problem</a:t>
            </a:r>
          </a:p>
        </p:txBody>
      </p:sp>
      <p:sp>
        <p:nvSpPr>
          <p:cNvPr id="9" name="Rectangle 8"/>
          <p:cNvSpPr/>
          <p:nvPr/>
        </p:nvSpPr>
        <p:spPr>
          <a:xfrm>
            <a:off x="594360" y="1993392"/>
            <a:ext cx="256032" cy="256032"/>
          </a:xfrm>
          <a:prstGeom prst="rect">
            <a:avLst/>
          </a:prstGeom>
          <a:solidFill>
            <a:srgbClr val="EF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94360" y="1975104"/>
            <a:ext cx="256032" cy="292608"/>
          </a:xfrm>
          <a:prstGeom prst="rect">
            <a:avLst/>
          </a:prstGeom>
          <a:noFill/>
        </p:spPr>
        <p:txBody>
          <a:bodyPr wrap="square">
            <a:spAutoFit/>
          </a:bodyPr>
          <a:lstStyle/>
          <a:p>
            <a:pPr algn="ctr"/>
            <a:r>
              <a:rPr sz="1300" b="1" i="0">
                <a:solidFill>
                  <a:srgbClr val="FFFFFF"/>
                </a:solidFill>
                <a:latin typeface="Calibri"/>
              </a:rPr>
              <a:t>!</a:t>
            </a:r>
          </a:p>
        </p:txBody>
      </p:sp>
      <p:sp>
        <p:nvSpPr>
          <p:cNvPr id="11" name="TextBox 10"/>
          <p:cNvSpPr txBox="1"/>
          <p:nvPr/>
        </p:nvSpPr>
        <p:spPr>
          <a:xfrm>
            <a:off x="960120" y="1920240"/>
            <a:ext cx="4480560" cy="411480"/>
          </a:xfrm>
          <a:prstGeom prst="rect">
            <a:avLst/>
          </a:prstGeom>
          <a:noFill/>
        </p:spPr>
        <p:txBody>
          <a:bodyPr wrap="square">
            <a:spAutoFit/>
          </a:bodyPr>
          <a:lstStyle/>
          <a:p>
            <a:pPr algn="l"/>
            <a:r>
              <a:rPr sz="1300" b="0" i="0">
                <a:solidFill>
                  <a:srgbClr val="212121"/>
                </a:solidFill>
                <a:latin typeface="Calibri"/>
              </a:rPr>
              <a:t>Opening the fridge with no idea what to cook</a:t>
            </a:r>
          </a:p>
        </p:txBody>
      </p:sp>
      <p:sp>
        <p:nvSpPr>
          <p:cNvPr id="12" name="Rectangle 11"/>
          <p:cNvSpPr/>
          <p:nvPr/>
        </p:nvSpPr>
        <p:spPr>
          <a:xfrm>
            <a:off x="594360" y="2816352"/>
            <a:ext cx="256032" cy="256032"/>
          </a:xfrm>
          <a:prstGeom prst="rect">
            <a:avLst/>
          </a:prstGeom>
          <a:solidFill>
            <a:srgbClr val="EF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2798064"/>
            <a:ext cx="256032" cy="292608"/>
          </a:xfrm>
          <a:prstGeom prst="rect">
            <a:avLst/>
          </a:prstGeom>
          <a:noFill/>
        </p:spPr>
        <p:txBody>
          <a:bodyPr wrap="square">
            <a:spAutoFit/>
          </a:bodyPr>
          <a:lstStyle/>
          <a:p>
            <a:pPr algn="ctr"/>
            <a:r>
              <a:rPr sz="1300" b="1" i="0">
                <a:solidFill>
                  <a:srgbClr val="FFFFFF"/>
                </a:solidFill>
                <a:latin typeface="Calibri"/>
              </a:rPr>
              <a:t>!</a:t>
            </a:r>
          </a:p>
        </p:txBody>
      </p:sp>
      <p:sp>
        <p:nvSpPr>
          <p:cNvPr id="14" name="TextBox 13"/>
          <p:cNvSpPr txBox="1"/>
          <p:nvPr/>
        </p:nvSpPr>
        <p:spPr>
          <a:xfrm>
            <a:off x="960120" y="2743200"/>
            <a:ext cx="4480560" cy="411480"/>
          </a:xfrm>
          <a:prstGeom prst="rect">
            <a:avLst/>
          </a:prstGeom>
          <a:noFill/>
        </p:spPr>
        <p:txBody>
          <a:bodyPr wrap="square">
            <a:spAutoFit/>
          </a:bodyPr>
          <a:lstStyle/>
          <a:p>
            <a:pPr algn="l"/>
            <a:r>
              <a:rPr sz="1300" b="0" i="0">
                <a:solidFill>
                  <a:srgbClr val="212121"/>
                </a:solidFill>
                <a:latin typeface="Calibri"/>
              </a:rPr>
              <a:t>Manually searching recipes by ingredient is tedious</a:t>
            </a:r>
          </a:p>
        </p:txBody>
      </p:sp>
      <p:sp>
        <p:nvSpPr>
          <p:cNvPr id="15" name="Rectangle 14"/>
          <p:cNvSpPr/>
          <p:nvPr/>
        </p:nvSpPr>
        <p:spPr>
          <a:xfrm>
            <a:off x="594360" y="3639312"/>
            <a:ext cx="256032" cy="256032"/>
          </a:xfrm>
          <a:prstGeom prst="rect">
            <a:avLst/>
          </a:prstGeom>
          <a:solidFill>
            <a:srgbClr val="EF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94360" y="3621024"/>
            <a:ext cx="256032" cy="292608"/>
          </a:xfrm>
          <a:prstGeom prst="rect">
            <a:avLst/>
          </a:prstGeom>
          <a:noFill/>
        </p:spPr>
        <p:txBody>
          <a:bodyPr wrap="square">
            <a:spAutoFit/>
          </a:bodyPr>
          <a:lstStyle/>
          <a:p>
            <a:pPr algn="ctr"/>
            <a:r>
              <a:rPr sz="1300" b="1" i="0">
                <a:solidFill>
                  <a:srgbClr val="FFFFFF"/>
                </a:solidFill>
                <a:latin typeface="Calibri"/>
              </a:rPr>
              <a:t>!</a:t>
            </a:r>
          </a:p>
        </p:txBody>
      </p:sp>
      <p:sp>
        <p:nvSpPr>
          <p:cNvPr id="17" name="TextBox 16"/>
          <p:cNvSpPr txBox="1"/>
          <p:nvPr/>
        </p:nvSpPr>
        <p:spPr>
          <a:xfrm>
            <a:off x="960120" y="3566160"/>
            <a:ext cx="4480560" cy="411480"/>
          </a:xfrm>
          <a:prstGeom prst="rect">
            <a:avLst/>
          </a:prstGeom>
          <a:noFill/>
        </p:spPr>
        <p:txBody>
          <a:bodyPr wrap="square">
            <a:spAutoFit/>
          </a:bodyPr>
          <a:lstStyle/>
          <a:p>
            <a:pPr algn="l"/>
            <a:r>
              <a:rPr sz="1300" b="0" i="0">
                <a:solidFill>
                  <a:srgbClr val="212121"/>
                </a:solidFill>
                <a:latin typeface="Calibri"/>
              </a:rPr>
              <a:t>Forgetting which step you are on with messy hands</a:t>
            </a:r>
          </a:p>
        </p:txBody>
      </p:sp>
      <p:sp>
        <p:nvSpPr>
          <p:cNvPr id="18" name="Rectangle 17"/>
          <p:cNvSpPr/>
          <p:nvPr/>
        </p:nvSpPr>
        <p:spPr>
          <a:xfrm>
            <a:off x="594360" y="4462272"/>
            <a:ext cx="256032" cy="256032"/>
          </a:xfrm>
          <a:prstGeom prst="rect">
            <a:avLst/>
          </a:prstGeom>
          <a:solidFill>
            <a:srgbClr val="EF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4443983"/>
            <a:ext cx="256032" cy="292608"/>
          </a:xfrm>
          <a:prstGeom prst="rect">
            <a:avLst/>
          </a:prstGeom>
          <a:noFill/>
        </p:spPr>
        <p:txBody>
          <a:bodyPr wrap="square">
            <a:spAutoFit/>
          </a:bodyPr>
          <a:lstStyle/>
          <a:p>
            <a:pPr algn="ctr"/>
            <a:r>
              <a:rPr sz="1300" b="1" i="0">
                <a:solidFill>
                  <a:srgbClr val="FFFFFF"/>
                </a:solidFill>
                <a:latin typeface="Calibri"/>
              </a:rPr>
              <a:t>!</a:t>
            </a:r>
          </a:p>
        </p:txBody>
      </p:sp>
      <p:sp>
        <p:nvSpPr>
          <p:cNvPr id="20" name="TextBox 19"/>
          <p:cNvSpPr txBox="1"/>
          <p:nvPr/>
        </p:nvSpPr>
        <p:spPr>
          <a:xfrm>
            <a:off x="960120" y="4389120"/>
            <a:ext cx="4480560" cy="411480"/>
          </a:xfrm>
          <a:prstGeom prst="rect">
            <a:avLst/>
          </a:prstGeom>
          <a:noFill/>
        </p:spPr>
        <p:txBody>
          <a:bodyPr wrap="square">
            <a:spAutoFit/>
          </a:bodyPr>
          <a:lstStyle/>
          <a:p>
            <a:pPr algn="l"/>
            <a:r>
              <a:rPr sz="1300" b="0" i="0">
                <a:solidFill>
                  <a:srgbClr val="212121"/>
                </a:solidFill>
                <a:latin typeface="Calibri"/>
              </a:rPr>
              <a:t>Free-tier API quotas interrupting recipe search</a:t>
            </a:r>
          </a:p>
        </p:txBody>
      </p:sp>
      <p:sp>
        <p:nvSpPr>
          <p:cNvPr id="21" name="Rectangle 20"/>
          <p:cNvSpPr/>
          <p:nvPr/>
        </p:nvSpPr>
        <p:spPr>
          <a:xfrm>
            <a:off x="594360" y="5285232"/>
            <a:ext cx="256032" cy="256032"/>
          </a:xfrm>
          <a:prstGeom prst="rect">
            <a:avLst/>
          </a:prstGeom>
          <a:solidFill>
            <a:srgbClr val="EF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94360" y="5266944"/>
            <a:ext cx="256032" cy="292608"/>
          </a:xfrm>
          <a:prstGeom prst="rect">
            <a:avLst/>
          </a:prstGeom>
          <a:noFill/>
        </p:spPr>
        <p:txBody>
          <a:bodyPr wrap="square">
            <a:spAutoFit/>
          </a:bodyPr>
          <a:lstStyle/>
          <a:p>
            <a:pPr algn="ctr"/>
            <a:r>
              <a:rPr sz="1300" b="1" i="0">
                <a:solidFill>
                  <a:srgbClr val="FFFFFF"/>
                </a:solidFill>
                <a:latin typeface="Calibri"/>
              </a:rPr>
              <a:t>!</a:t>
            </a:r>
          </a:p>
        </p:txBody>
      </p:sp>
      <p:sp>
        <p:nvSpPr>
          <p:cNvPr id="23" name="TextBox 22"/>
          <p:cNvSpPr txBox="1"/>
          <p:nvPr/>
        </p:nvSpPr>
        <p:spPr>
          <a:xfrm>
            <a:off x="960120" y="5212080"/>
            <a:ext cx="4480560" cy="411480"/>
          </a:xfrm>
          <a:prstGeom prst="rect">
            <a:avLst/>
          </a:prstGeom>
          <a:noFill/>
        </p:spPr>
        <p:txBody>
          <a:bodyPr wrap="square">
            <a:spAutoFit/>
          </a:bodyPr>
          <a:lstStyle/>
          <a:p>
            <a:pPr algn="l"/>
            <a:r>
              <a:rPr sz="1300" b="0" i="0">
                <a:solidFill>
                  <a:srgbClr val="212121"/>
                </a:solidFill>
                <a:latin typeface="Calibri"/>
              </a:rPr>
              <a:t>Packaged ingredients with no obvious name</a:t>
            </a:r>
          </a:p>
        </p:txBody>
      </p:sp>
      <p:sp>
        <p:nvSpPr>
          <p:cNvPr id="24" name="Rectangle 23"/>
          <p:cNvSpPr/>
          <p:nvPr/>
        </p:nvSpPr>
        <p:spPr>
          <a:xfrm>
            <a:off x="6217920" y="1261872"/>
            <a:ext cx="5577840" cy="4956048"/>
          </a:xfrm>
          <a:prstGeom prst="rect">
            <a:avLst/>
          </a:prstGeom>
          <a:solidFill>
            <a:srgbClr val="E8F5E9"/>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46520" y="1353312"/>
            <a:ext cx="5120640" cy="457200"/>
          </a:xfrm>
          <a:prstGeom prst="rect">
            <a:avLst/>
          </a:prstGeom>
          <a:noFill/>
        </p:spPr>
        <p:txBody>
          <a:bodyPr wrap="square">
            <a:spAutoFit/>
          </a:bodyPr>
          <a:lstStyle/>
          <a:p>
            <a:pPr algn="l"/>
            <a:r>
              <a:rPr sz="1900" b="1" i="0">
                <a:solidFill>
                  <a:srgbClr val="1B5E20"/>
                </a:solidFill>
                <a:latin typeface="Calibri"/>
              </a:rPr>
              <a:t>Our Solution</a:t>
            </a:r>
          </a:p>
        </p:txBody>
      </p:sp>
      <p:sp>
        <p:nvSpPr>
          <p:cNvPr id="26" name="Rectangle 25"/>
          <p:cNvSpPr/>
          <p:nvPr/>
        </p:nvSpPr>
        <p:spPr>
          <a:xfrm>
            <a:off x="6446520" y="1975104"/>
            <a:ext cx="256032" cy="256032"/>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446520" y="1956816"/>
            <a:ext cx="256032" cy="292608"/>
          </a:xfrm>
          <a:prstGeom prst="rect">
            <a:avLst/>
          </a:prstGeom>
          <a:noFill/>
        </p:spPr>
        <p:txBody>
          <a:bodyPr wrap="square">
            <a:spAutoFit/>
          </a:bodyPr>
          <a:lstStyle/>
          <a:p>
            <a:pPr algn="ctr"/>
            <a:r>
              <a:rPr sz="1100" b="1" i="0">
                <a:solidFill>
                  <a:srgbClr val="FFFFFF"/>
                </a:solidFill>
                <a:latin typeface="Calibri"/>
              </a:rPr>
              <a:t>v</a:t>
            </a:r>
          </a:p>
        </p:txBody>
      </p:sp>
      <p:sp>
        <p:nvSpPr>
          <p:cNvPr id="28" name="TextBox 27"/>
          <p:cNvSpPr txBox="1"/>
          <p:nvPr/>
        </p:nvSpPr>
        <p:spPr>
          <a:xfrm>
            <a:off x="6812280" y="1920240"/>
            <a:ext cx="4754880" cy="274320"/>
          </a:xfrm>
          <a:prstGeom prst="rect">
            <a:avLst/>
          </a:prstGeom>
          <a:noFill/>
        </p:spPr>
        <p:txBody>
          <a:bodyPr wrap="square">
            <a:spAutoFit/>
          </a:bodyPr>
          <a:lstStyle/>
          <a:p>
            <a:pPr algn="l"/>
            <a:r>
              <a:rPr sz="1300" b="1" i="0">
                <a:solidFill>
                  <a:srgbClr val="1B5E20"/>
                </a:solidFill>
                <a:latin typeface="Calibri"/>
              </a:rPr>
              <a:t>Snap a photo</a:t>
            </a:r>
          </a:p>
        </p:txBody>
      </p:sp>
      <p:sp>
        <p:nvSpPr>
          <p:cNvPr id="29" name="TextBox 28"/>
          <p:cNvSpPr txBox="1"/>
          <p:nvPr/>
        </p:nvSpPr>
        <p:spPr>
          <a:xfrm>
            <a:off x="6812280" y="2194560"/>
            <a:ext cx="4754880" cy="292608"/>
          </a:xfrm>
          <a:prstGeom prst="rect">
            <a:avLst/>
          </a:prstGeom>
          <a:noFill/>
        </p:spPr>
        <p:txBody>
          <a:bodyPr wrap="square">
            <a:spAutoFit/>
          </a:bodyPr>
          <a:lstStyle/>
          <a:p>
            <a:pPr algn="l"/>
            <a:r>
              <a:rPr sz="1100" b="0" i="0">
                <a:solidFill>
                  <a:srgbClr val="616161"/>
                </a:solidFill>
                <a:latin typeface="Calibri"/>
              </a:rPr>
              <a:t>Gemini AI identifies ingredients instantly</a:t>
            </a:r>
          </a:p>
        </p:txBody>
      </p:sp>
      <p:sp>
        <p:nvSpPr>
          <p:cNvPr id="30" name="Rectangle 29"/>
          <p:cNvSpPr/>
          <p:nvPr/>
        </p:nvSpPr>
        <p:spPr>
          <a:xfrm>
            <a:off x="6446520" y="2798064"/>
            <a:ext cx="256032" cy="256032"/>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446520" y="2779776"/>
            <a:ext cx="256032" cy="292608"/>
          </a:xfrm>
          <a:prstGeom prst="rect">
            <a:avLst/>
          </a:prstGeom>
          <a:noFill/>
        </p:spPr>
        <p:txBody>
          <a:bodyPr wrap="square">
            <a:spAutoFit/>
          </a:bodyPr>
          <a:lstStyle/>
          <a:p>
            <a:pPr algn="ctr"/>
            <a:r>
              <a:rPr sz="1100" b="1" i="0">
                <a:solidFill>
                  <a:srgbClr val="FFFFFF"/>
                </a:solidFill>
                <a:latin typeface="Calibri"/>
              </a:rPr>
              <a:t>v</a:t>
            </a:r>
          </a:p>
        </p:txBody>
      </p:sp>
      <p:sp>
        <p:nvSpPr>
          <p:cNvPr id="32" name="TextBox 31"/>
          <p:cNvSpPr txBox="1"/>
          <p:nvPr/>
        </p:nvSpPr>
        <p:spPr>
          <a:xfrm>
            <a:off x="6812280" y="2743200"/>
            <a:ext cx="4754880" cy="274320"/>
          </a:xfrm>
          <a:prstGeom prst="rect">
            <a:avLst/>
          </a:prstGeom>
          <a:noFill/>
        </p:spPr>
        <p:txBody>
          <a:bodyPr wrap="square">
            <a:spAutoFit/>
          </a:bodyPr>
          <a:lstStyle/>
          <a:p>
            <a:pPr algn="l"/>
            <a:r>
              <a:rPr sz="1300" b="1" i="0">
                <a:solidFill>
                  <a:srgbClr val="1B5E20"/>
                </a:solidFill>
                <a:latin typeface="Calibri"/>
              </a:rPr>
              <a:t>Barcode scan</a:t>
            </a:r>
          </a:p>
        </p:txBody>
      </p:sp>
      <p:sp>
        <p:nvSpPr>
          <p:cNvPr id="33" name="TextBox 32"/>
          <p:cNvSpPr txBox="1"/>
          <p:nvPr/>
        </p:nvSpPr>
        <p:spPr>
          <a:xfrm>
            <a:off x="6812280" y="3017520"/>
            <a:ext cx="4754880" cy="292608"/>
          </a:xfrm>
          <a:prstGeom prst="rect">
            <a:avLst/>
          </a:prstGeom>
          <a:noFill/>
        </p:spPr>
        <p:txBody>
          <a:bodyPr wrap="square">
            <a:spAutoFit/>
          </a:bodyPr>
          <a:lstStyle/>
          <a:p>
            <a:pPr algn="l"/>
            <a:r>
              <a:rPr sz="1100" b="0" i="0">
                <a:solidFill>
                  <a:srgbClr val="616161"/>
                </a:solidFill>
                <a:latin typeface="Calibri"/>
              </a:rPr>
              <a:t>ML Kit + Open Food Facts resolves product names</a:t>
            </a:r>
          </a:p>
        </p:txBody>
      </p:sp>
      <p:sp>
        <p:nvSpPr>
          <p:cNvPr id="34" name="Rectangle 33"/>
          <p:cNvSpPr/>
          <p:nvPr/>
        </p:nvSpPr>
        <p:spPr>
          <a:xfrm>
            <a:off x="6446520" y="3621024"/>
            <a:ext cx="256032" cy="256032"/>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446520" y="3602736"/>
            <a:ext cx="256032" cy="292608"/>
          </a:xfrm>
          <a:prstGeom prst="rect">
            <a:avLst/>
          </a:prstGeom>
          <a:noFill/>
        </p:spPr>
        <p:txBody>
          <a:bodyPr wrap="square">
            <a:spAutoFit/>
          </a:bodyPr>
          <a:lstStyle/>
          <a:p>
            <a:pPr algn="ctr"/>
            <a:r>
              <a:rPr sz="1100" b="1" i="0">
                <a:solidFill>
                  <a:srgbClr val="FFFFFF"/>
                </a:solidFill>
                <a:latin typeface="Calibri"/>
              </a:rPr>
              <a:t>v</a:t>
            </a:r>
          </a:p>
        </p:txBody>
      </p:sp>
      <p:sp>
        <p:nvSpPr>
          <p:cNvPr id="36" name="TextBox 35"/>
          <p:cNvSpPr txBox="1"/>
          <p:nvPr/>
        </p:nvSpPr>
        <p:spPr>
          <a:xfrm>
            <a:off x="6812280" y="3566160"/>
            <a:ext cx="4754880" cy="274320"/>
          </a:xfrm>
          <a:prstGeom prst="rect">
            <a:avLst/>
          </a:prstGeom>
          <a:noFill/>
        </p:spPr>
        <p:txBody>
          <a:bodyPr wrap="square">
            <a:spAutoFit/>
          </a:bodyPr>
          <a:lstStyle/>
          <a:p>
            <a:pPr algn="l"/>
            <a:r>
              <a:rPr sz="1300" b="1" i="0">
                <a:solidFill>
                  <a:srgbClr val="1B5E20"/>
                </a:solidFill>
                <a:latin typeface="Calibri"/>
              </a:rPr>
              <a:t>Hands-free mode</a:t>
            </a:r>
          </a:p>
        </p:txBody>
      </p:sp>
      <p:sp>
        <p:nvSpPr>
          <p:cNvPr id="37" name="TextBox 36"/>
          <p:cNvSpPr txBox="1"/>
          <p:nvPr/>
        </p:nvSpPr>
        <p:spPr>
          <a:xfrm>
            <a:off x="6812280" y="3840480"/>
            <a:ext cx="4754880" cy="292608"/>
          </a:xfrm>
          <a:prstGeom prst="rect">
            <a:avLst/>
          </a:prstGeom>
          <a:noFill/>
        </p:spPr>
        <p:txBody>
          <a:bodyPr wrap="square">
            <a:spAutoFit/>
          </a:bodyPr>
          <a:lstStyle/>
          <a:p>
            <a:pPr algn="l"/>
            <a:r>
              <a:rPr sz="1100" b="0" i="0">
                <a:solidFill>
                  <a:srgbClr val="616161"/>
                </a:solidFill>
                <a:latin typeface="Calibri"/>
              </a:rPr>
              <a:t>TTS reads steps aloud; voice commands navigate</a:t>
            </a:r>
          </a:p>
        </p:txBody>
      </p:sp>
      <p:sp>
        <p:nvSpPr>
          <p:cNvPr id="38" name="Rectangle 37"/>
          <p:cNvSpPr/>
          <p:nvPr/>
        </p:nvSpPr>
        <p:spPr>
          <a:xfrm>
            <a:off x="6446520" y="4443983"/>
            <a:ext cx="256032" cy="256032"/>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446520" y="4425696"/>
            <a:ext cx="256032" cy="292608"/>
          </a:xfrm>
          <a:prstGeom prst="rect">
            <a:avLst/>
          </a:prstGeom>
          <a:noFill/>
        </p:spPr>
        <p:txBody>
          <a:bodyPr wrap="square">
            <a:spAutoFit/>
          </a:bodyPr>
          <a:lstStyle/>
          <a:p>
            <a:pPr algn="ctr"/>
            <a:r>
              <a:rPr sz="1100" b="1" i="0">
                <a:solidFill>
                  <a:srgbClr val="FFFFFF"/>
                </a:solidFill>
                <a:latin typeface="Calibri"/>
              </a:rPr>
              <a:t>v</a:t>
            </a:r>
          </a:p>
        </p:txBody>
      </p:sp>
      <p:sp>
        <p:nvSpPr>
          <p:cNvPr id="40" name="TextBox 39"/>
          <p:cNvSpPr txBox="1"/>
          <p:nvPr/>
        </p:nvSpPr>
        <p:spPr>
          <a:xfrm>
            <a:off x="6812280" y="4389120"/>
            <a:ext cx="4754880" cy="274320"/>
          </a:xfrm>
          <a:prstGeom prst="rect">
            <a:avLst/>
          </a:prstGeom>
          <a:noFill/>
        </p:spPr>
        <p:txBody>
          <a:bodyPr wrap="square">
            <a:spAutoFit/>
          </a:bodyPr>
          <a:lstStyle/>
          <a:p>
            <a:pPr algn="l"/>
            <a:r>
              <a:rPr sz="1300" b="1" i="0">
                <a:solidFill>
                  <a:srgbClr val="1B5E20"/>
                </a:solidFill>
                <a:latin typeface="Calibri"/>
              </a:rPr>
              <a:t>Key rotation</a:t>
            </a:r>
          </a:p>
        </p:txBody>
      </p:sp>
      <p:sp>
        <p:nvSpPr>
          <p:cNvPr id="41" name="TextBox 40"/>
          <p:cNvSpPr txBox="1"/>
          <p:nvPr/>
        </p:nvSpPr>
        <p:spPr>
          <a:xfrm>
            <a:off x="6812280" y="4663440"/>
            <a:ext cx="4754880" cy="292608"/>
          </a:xfrm>
          <a:prstGeom prst="rect">
            <a:avLst/>
          </a:prstGeom>
          <a:noFill/>
        </p:spPr>
        <p:txBody>
          <a:bodyPr wrap="square">
            <a:spAutoFit/>
          </a:bodyPr>
          <a:lstStyle/>
          <a:p>
            <a:pPr algn="l"/>
            <a:r>
              <a:rPr sz="1100" b="0" i="0">
                <a:solidFill>
                  <a:srgbClr val="616161"/>
                </a:solidFill>
                <a:latin typeface="Calibri"/>
              </a:rPr>
              <a:t>Multiple Spoonacular keys swap on quota exhaustion</a:t>
            </a:r>
          </a:p>
        </p:txBody>
      </p:sp>
      <p:sp>
        <p:nvSpPr>
          <p:cNvPr id="42" name="Rectangle 41"/>
          <p:cNvSpPr/>
          <p:nvPr/>
        </p:nvSpPr>
        <p:spPr>
          <a:xfrm>
            <a:off x="6446520" y="5266944"/>
            <a:ext cx="256032" cy="256032"/>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446520" y="5248656"/>
            <a:ext cx="256032" cy="292608"/>
          </a:xfrm>
          <a:prstGeom prst="rect">
            <a:avLst/>
          </a:prstGeom>
          <a:noFill/>
        </p:spPr>
        <p:txBody>
          <a:bodyPr wrap="square">
            <a:spAutoFit/>
          </a:bodyPr>
          <a:lstStyle/>
          <a:p>
            <a:pPr algn="ctr"/>
            <a:r>
              <a:rPr sz="1100" b="1" i="0">
                <a:solidFill>
                  <a:srgbClr val="FFFFFF"/>
                </a:solidFill>
                <a:latin typeface="Calibri"/>
              </a:rPr>
              <a:t>v</a:t>
            </a:r>
          </a:p>
        </p:txBody>
      </p:sp>
      <p:sp>
        <p:nvSpPr>
          <p:cNvPr id="44" name="TextBox 43"/>
          <p:cNvSpPr txBox="1"/>
          <p:nvPr/>
        </p:nvSpPr>
        <p:spPr>
          <a:xfrm>
            <a:off x="6812280" y="5212080"/>
            <a:ext cx="4754880" cy="274320"/>
          </a:xfrm>
          <a:prstGeom prst="rect">
            <a:avLst/>
          </a:prstGeom>
          <a:noFill/>
        </p:spPr>
        <p:txBody>
          <a:bodyPr wrap="square">
            <a:spAutoFit/>
          </a:bodyPr>
          <a:lstStyle/>
          <a:p>
            <a:pPr algn="l"/>
            <a:r>
              <a:rPr sz="1300" b="1" i="0">
                <a:solidFill>
                  <a:srgbClr val="1B5E20"/>
                </a:solidFill>
                <a:latin typeface="Calibri"/>
              </a:rPr>
              <a:t>Offline storage</a:t>
            </a:r>
          </a:p>
        </p:txBody>
      </p:sp>
      <p:sp>
        <p:nvSpPr>
          <p:cNvPr id="45" name="TextBox 44"/>
          <p:cNvSpPr txBox="1"/>
          <p:nvPr/>
        </p:nvSpPr>
        <p:spPr>
          <a:xfrm>
            <a:off x="6812280" y="5486400"/>
            <a:ext cx="4754880" cy="292608"/>
          </a:xfrm>
          <a:prstGeom prst="rect">
            <a:avLst/>
          </a:prstGeom>
          <a:noFill/>
        </p:spPr>
        <p:txBody>
          <a:bodyPr wrap="square">
            <a:spAutoFit/>
          </a:bodyPr>
          <a:lstStyle/>
          <a:p>
            <a:pPr algn="l"/>
            <a:r>
              <a:rPr sz="1100" b="0" i="0">
                <a:solidFill>
                  <a:srgbClr val="616161"/>
                </a:solidFill>
                <a:latin typeface="Calibri"/>
              </a:rPr>
              <a:t>Room database saves recipes for later</a:t>
            </a:r>
          </a:p>
        </p:txBody>
      </p:sp>
      <p:sp>
        <p:nvSpPr>
          <p:cNvPr id="46" name="TextBox 45"/>
          <p:cNvSpPr txBox="1"/>
          <p:nvPr/>
        </p:nvSpPr>
        <p:spPr>
          <a:xfrm>
            <a:off x="5687568" y="3246120"/>
            <a:ext cx="548640" cy="640080"/>
          </a:xfrm>
          <a:prstGeom prst="rect">
            <a:avLst/>
          </a:prstGeom>
          <a:noFill/>
        </p:spPr>
        <p:txBody>
          <a:bodyPr wrap="square">
            <a:spAutoFit/>
          </a:bodyPr>
          <a:lstStyle/>
          <a:p>
            <a:pPr algn="ctr"/>
            <a:r>
              <a:rPr sz="3200" b="1" i="0">
                <a:solidFill>
                  <a:srgbClr val="FF6F00"/>
                </a:solidFill>
                <a:latin typeface="Calibri"/>
              </a:rPr>
              <a:t>-&gt;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91440"/>
            <a:ext cx="10972800" cy="658368"/>
          </a:xfrm>
          <a:prstGeom prst="rect">
            <a:avLst/>
          </a:prstGeom>
          <a:noFill/>
        </p:spPr>
        <p:txBody>
          <a:bodyPr wrap="square">
            <a:spAutoFit/>
          </a:bodyPr>
          <a:lstStyle/>
          <a:p>
            <a:pPr algn="l"/>
            <a:r>
              <a:rPr sz="3000" b="1" i="0">
                <a:solidFill>
                  <a:srgbClr val="FFFFFF"/>
                </a:solidFill>
                <a:latin typeface="Calibri"/>
              </a:rPr>
              <a:t>Project Overview</a:t>
            </a:r>
          </a:p>
        </p:txBody>
      </p:sp>
      <p:sp>
        <p:nvSpPr>
          <p:cNvPr id="4" name="Rectangle 3"/>
          <p:cNvSpPr/>
          <p:nvPr/>
        </p:nvSpPr>
        <p:spPr>
          <a:xfrm>
            <a:off x="0" y="1097280"/>
            <a:ext cx="12188952" cy="54864"/>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6537960"/>
            <a:ext cx="12188952" cy="32004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56248"/>
            <a:ext cx="11430000" cy="256032"/>
          </a:xfrm>
          <a:prstGeom prst="rect">
            <a:avLst/>
          </a:prstGeom>
          <a:noFill/>
        </p:spPr>
        <p:txBody>
          <a:bodyPr wrap="square">
            <a:spAutoFit/>
          </a:bodyPr>
          <a:lstStyle/>
          <a:p>
            <a:pPr algn="l"/>
            <a:r>
              <a:rPr sz="1000" b="0" i="0">
                <a:solidFill>
                  <a:srgbClr val="66BB6A"/>
                </a:solidFill>
                <a:latin typeface="Calibri"/>
              </a:rPr>
              <a:t>Snap &amp; Cook  |  CSD3156 Mobile and Cloud Computing  |  SIT</a:t>
            </a:r>
          </a:p>
        </p:txBody>
      </p:sp>
      <p:sp>
        <p:nvSpPr>
          <p:cNvPr id="7" name="Rectangle 6"/>
          <p:cNvSpPr/>
          <p:nvPr/>
        </p:nvSpPr>
        <p:spPr>
          <a:xfrm>
            <a:off x="365760" y="1261872"/>
            <a:ext cx="11430000" cy="1920240"/>
          </a:xfrm>
          <a:prstGeom prst="rect">
            <a:avLst/>
          </a:prstGeom>
          <a:solidFill>
            <a:srgbClr val="E8F5E9"/>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94360" y="1353312"/>
            <a:ext cx="10972800" cy="1737360"/>
          </a:xfrm>
          <a:prstGeom prst="rect">
            <a:avLst/>
          </a:prstGeom>
          <a:noFill/>
        </p:spPr>
        <p:txBody>
          <a:bodyPr wrap="square">
            <a:spAutoFit/>
          </a:bodyPr>
          <a:lstStyle/>
          <a:p>
            <a:pPr algn="l"/>
            <a:r>
              <a:rPr sz="1300" b="0" i="0">
                <a:solidFill>
                  <a:srgbClr val="212121"/>
                </a:solidFill>
                <a:latin typeface="Calibri"/>
              </a:rPr>
              <a:t>Snap &amp; Cook is a 100% native Android application developed in Kotlin. The application leverages computer vision and machine learning to detect available ingredients through image capture or gallery selection. Based on the detected ingredients, the app searches the Spoonacular recipe database to retrieve personalised, step-by-step recipes for the user.
The app also supports barcode scanning using ML Kit (on-device machine learning), which detects barcodes from the camera and queries the Open Food Facts API to retrieve the product name. The identified product is automatically added to the ingredient list before searching via Spoonacular.
The system integrates camera functionality, computer vision, machine learning, networking, barcode product lookup, and local storage to create a smart cooking assistant.</a:t>
            </a:r>
          </a:p>
        </p:txBody>
      </p:sp>
      <p:sp>
        <p:nvSpPr>
          <p:cNvPr id="9" name="Rectangle 8"/>
          <p:cNvSpPr/>
          <p:nvPr/>
        </p:nvSpPr>
        <p:spPr>
          <a:xfrm>
            <a:off x="365760" y="3337560"/>
            <a:ext cx="2103120" cy="1005840"/>
          </a:xfrm>
          <a:prstGeom prst="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5760" y="3383280"/>
            <a:ext cx="2103120" cy="594360"/>
          </a:xfrm>
          <a:prstGeom prst="rect">
            <a:avLst/>
          </a:prstGeom>
          <a:noFill/>
        </p:spPr>
        <p:txBody>
          <a:bodyPr wrap="square">
            <a:spAutoFit/>
          </a:bodyPr>
          <a:lstStyle/>
          <a:p>
            <a:pPr algn="ctr"/>
            <a:r>
              <a:rPr sz="2800" b="1" i="0">
                <a:solidFill>
                  <a:srgbClr val="1B5E20"/>
                </a:solidFill>
                <a:latin typeface="Calibri"/>
              </a:rPr>
              <a:t>7</a:t>
            </a:r>
          </a:p>
        </p:txBody>
      </p:sp>
      <p:sp>
        <p:nvSpPr>
          <p:cNvPr id="11" name="TextBox 10"/>
          <p:cNvSpPr txBox="1"/>
          <p:nvPr/>
        </p:nvSpPr>
        <p:spPr>
          <a:xfrm>
            <a:off x="365760" y="3931920"/>
            <a:ext cx="2103120" cy="347472"/>
          </a:xfrm>
          <a:prstGeom prst="rect">
            <a:avLst/>
          </a:prstGeom>
          <a:noFill/>
        </p:spPr>
        <p:txBody>
          <a:bodyPr wrap="square">
            <a:spAutoFit/>
          </a:bodyPr>
          <a:lstStyle/>
          <a:p>
            <a:pPr algn="ctr"/>
            <a:r>
              <a:rPr sz="1200" b="0" i="0">
                <a:solidFill>
                  <a:srgbClr val="616161"/>
                </a:solidFill>
                <a:latin typeface="Calibri"/>
              </a:rPr>
              <a:t>Screens</a:t>
            </a:r>
          </a:p>
        </p:txBody>
      </p:sp>
      <p:sp>
        <p:nvSpPr>
          <p:cNvPr id="12" name="Rectangle 11"/>
          <p:cNvSpPr/>
          <p:nvPr/>
        </p:nvSpPr>
        <p:spPr>
          <a:xfrm>
            <a:off x="2560320" y="3337560"/>
            <a:ext cx="2103120" cy="1005840"/>
          </a:xfrm>
          <a:prstGeom prst="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560320" y="3383280"/>
            <a:ext cx="2103120" cy="594360"/>
          </a:xfrm>
          <a:prstGeom prst="rect">
            <a:avLst/>
          </a:prstGeom>
          <a:noFill/>
        </p:spPr>
        <p:txBody>
          <a:bodyPr wrap="square">
            <a:spAutoFit/>
          </a:bodyPr>
          <a:lstStyle/>
          <a:p>
            <a:pPr algn="ctr"/>
            <a:r>
              <a:rPr sz="2800" b="1" i="0">
                <a:solidFill>
                  <a:srgbClr val="1B5E20"/>
                </a:solidFill>
                <a:latin typeface="Calibri"/>
              </a:rPr>
              <a:t>3</a:t>
            </a:r>
          </a:p>
        </p:txBody>
      </p:sp>
      <p:sp>
        <p:nvSpPr>
          <p:cNvPr id="14" name="TextBox 13"/>
          <p:cNvSpPr txBox="1"/>
          <p:nvPr/>
        </p:nvSpPr>
        <p:spPr>
          <a:xfrm>
            <a:off x="2560320" y="3931920"/>
            <a:ext cx="2103120" cy="347472"/>
          </a:xfrm>
          <a:prstGeom prst="rect">
            <a:avLst/>
          </a:prstGeom>
          <a:noFill/>
        </p:spPr>
        <p:txBody>
          <a:bodyPr wrap="square">
            <a:spAutoFit/>
          </a:bodyPr>
          <a:lstStyle/>
          <a:p>
            <a:pPr algn="ctr"/>
            <a:r>
              <a:rPr sz="1200" b="0" i="0">
                <a:solidFill>
                  <a:srgbClr val="616161"/>
                </a:solidFill>
                <a:latin typeface="Calibri"/>
              </a:rPr>
              <a:t>External APIs</a:t>
            </a:r>
          </a:p>
        </p:txBody>
      </p:sp>
      <p:sp>
        <p:nvSpPr>
          <p:cNvPr id="15" name="Rectangle 14"/>
          <p:cNvSpPr/>
          <p:nvPr/>
        </p:nvSpPr>
        <p:spPr>
          <a:xfrm>
            <a:off x="4754879" y="3337560"/>
            <a:ext cx="2103120" cy="1005840"/>
          </a:xfrm>
          <a:prstGeom prst="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754879" y="3383280"/>
            <a:ext cx="2103120" cy="594360"/>
          </a:xfrm>
          <a:prstGeom prst="rect">
            <a:avLst/>
          </a:prstGeom>
          <a:noFill/>
        </p:spPr>
        <p:txBody>
          <a:bodyPr wrap="square">
            <a:spAutoFit/>
          </a:bodyPr>
          <a:lstStyle/>
          <a:p>
            <a:pPr algn="ctr"/>
            <a:r>
              <a:rPr sz="2800" b="1" i="0">
                <a:solidFill>
                  <a:srgbClr val="1B5E20"/>
                </a:solidFill>
                <a:latin typeface="Calibri"/>
              </a:rPr>
              <a:t>5</a:t>
            </a:r>
          </a:p>
        </p:txBody>
      </p:sp>
      <p:sp>
        <p:nvSpPr>
          <p:cNvPr id="17" name="TextBox 16"/>
          <p:cNvSpPr txBox="1"/>
          <p:nvPr/>
        </p:nvSpPr>
        <p:spPr>
          <a:xfrm>
            <a:off x="4754879" y="3931920"/>
            <a:ext cx="2103120" cy="347472"/>
          </a:xfrm>
          <a:prstGeom prst="rect">
            <a:avLst/>
          </a:prstGeom>
          <a:noFill/>
        </p:spPr>
        <p:txBody>
          <a:bodyPr wrap="square">
            <a:spAutoFit/>
          </a:bodyPr>
          <a:lstStyle/>
          <a:p>
            <a:pPr algn="ctr"/>
            <a:r>
              <a:rPr sz="1200" b="0" i="0">
                <a:solidFill>
                  <a:srgbClr val="616161"/>
                </a:solidFill>
                <a:latin typeface="Calibri"/>
              </a:rPr>
              <a:t>Sensors / Hardware</a:t>
            </a:r>
          </a:p>
        </p:txBody>
      </p:sp>
      <p:sp>
        <p:nvSpPr>
          <p:cNvPr id="18" name="Rectangle 17"/>
          <p:cNvSpPr/>
          <p:nvPr/>
        </p:nvSpPr>
        <p:spPr>
          <a:xfrm>
            <a:off x="6949440" y="3337560"/>
            <a:ext cx="2103120" cy="1005840"/>
          </a:xfrm>
          <a:prstGeom prst="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949440" y="3383280"/>
            <a:ext cx="2103120" cy="594360"/>
          </a:xfrm>
          <a:prstGeom prst="rect">
            <a:avLst/>
          </a:prstGeom>
          <a:noFill/>
        </p:spPr>
        <p:txBody>
          <a:bodyPr wrap="square">
            <a:spAutoFit/>
          </a:bodyPr>
          <a:lstStyle/>
          <a:p>
            <a:pPr algn="ctr"/>
            <a:r>
              <a:rPr sz="2800" b="1" i="0">
                <a:solidFill>
                  <a:srgbClr val="1B5E20"/>
                </a:solidFill>
                <a:latin typeface="Calibri"/>
              </a:rPr>
              <a:t>2,900+</a:t>
            </a:r>
          </a:p>
        </p:txBody>
      </p:sp>
      <p:sp>
        <p:nvSpPr>
          <p:cNvPr id="20" name="TextBox 19"/>
          <p:cNvSpPr txBox="1"/>
          <p:nvPr/>
        </p:nvSpPr>
        <p:spPr>
          <a:xfrm>
            <a:off x="6949440" y="3931920"/>
            <a:ext cx="2103120" cy="347472"/>
          </a:xfrm>
          <a:prstGeom prst="rect">
            <a:avLst/>
          </a:prstGeom>
          <a:noFill/>
        </p:spPr>
        <p:txBody>
          <a:bodyPr wrap="square">
            <a:spAutoFit/>
          </a:bodyPr>
          <a:lstStyle/>
          <a:p>
            <a:pPr algn="ctr"/>
            <a:r>
              <a:rPr sz="1200" b="0" i="0">
                <a:solidFill>
                  <a:srgbClr val="616161"/>
                </a:solidFill>
                <a:latin typeface="Calibri"/>
              </a:rPr>
              <a:t>Lines of Kotlin</a:t>
            </a:r>
          </a:p>
        </p:txBody>
      </p:sp>
      <p:sp>
        <p:nvSpPr>
          <p:cNvPr id="21" name="Rectangle 20"/>
          <p:cNvSpPr/>
          <p:nvPr/>
        </p:nvSpPr>
        <p:spPr>
          <a:xfrm>
            <a:off x="9144000" y="3337560"/>
            <a:ext cx="2103120" cy="1005840"/>
          </a:xfrm>
          <a:prstGeom prst="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144000" y="3383280"/>
            <a:ext cx="2103120" cy="594360"/>
          </a:xfrm>
          <a:prstGeom prst="rect">
            <a:avLst/>
          </a:prstGeom>
          <a:noFill/>
        </p:spPr>
        <p:txBody>
          <a:bodyPr wrap="square">
            <a:spAutoFit/>
          </a:bodyPr>
          <a:lstStyle/>
          <a:p>
            <a:pPr algn="ctr"/>
            <a:r>
              <a:rPr sz="2800" b="1" i="0">
                <a:solidFill>
                  <a:srgbClr val="1B5E20"/>
                </a:solidFill>
                <a:latin typeface="Calibri"/>
              </a:rPr>
              <a:t>6</a:t>
            </a:r>
          </a:p>
        </p:txBody>
      </p:sp>
      <p:sp>
        <p:nvSpPr>
          <p:cNvPr id="23" name="TextBox 22"/>
          <p:cNvSpPr txBox="1"/>
          <p:nvPr/>
        </p:nvSpPr>
        <p:spPr>
          <a:xfrm>
            <a:off x="9144000" y="3931920"/>
            <a:ext cx="2103120" cy="347472"/>
          </a:xfrm>
          <a:prstGeom prst="rect">
            <a:avLst/>
          </a:prstGeom>
          <a:noFill/>
        </p:spPr>
        <p:txBody>
          <a:bodyPr wrap="square">
            <a:spAutoFit/>
          </a:bodyPr>
          <a:lstStyle/>
          <a:p>
            <a:pPr algn="ctr"/>
            <a:r>
              <a:rPr sz="1200" b="0" i="0">
                <a:solidFill>
                  <a:srgbClr val="616161"/>
                </a:solidFill>
                <a:latin typeface="Calibri"/>
              </a:rPr>
              <a:t>Team Members</a:t>
            </a:r>
          </a:p>
        </p:txBody>
      </p:sp>
      <p:sp>
        <p:nvSpPr>
          <p:cNvPr id="24" name="TextBox 23"/>
          <p:cNvSpPr txBox="1"/>
          <p:nvPr/>
        </p:nvSpPr>
        <p:spPr>
          <a:xfrm>
            <a:off x="365760" y="4526280"/>
            <a:ext cx="11430000" cy="365760"/>
          </a:xfrm>
          <a:prstGeom prst="rect">
            <a:avLst/>
          </a:prstGeom>
          <a:noFill/>
        </p:spPr>
        <p:txBody>
          <a:bodyPr wrap="square">
            <a:spAutoFit/>
          </a:bodyPr>
          <a:lstStyle/>
          <a:p>
            <a:pPr algn="l"/>
            <a:r>
              <a:rPr sz="1400" b="1" i="0">
                <a:solidFill>
                  <a:srgbClr val="1B5E20"/>
                </a:solidFill>
                <a:latin typeface="Calibri"/>
              </a:rPr>
              <a:t>Advanced Features</a:t>
            </a:r>
          </a:p>
        </p:txBody>
      </p:sp>
      <p:sp>
        <p:nvSpPr>
          <p:cNvPr id="25" name="Rectangle 24"/>
          <p:cNvSpPr/>
          <p:nvPr/>
        </p:nvSpPr>
        <p:spPr>
          <a:xfrm>
            <a:off x="429227" y="5006340"/>
            <a:ext cx="1587907" cy="411480"/>
          </a:xfrm>
          <a:prstGeom prst="rect">
            <a:avLst/>
          </a:prstGeom>
          <a:solidFill>
            <a:srgbClr val="2E7D32"/>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74948" y="5052060"/>
            <a:ext cx="1519462" cy="261610"/>
          </a:xfrm>
          <a:prstGeom prst="rect">
            <a:avLst/>
          </a:prstGeom>
          <a:noFill/>
        </p:spPr>
        <p:txBody>
          <a:bodyPr wrap="square">
            <a:spAutoFit/>
          </a:bodyPr>
          <a:lstStyle/>
          <a:p>
            <a:pPr algn="ctr"/>
            <a:r>
              <a:rPr sz="1100" b="1" i="0" dirty="0">
                <a:solidFill>
                  <a:srgbClr val="FFFFFF"/>
                </a:solidFill>
                <a:latin typeface="Calibri"/>
              </a:rPr>
              <a:t>Gemini AI Vision</a:t>
            </a:r>
          </a:p>
        </p:txBody>
      </p:sp>
      <p:sp>
        <p:nvSpPr>
          <p:cNvPr id="27" name="Rectangle 26"/>
          <p:cNvSpPr/>
          <p:nvPr/>
        </p:nvSpPr>
        <p:spPr>
          <a:xfrm>
            <a:off x="2429470" y="5006340"/>
            <a:ext cx="1341508" cy="411480"/>
          </a:xfrm>
          <a:prstGeom prst="rect">
            <a:avLst/>
          </a:prstGeom>
          <a:solidFill>
            <a:srgbClr val="2E7D32"/>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475190" y="5052060"/>
            <a:ext cx="1273064" cy="261610"/>
          </a:xfrm>
          <a:prstGeom prst="rect">
            <a:avLst/>
          </a:prstGeom>
          <a:noFill/>
        </p:spPr>
        <p:txBody>
          <a:bodyPr wrap="square">
            <a:spAutoFit/>
          </a:bodyPr>
          <a:lstStyle/>
          <a:p>
            <a:pPr algn="ctr"/>
            <a:r>
              <a:rPr sz="1100" b="1" i="0" dirty="0">
                <a:solidFill>
                  <a:srgbClr val="FFFFFF"/>
                </a:solidFill>
                <a:latin typeface="Calibri"/>
              </a:rPr>
              <a:t>TTS Narration</a:t>
            </a:r>
          </a:p>
        </p:txBody>
      </p:sp>
      <p:sp>
        <p:nvSpPr>
          <p:cNvPr id="29" name="Rectangle 28"/>
          <p:cNvSpPr/>
          <p:nvPr/>
        </p:nvSpPr>
        <p:spPr>
          <a:xfrm>
            <a:off x="4183314" y="5006340"/>
            <a:ext cx="1423641" cy="411480"/>
          </a:xfrm>
          <a:prstGeom prst="rect">
            <a:avLst/>
          </a:prstGeom>
          <a:solidFill>
            <a:srgbClr val="2E7D32"/>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229033" y="5052060"/>
            <a:ext cx="1355197" cy="261610"/>
          </a:xfrm>
          <a:prstGeom prst="rect">
            <a:avLst/>
          </a:prstGeom>
          <a:noFill/>
        </p:spPr>
        <p:txBody>
          <a:bodyPr wrap="square">
            <a:spAutoFit/>
          </a:bodyPr>
          <a:lstStyle/>
          <a:p>
            <a:pPr algn="ctr"/>
            <a:r>
              <a:rPr sz="1100" b="1" i="0" dirty="0">
                <a:solidFill>
                  <a:srgbClr val="FFFFFF"/>
                </a:solidFill>
                <a:latin typeface="Calibri"/>
              </a:rPr>
              <a:t>Voice Commands</a:t>
            </a:r>
          </a:p>
        </p:txBody>
      </p:sp>
      <p:sp>
        <p:nvSpPr>
          <p:cNvPr id="31" name="Rectangle 30"/>
          <p:cNvSpPr/>
          <p:nvPr/>
        </p:nvSpPr>
        <p:spPr>
          <a:xfrm>
            <a:off x="6019291" y="5006340"/>
            <a:ext cx="1423641" cy="411480"/>
          </a:xfrm>
          <a:prstGeom prst="rect">
            <a:avLst/>
          </a:prstGeom>
          <a:solidFill>
            <a:srgbClr val="2E7D32"/>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065011" y="5052060"/>
            <a:ext cx="1355197" cy="261610"/>
          </a:xfrm>
          <a:prstGeom prst="rect">
            <a:avLst/>
          </a:prstGeom>
          <a:noFill/>
        </p:spPr>
        <p:txBody>
          <a:bodyPr wrap="square">
            <a:spAutoFit/>
          </a:bodyPr>
          <a:lstStyle/>
          <a:p>
            <a:pPr algn="ctr"/>
            <a:r>
              <a:rPr sz="1100" b="1" i="0" dirty="0">
                <a:solidFill>
                  <a:srgbClr val="FFFFFF"/>
                </a:solidFill>
                <a:latin typeface="Calibri"/>
              </a:rPr>
              <a:t>ML Kit Barcode</a:t>
            </a:r>
          </a:p>
        </p:txBody>
      </p:sp>
      <p:sp>
        <p:nvSpPr>
          <p:cNvPr id="33" name="Rectangle 32"/>
          <p:cNvSpPr/>
          <p:nvPr/>
        </p:nvSpPr>
        <p:spPr>
          <a:xfrm>
            <a:off x="7855268" y="5006340"/>
            <a:ext cx="1587907" cy="411480"/>
          </a:xfrm>
          <a:prstGeom prst="rect">
            <a:avLst/>
          </a:prstGeom>
          <a:solidFill>
            <a:srgbClr val="2E7D32"/>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900989" y="5052060"/>
            <a:ext cx="1519462" cy="261610"/>
          </a:xfrm>
          <a:prstGeom prst="rect">
            <a:avLst/>
          </a:prstGeom>
          <a:noFill/>
        </p:spPr>
        <p:txBody>
          <a:bodyPr wrap="square">
            <a:spAutoFit/>
          </a:bodyPr>
          <a:lstStyle/>
          <a:p>
            <a:pPr algn="ctr"/>
            <a:r>
              <a:rPr sz="1100" b="1" i="0">
                <a:solidFill>
                  <a:srgbClr val="FFFFFF"/>
                </a:solidFill>
                <a:latin typeface="Calibri"/>
              </a:rPr>
              <a:t>API Key Rotation</a:t>
            </a:r>
          </a:p>
        </p:txBody>
      </p:sp>
      <p:sp>
        <p:nvSpPr>
          <p:cNvPr id="35" name="Rectangle 34"/>
          <p:cNvSpPr/>
          <p:nvPr/>
        </p:nvSpPr>
        <p:spPr>
          <a:xfrm>
            <a:off x="9855511" y="5006340"/>
            <a:ext cx="1505773" cy="411480"/>
          </a:xfrm>
          <a:prstGeom prst="rect">
            <a:avLst/>
          </a:prstGeom>
          <a:solidFill>
            <a:srgbClr val="2E7D32"/>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901231" y="5052060"/>
            <a:ext cx="1437329" cy="261610"/>
          </a:xfrm>
          <a:prstGeom prst="rect">
            <a:avLst/>
          </a:prstGeom>
          <a:noFill/>
        </p:spPr>
        <p:txBody>
          <a:bodyPr wrap="square">
            <a:spAutoFit/>
          </a:bodyPr>
          <a:lstStyle/>
          <a:p>
            <a:pPr algn="ctr"/>
            <a:r>
              <a:rPr sz="1100" b="1" i="0" dirty="0">
                <a:solidFill>
                  <a:srgbClr val="FFFFFF"/>
                </a:solidFill>
                <a:latin typeface="Calibri"/>
              </a:rPr>
              <a:t>Room Offline DB</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91440"/>
            <a:ext cx="10972800" cy="658368"/>
          </a:xfrm>
          <a:prstGeom prst="rect">
            <a:avLst/>
          </a:prstGeom>
          <a:noFill/>
        </p:spPr>
        <p:txBody>
          <a:bodyPr wrap="square">
            <a:spAutoFit/>
          </a:bodyPr>
          <a:lstStyle/>
          <a:p>
            <a:pPr algn="l"/>
            <a:r>
              <a:rPr sz="3000" b="1" i="0">
                <a:solidFill>
                  <a:srgbClr val="FFFFFF"/>
                </a:solidFill>
                <a:latin typeface="Calibri"/>
              </a:rPr>
              <a:t>App Screen Flow</a:t>
            </a:r>
          </a:p>
        </p:txBody>
      </p:sp>
      <p:sp>
        <p:nvSpPr>
          <p:cNvPr id="4" name="TextBox 3"/>
          <p:cNvSpPr txBox="1"/>
          <p:nvPr/>
        </p:nvSpPr>
        <p:spPr>
          <a:xfrm>
            <a:off x="365760" y="713232"/>
            <a:ext cx="10972800" cy="329184"/>
          </a:xfrm>
          <a:prstGeom prst="rect">
            <a:avLst/>
          </a:prstGeom>
          <a:noFill/>
        </p:spPr>
        <p:txBody>
          <a:bodyPr wrap="square">
            <a:spAutoFit/>
          </a:bodyPr>
          <a:lstStyle/>
          <a:p>
            <a:pPr algn="l"/>
            <a:r>
              <a:rPr sz="1300" b="0" i="0">
                <a:solidFill>
                  <a:srgbClr val="66BB6A"/>
                </a:solidFill>
                <a:latin typeface="Calibri"/>
              </a:rPr>
              <a:t>End-to-end user journey across 7 screens</a:t>
            </a:r>
          </a:p>
        </p:txBody>
      </p:sp>
      <p:sp>
        <p:nvSpPr>
          <p:cNvPr id="5" name="Rectangle 4"/>
          <p:cNvSpPr/>
          <p:nvPr/>
        </p:nvSpPr>
        <p:spPr>
          <a:xfrm>
            <a:off x="0" y="1097280"/>
            <a:ext cx="12188952" cy="54864"/>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537960"/>
            <a:ext cx="12188952" cy="32004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556248"/>
            <a:ext cx="11430000" cy="256032"/>
          </a:xfrm>
          <a:prstGeom prst="rect">
            <a:avLst/>
          </a:prstGeom>
          <a:noFill/>
        </p:spPr>
        <p:txBody>
          <a:bodyPr wrap="square">
            <a:spAutoFit/>
          </a:bodyPr>
          <a:lstStyle/>
          <a:p>
            <a:pPr algn="l"/>
            <a:r>
              <a:rPr sz="1000" b="0" i="0">
                <a:solidFill>
                  <a:srgbClr val="66BB6A"/>
                </a:solidFill>
                <a:latin typeface="Calibri"/>
              </a:rPr>
              <a:t>Snap &amp; Cook  |  CSD3156 Mobile and Cloud Computing  |  SIT</a:t>
            </a:r>
          </a:p>
        </p:txBody>
      </p:sp>
      <p:sp>
        <p:nvSpPr>
          <p:cNvPr id="8" name="Rectangle 7"/>
          <p:cNvSpPr/>
          <p:nvPr/>
        </p:nvSpPr>
        <p:spPr>
          <a:xfrm>
            <a:off x="320040" y="1371600"/>
            <a:ext cx="1463040" cy="2651760"/>
          </a:xfrm>
          <a:prstGeom prst="rect">
            <a:avLst/>
          </a:prstGeom>
          <a:solidFill>
            <a:srgbClr val="E8F5E9"/>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822960" y="1481328"/>
            <a:ext cx="457200" cy="42062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1481328"/>
            <a:ext cx="457200" cy="420624"/>
          </a:xfrm>
          <a:prstGeom prst="rect">
            <a:avLst/>
          </a:prstGeom>
          <a:noFill/>
        </p:spPr>
        <p:txBody>
          <a:bodyPr wrap="square">
            <a:spAutoFit/>
          </a:bodyPr>
          <a:lstStyle/>
          <a:p>
            <a:pPr algn="ctr"/>
            <a:r>
              <a:rPr sz="1400" b="1" i="0">
                <a:solidFill>
                  <a:srgbClr val="FFFFFF"/>
                </a:solidFill>
                <a:latin typeface="Calibri"/>
              </a:rPr>
              <a:t>1</a:t>
            </a:r>
          </a:p>
        </p:txBody>
      </p:sp>
      <p:sp>
        <p:nvSpPr>
          <p:cNvPr id="11" name="TextBox 10"/>
          <p:cNvSpPr txBox="1"/>
          <p:nvPr/>
        </p:nvSpPr>
        <p:spPr>
          <a:xfrm>
            <a:off x="365759" y="1975104"/>
            <a:ext cx="1371600" cy="438912"/>
          </a:xfrm>
          <a:prstGeom prst="rect">
            <a:avLst/>
          </a:prstGeom>
          <a:noFill/>
        </p:spPr>
        <p:txBody>
          <a:bodyPr wrap="square">
            <a:spAutoFit/>
          </a:bodyPr>
          <a:lstStyle/>
          <a:p>
            <a:pPr algn="ctr"/>
            <a:r>
              <a:rPr sz="1300" b="1" i="0">
                <a:solidFill>
                  <a:srgbClr val="1B5E20"/>
                </a:solidFill>
                <a:latin typeface="Calibri"/>
              </a:rPr>
              <a:t>Splash</a:t>
            </a:r>
          </a:p>
        </p:txBody>
      </p:sp>
      <p:sp>
        <p:nvSpPr>
          <p:cNvPr id="12" name="TextBox 11"/>
          <p:cNvSpPr txBox="1"/>
          <p:nvPr/>
        </p:nvSpPr>
        <p:spPr>
          <a:xfrm>
            <a:off x="365759" y="2450592"/>
            <a:ext cx="1371600" cy="1371600"/>
          </a:xfrm>
          <a:prstGeom prst="rect">
            <a:avLst/>
          </a:prstGeom>
          <a:noFill/>
        </p:spPr>
        <p:txBody>
          <a:bodyPr wrap="square">
            <a:spAutoFit/>
          </a:bodyPr>
          <a:lstStyle/>
          <a:p>
            <a:pPr algn="ctr"/>
            <a:r>
              <a:rPr sz="1000" b="0" i="0">
                <a:solidFill>
                  <a:srgbClr val="616161"/>
                </a:solidFill>
                <a:latin typeface="Calibri"/>
              </a:rPr>
              <a:t>Branded
entry point</a:t>
            </a:r>
          </a:p>
        </p:txBody>
      </p:sp>
      <p:sp>
        <p:nvSpPr>
          <p:cNvPr id="13" name="TextBox 12"/>
          <p:cNvSpPr txBox="1"/>
          <p:nvPr/>
        </p:nvSpPr>
        <p:spPr>
          <a:xfrm>
            <a:off x="1792224" y="2468880"/>
            <a:ext cx="109728" cy="457200"/>
          </a:xfrm>
          <a:prstGeom prst="rect">
            <a:avLst/>
          </a:prstGeom>
          <a:noFill/>
        </p:spPr>
        <p:txBody>
          <a:bodyPr wrap="square">
            <a:spAutoFit/>
          </a:bodyPr>
          <a:lstStyle/>
          <a:p>
            <a:pPr algn="ctr"/>
            <a:r>
              <a:rPr sz="2000" b="1" i="0">
                <a:solidFill>
                  <a:srgbClr val="FF6F00"/>
                </a:solidFill>
                <a:latin typeface="Calibri"/>
              </a:rPr>
              <a:t>&gt;</a:t>
            </a:r>
          </a:p>
        </p:txBody>
      </p:sp>
      <p:sp>
        <p:nvSpPr>
          <p:cNvPr id="14" name="Rectangle 13"/>
          <p:cNvSpPr/>
          <p:nvPr/>
        </p:nvSpPr>
        <p:spPr>
          <a:xfrm>
            <a:off x="1874520" y="1371600"/>
            <a:ext cx="1463040" cy="2651760"/>
          </a:xfrm>
          <a:prstGeom prst="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377440" y="1481328"/>
            <a:ext cx="457200" cy="42062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377440" y="1481328"/>
            <a:ext cx="457200" cy="420624"/>
          </a:xfrm>
          <a:prstGeom prst="rect">
            <a:avLst/>
          </a:prstGeom>
          <a:noFill/>
        </p:spPr>
        <p:txBody>
          <a:bodyPr wrap="square">
            <a:spAutoFit/>
          </a:bodyPr>
          <a:lstStyle/>
          <a:p>
            <a:pPr algn="ctr"/>
            <a:r>
              <a:rPr sz="1400" b="1" i="0">
                <a:solidFill>
                  <a:srgbClr val="FFFFFF"/>
                </a:solidFill>
                <a:latin typeface="Calibri"/>
              </a:rPr>
              <a:t>2</a:t>
            </a:r>
          </a:p>
        </p:txBody>
      </p:sp>
      <p:sp>
        <p:nvSpPr>
          <p:cNvPr id="17" name="TextBox 16"/>
          <p:cNvSpPr txBox="1"/>
          <p:nvPr/>
        </p:nvSpPr>
        <p:spPr>
          <a:xfrm>
            <a:off x="1920240" y="1975104"/>
            <a:ext cx="1371600" cy="438912"/>
          </a:xfrm>
          <a:prstGeom prst="rect">
            <a:avLst/>
          </a:prstGeom>
          <a:noFill/>
        </p:spPr>
        <p:txBody>
          <a:bodyPr wrap="square">
            <a:spAutoFit/>
          </a:bodyPr>
          <a:lstStyle/>
          <a:p>
            <a:pPr algn="ctr"/>
            <a:r>
              <a:rPr sz="1300" b="1" i="0">
                <a:solidFill>
                  <a:srgbClr val="1B5E20"/>
                </a:solidFill>
                <a:latin typeface="Calibri"/>
              </a:rPr>
              <a:t>Home</a:t>
            </a:r>
          </a:p>
        </p:txBody>
      </p:sp>
      <p:sp>
        <p:nvSpPr>
          <p:cNvPr id="18" name="TextBox 17"/>
          <p:cNvSpPr txBox="1"/>
          <p:nvPr/>
        </p:nvSpPr>
        <p:spPr>
          <a:xfrm>
            <a:off x="1920240" y="2450592"/>
            <a:ext cx="1371600" cy="1371600"/>
          </a:xfrm>
          <a:prstGeom prst="rect">
            <a:avLst/>
          </a:prstGeom>
          <a:noFill/>
        </p:spPr>
        <p:txBody>
          <a:bodyPr wrap="square">
            <a:spAutoFit/>
          </a:bodyPr>
          <a:lstStyle/>
          <a:p>
            <a:pPr algn="ctr"/>
            <a:r>
              <a:rPr sz="1000" b="0" i="0">
                <a:solidFill>
                  <a:srgbClr val="616161"/>
                </a:solidFill>
                <a:latin typeface="Calibri"/>
              </a:rPr>
              <a:t>Camera / Gallery
Greeting + Recent</a:t>
            </a:r>
          </a:p>
        </p:txBody>
      </p:sp>
      <p:sp>
        <p:nvSpPr>
          <p:cNvPr id="19" name="TextBox 18"/>
          <p:cNvSpPr txBox="1"/>
          <p:nvPr/>
        </p:nvSpPr>
        <p:spPr>
          <a:xfrm>
            <a:off x="3346704" y="2468880"/>
            <a:ext cx="109728" cy="457200"/>
          </a:xfrm>
          <a:prstGeom prst="rect">
            <a:avLst/>
          </a:prstGeom>
          <a:noFill/>
        </p:spPr>
        <p:txBody>
          <a:bodyPr wrap="square">
            <a:spAutoFit/>
          </a:bodyPr>
          <a:lstStyle/>
          <a:p>
            <a:pPr algn="ctr"/>
            <a:r>
              <a:rPr sz="2000" b="1" i="0">
                <a:solidFill>
                  <a:srgbClr val="FF6F00"/>
                </a:solidFill>
                <a:latin typeface="Calibri"/>
              </a:rPr>
              <a:t>&gt;</a:t>
            </a:r>
          </a:p>
        </p:txBody>
      </p:sp>
      <p:sp>
        <p:nvSpPr>
          <p:cNvPr id="20" name="Rectangle 19"/>
          <p:cNvSpPr/>
          <p:nvPr/>
        </p:nvSpPr>
        <p:spPr>
          <a:xfrm>
            <a:off x="3429000" y="1371600"/>
            <a:ext cx="1463040" cy="2651760"/>
          </a:xfrm>
          <a:prstGeom prst="rect">
            <a:avLst/>
          </a:prstGeom>
          <a:solidFill>
            <a:srgbClr val="E8F5E9"/>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3931920" y="1481328"/>
            <a:ext cx="457200" cy="42062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931920" y="1481328"/>
            <a:ext cx="457200" cy="420624"/>
          </a:xfrm>
          <a:prstGeom prst="rect">
            <a:avLst/>
          </a:prstGeom>
          <a:noFill/>
        </p:spPr>
        <p:txBody>
          <a:bodyPr wrap="square">
            <a:spAutoFit/>
          </a:bodyPr>
          <a:lstStyle/>
          <a:p>
            <a:pPr algn="ctr"/>
            <a:r>
              <a:rPr sz="1400" b="1" i="0">
                <a:solidFill>
                  <a:srgbClr val="FFFFFF"/>
                </a:solidFill>
                <a:latin typeface="Calibri"/>
              </a:rPr>
              <a:t>3</a:t>
            </a:r>
          </a:p>
        </p:txBody>
      </p:sp>
      <p:sp>
        <p:nvSpPr>
          <p:cNvPr id="23" name="TextBox 22"/>
          <p:cNvSpPr txBox="1"/>
          <p:nvPr/>
        </p:nvSpPr>
        <p:spPr>
          <a:xfrm>
            <a:off x="3474720" y="1975104"/>
            <a:ext cx="1371600" cy="438912"/>
          </a:xfrm>
          <a:prstGeom prst="rect">
            <a:avLst/>
          </a:prstGeom>
          <a:noFill/>
        </p:spPr>
        <p:txBody>
          <a:bodyPr wrap="square">
            <a:spAutoFit/>
          </a:bodyPr>
          <a:lstStyle/>
          <a:p>
            <a:pPr algn="ctr"/>
            <a:r>
              <a:rPr sz="1300" b="1" i="0">
                <a:solidFill>
                  <a:srgbClr val="1B5E20"/>
                </a:solidFill>
                <a:latin typeface="Calibri"/>
              </a:rPr>
              <a:t>Camera</a:t>
            </a:r>
          </a:p>
        </p:txBody>
      </p:sp>
      <p:sp>
        <p:nvSpPr>
          <p:cNvPr id="24" name="TextBox 23"/>
          <p:cNvSpPr txBox="1"/>
          <p:nvPr/>
        </p:nvSpPr>
        <p:spPr>
          <a:xfrm>
            <a:off x="3474720" y="2450592"/>
            <a:ext cx="1371600" cy="1371600"/>
          </a:xfrm>
          <a:prstGeom prst="rect">
            <a:avLst/>
          </a:prstGeom>
          <a:noFill/>
        </p:spPr>
        <p:txBody>
          <a:bodyPr wrap="square">
            <a:spAutoFit/>
          </a:bodyPr>
          <a:lstStyle/>
          <a:p>
            <a:pPr algn="ctr"/>
            <a:r>
              <a:rPr sz="1000" b="0" i="0">
                <a:solidFill>
                  <a:srgbClr val="616161"/>
                </a:solidFill>
                <a:latin typeface="Calibri"/>
              </a:rPr>
              <a:t>Live preview
Multi-capture</a:t>
            </a:r>
          </a:p>
        </p:txBody>
      </p:sp>
      <p:sp>
        <p:nvSpPr>
          <p:cNvPr id="25" name="TextBox 24"/>
          <p:cNvSpPr txBox="1"/>
          <p:nvPr/>
        </p:nvSpPr>
        <p:spPr>
          <a:xfrm>
            <a:off x="4901184" y="2468880"/>
            <a:ext cx="109728" cy="457200"/>
          </a:xfrm>
          <a:prstGeom prst="rect">
            <a:avLst/>
          </a:prstGeom>
          <a:noFill/>
        </p:spPr>
        <p:txBody>
          <a:bodyPr wrap="square">
            <a:spAutoFit/>
          </a:bodyPr>
          <a:lstStyle/>
          <a:p>
            <a:pPr algn="ctr"/>
            <a:r>
              <a:rPr sz="2000" b="1" i="0">
                <a:solidFill>
                  <a:srgbClr val="FF6F00"/>
                </a:solidFill>
                <a:latin typeface="Calibri"/>
              </a:rPr>
              <a:t>&gt;</a:t>
            </a:r>
          </a:p>
        </p:txBody>
      </p:sp>
      <p:sp>
        <p:nvSpPr>
          <p:cNvPr id="26" name="Rectangle 25"/>
          <p:cNvSpPr/>
          <p:nvPr/>
        </p:nvSpPr>
        <p:spPr>
          <a:xfrm>
            <a:off x="4983480" y="1371600"/>
            <a:ext cx="1463040" cy="2651760"/>
          </a:xfrm>
          <a:prstGeom prst="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5486400" y="1481328"/>
            <a:ext cx="457200" cy="42062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486400" y="1481328"/>
            <a:ext cx="457200" cy="420624"/>
          </a:xfrm>
          <a:prstGeom prst="rect">
            <a:avLst/>
          </a:prstGeom>
          <a:noFill/>
        </p:spPr>
        <p:txBody>
          <a:bodyPr wrap="square">
            <a:spAutoFit/>
          </a:bodyPr>
          <a:lstStyle/>
          <a:p>
            <a:pPr algn="ctr"/>
            <a:r>
              <a:rPr sz="1400" b="1" i="0">
                <a:solidFill>
                  <a:srgbClr val="FFFFFF"/>
                </a:solidFill>
                <a:latin typeface="Calibri"/>
              </a:rPr>
              <a:t>4</a:t>
            </a:r>
          </a:p>
        </p:txBody>
      </p:sp>
      <p:sp>
        <p:nvSpPr>
          <p:cNvPr id="29" name="TextBox 28"/>
          <p:cNvSpPr txBox="1"/>
          <p:nvPr/>
        </p:nvSpPr>
        <p:spPr>
          <a:xfrm>
            <a:off x="5029200" y="1975104"/>
            <a:ext cx="1371600" cy="438912"/>
          </a:xfrm>
          <a:prstGeom prst="rect">
            <a:avLst/>
          </a:prstGeom>
          <a:noFill/>
        </p:spPr>
        <p:txBody>
          <a:bodyPr wrap="square">
            <a:spAutoFit/>
          </a:bodyPr>
          <a:lstStyle/>
          <a:p>
            <a:pPr algn="ctr"/>
            <a:r>
              <a:rPr sz="1300" b="1" i="0">
                <a:solidFill>
                  <a:srgbClr val="1B5E20"/>
                </a:solidFill>
                <a:latin typeface="Calibri"/>
              </a:rPr>
              <a:t>Verify</a:t>
            </a:r>
          </a:p>
        </p:txBody>
      </p:sp>
      <p:sp>
        <p:nvSpPr>
          <p:cNvPr id="30" name="TextBox 29"/>
          <p:cNvSpPr txBox="1"/>
          <p:nvPr/>
        </p:nvSpPr>
        <p:spPr>
          <a:xfrm>
            <a:off x="5029200" y="2450592"/>
            <a:ext cx="1371600" cy="1371600"/>
          </a:xfrm>
          <a:prstGeom prst="rect">
            <a:avLst/>
          </a:prstGeom>
          <a:noFill/>
        </p:spPr>
        <p:txBody>
          <a:bodyPr wrap="square">
            <a:spAutoFit/>
          </a:bodyPr>
          <a:lstStyle/>
          <a:p>
            <a:pPr algn="ctr"/>
            <a:r>
              <a:rPr sz="1000" b="0" i="0">
                <a:solidFill>
                  <a:srgbClr val="616161"/>
                </a:solidFill>
                <a:latin typeface="Calibri"/>
              </a:rPr>
              <a:t>Review ingredients
Barcode scan</a:t>
            </a:r>
          </a:p>
        </p:txBody>
      </p:sp>
      <p:sp>
        <p:nvSpPr>
          <p:cNvPr id="31" name="TextBox 30"/>
          <p:cNvSpPr txBox="1"/>
          <p:nvPr/>
        </p:nvSpPr>
        <p:spPr>
          <a:xfrm>
            <a:off x="6455664" y="2468880"/>
            <a:ext cx="109728" cy="457200"/>
          </a:xfrm>
          <a:prstGeom prst="rect">
            <a:avLst/>
          </a:prstGeom>
          <a:noFill/>
        </p:spPr>
        <p:txBody>
          <a:bodyPr wrap="square">
            <a:spAutoFit/>
          </a:bodyPr>
          <a:lstStyle/>
          <a:p>
            <a:pPr algn="ctr"/>
            <a:r>
              <a:rPr sz="2000" b="1" i="0">
                <a:solidFill>
                  <a:srgbClr val="FF6F00"/>
                </a:solidFill>
                <a:latin typeface="Calibri"/>
              </a:rPr>
              <a:t>&gt;</a:t>
            </a:r>
          </a:p>
        </p:txBody>
      </p:sp>
      <p:sp>
        <p:nvSpPr>
          <p:cNvPr id="32" name="Rectangle 31"/>
          <p:cNvSpPr/>
          <p:nvPr/>
        </p:nvSpPr>
        <p:spPr>
          <a:xfrm>
            <a:off x="6537960" y="1371600"/>
            <a:ext cx="1463040" cy="2651760"/>
          </a:xfrm>
          <a:prstGeom prst="rect">
            <a:avLst/>
          </a:prstGeom>
          <a:solidFill>
            <a:srgbClr val="E8F5E9"/>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32"/>
          <p:cNvSpPr/>
          <p:nvPr/>
        </p:nvSpPr>
        <p:spPr>
          <a:xfrm>
            <a:off x="7040880" y="1481328"/>
            <a:ext cx="457200" cy="42062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040880" y="1481328"/>
            <a:ext cx="457200" cy="420624"/>
          </a:xfrm>
          <a:prstGeom prst="rect">
            <a:avLst/>
          </a:prstGeom>
          <a:noFill/>
        </p:spPr>
        <p:txBody>
          <a:bodyPr wrap="square">
            <a:spAutoFit/>
          </a:bodyPr>
          <a:lstStyle/>
          <a:p>
            <a:pPr algn="ctr"/>
            <a:r>
              <a:rPr sz="1400" b="1" i="0">
                <a:solidFill>
                  <a:srgbClr val="FFFFFF"/>
                </a:solidFill>
                <a:latin typeface="Calibri"/>
              </a:rPr>
              <a:t>5</a:t>
            </a:r>
          </a:p>
        </p:txBody>
      </p:sp>
      <p:sp>
        <p:nvSpPr>
          <p:cNvPr id="35" name="TextBox 34"/>
          <p:cNvSpPr txBox="1"/>
          <p:nvPr/>
        </p:nvSpPr>
        <p:spPr>
          <a:xfrm>
            <a:off x="6583680" y="1975104"/>
            <a:ext cx="1371600" cy="438912"/>
          </a:xfrm>
          <a:prstGeom prst="rect">
            <a:avLst/>
          </a:prstGeom>
          <a:noFill/>
        </p:spPr>
        <p:txBody>
          <a:bodyPr wrap="square">
            <a:spAutoFit/>
          </a:bodyPr>
          <a:lstStyle/>
          <a:p>
            <a:pPr algn="ctr"/>
            <a:r>
              <a:rPr sz="1300" b="1" i="0">
                <a:solidFill>
                  <a:srgbClr val="1B5E20"/>
                </a:solidFill>
                <a:latin typeface="Calibri"/>
              </a:rPr>
              <a:t>Recipes</a:t>
            </a:r>
          </a:p>
        </p:txBody>
      </p:sp>
      <p:sp>
        <p:nvSpPr>
          <p:cNvPr id="36" name="TextBox 35"/>
          <p:cNvSpPr txBox="1"/>
          <p:nvPr/>
        </p:nvSpPr>
        <p:spPr>
          <a:xfrm>
            <a:off x="6583680" y="2450592"/>
            <a:ext cx="1371600" cy="1371600"/>
          </a:xfrm>
          <a:prstGeom prst="rect">
            <a:avLst/>
          </a:prstGeom>
          <a:noFill/>
        </p:spPr>
        <p:txBody>
          <a:bodyPr wrap="square">
            <a:spAutoFit/>
          </a:bodyPr>
          <a:lstStyle/>
          <a:p>
            <a:pPr algn="ctr"/>
            <a:r>
              <a:rPr sz="1000" b="0" i="0">
                <a:solidFill>
                  <a:srgbClr val="616161"/>
                </a:solidFill>
                <a:latin typeface="Calibri"/>
              </a:rPr>
              <a:t>Results + YouTube
Ingredient match</a:t>
            </a:r>
          </a:p>
        </p:txBody>
      </p:sp>
      <p:sp>
        <p:nvSpPr>
          <p:cNvPr id="37" name="TextBox 36"/>
          <p:cNvSpPr txBox="1"/>
          <p:nvPr/>
        </p:nvSpPr>
        <p:spPr>
          <a:xfrm>
            <a:off x="8010144" y="2468880"/>
            <a:ext cx="109728" cy="457200"/>
          </a:xfrm>
          <a:prstGeom prst="rect">
            <a:avLst/>
          </a:prstGeom>
          <a:noFill/>
        </p:spPr>
        <p:txBody>
          <a:bodyPr wrap="square">
            <a:spAutoFit/>
          </a:bodyPr>
          <a:lstStyle/>
          <a:p>
            <a:pPr algn="ctr"/>
            <a:r>
              <a:rPr sz="2000" b="1" i="0">
                <a:solidFill>
                  <a:srgbClr val="FF6F00"/>
                </a:solidFill>
                <a:latin typeface="Calibri"/>
              </a:rPr>
              <a:t>&gt;</a:t>
            </a:r>
          </a:p>
        </p:txBody>
      </p:sp>
      <p:sp>
        <p:nvSpPr>
          <p:cNvPr id="38" name="Rectangle 37"/>
          <p:cNvSpPr/>
          <p:nvPr/>
        </p:nvSpPr>
        <p:spPr>
          <a:xfrm>
            <a:off x="8092440" y="1371600"/>
            <a:ext cx="1463040" cy="2651760"/>
          </a:xfrm>
          <a:prstGeom prst="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595360" y="1481328"/>
            <a:ext cx="457200" cy="42062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595360" y="1481328"/>
            <a:ext cx="457200" cy="420624"/>
          </a:xfrm>
          <a:prstGeom prst="rect">
            <a:avLst/>
          </a:prstGeom>
          <a:noFill/>
        </p:spPr>
        <p:txBody>
          <a:bodyPr wrap="square">
            <a:spAutoFit/>
          </a:bodyPr>
          <a:lstStyle/>
          <a:p>
            <a:pPr algn="ctr"/>
            <a:r>
              <a:rPr sz="1400" b="1" i="0">
                <a:solidFill>
                  <a:srgbClr val="FFFFFF"/>
                </a:solidFill>
                <a:latin typeface="Calibri"/>
              </a:rPr>
              <a:t>6</a:t>
            </a:r>
          </a:p>
        </p:txBody>
      </p:sp>
      <p:sp>
        <p:nvSpPr>
          <p:cNvPr id="41" name="TextBox 40"/>
          <p:cNvSpPr txBox="1"/>
          <p:nvPr/>
        </p:nvSpPr>
        <p:spPr>
          <a:xfrm>
            <a:off x="8138160" y="1975104"/>
            <a:ext cx="1371600" cy="438912"/>
          </a:xfrm>
          <a:prstGeom prst="rect">
            <a:avLst/>
          </a:prstGeom>
          <a:noFill/>
        </p:spPr>
        <p:txBody>
          <a:bodyPr wrap="square">
            <a:spAutoFit/>
          </a:bodyPr>
          <a:lstStyle/>
          <a:p>
            <a:pPr algn="ctr"/>
            <a:r>
              <a:rPr sz="1300" b="1" i="0">
                <a:solidFill>
                  <a:srgbClr val="1B5E20"/>
                </a:solidFill>
                <a:latin typeface="Calibri"/>
              </a:rPr>
              <a:t>Cooking</a:t>
            </a:r>
          </a:p>
        </p:txBody>
      </p:sp>
      <p:sp>
        <p:nvSpPr>
          <p:cNvPr id="42" name="TextBox 41"/>
          <p:cNvSpPr txBox="1"/>
          <p:nvPr/>
        </p:nvSpPr>
        <p:spPr>
          <a:xfrm>
            <a:off x="8138160" y="2450592"/>
            <a:ext cx="1371600" cy="1371600"/>
          </a:xfrm>
          <a:prstGeom prst="rect">
            <a:avLst/>
          </a:prstGeom>
          <a:noFill/>
        </p:spPr>
        <p:txBody>
          <a:bodyPr wrap="square">
            <a:spAutoFit/>
          </a:bodyPr>
          <a:lstStyle/>
          <a:p>
            <a:pPr algn="ctr"/>
            <a:r>
              <a:rPr sz="1000" b="0" i="0">
                <a:solidFill>
                  <a:srgbClr val="616161"/>
                </a:solidFill>
                <a:latin typeface="Calibri"/>
              </a:rPr>
              <a:t>TTS + Voice
Step progress</a:t>
            </a:r>
          </a:p>
        </p:txBody>
      </p:sp>
      <p:sp>
        <p:nvSpPr>
          <p:cNvPr id="43" name="TextBox 42"/>
          <p:cNvSpPr txBox="1"/>
          <p:nvPr/>
        </p:nvSpPr>
        <p:spPr>
          <a:xfrm>
            <a:off x="9564624" y="2468880"/>
            <a:ext cx="109728" cy="457200"/>
          </a:xfrm>
          <a:prstGeom prst="rect">
            <a:avLst/>
          </a:prstGeom>
          <a:noFill/>
        </p:spPr>
        <p:txBody>
          <a:bodyPr wrap="square">
            <a:spAutoFit/>
          </a:bodyPr>
          <a:lstStyle/>
          <a:p>
            <a:pPr algn="ctr"/>
            <a:r>
              <a:rPr sz="2000" b="1" i="0">
                <a:solidFill>
                  <a:srgbClr val="FF6F00"/>
                </a:solidFill>
                <a:latin typeface="Calibri"/>
              </a:rPr>
              <a:t>&gt;</a:t>
            </a:r>
          </a:p>
        </p:txBody>
      </p:sp>
      <p:sp>
        <p:nvSpPr>
          <p:cNvPr id="44" name="Rectangle 43"/>
          <p:cNvSpPr/>
          <p:nvPr/>
        </p:nvSpPr>
        <p:spPr>
          <a:xfrm>
            <a:off x="9646920" y="1371600"/>
            <a:ext cx="1463040" cy="2651760"/>
          </a:xfrm>
          <a:prstGeom prst="rect">
            <a:avLst/>
          </a:prstGeom>
          <a:solidFill>
            <a:srgbClr val="E8F5E9"/>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10149840" y="1481328"/>
            <a:ext cx="457200" cy="42062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149840" y="1481328"/>
            <a:ext cx="457200" cy="420624"/>
          </a:xfrm>
          <a:prstGeom prst="rect">
            <a:avLst/>
          </a:prstGeom>
          <a:noFill/>
        </p:spPr>
        <p:txBody>
          <a:bodyPr wrap="square">
            <a:spAutoFit/>
          </a:bodyPr>
          <a:lstStyle/>
          <a:p>
            <a:pPr algn="ctr"/>
            <a:r>
              <a:rPr sz="1400" b="1" i="0">
                <a:solidFill>
                  <a:srgbClr val="FFFFFF"/>
                </a:solidFill>
                <a:latin typeface="Calibri"/>
              </a:rPr>
              <a:t>7</a:t>
            </a:r>
          </a:p>
        </p:txBody>
      </p:sp>
      <p:sp>
        <p:nvSpPr>
          <p:cNvPr id="47" name="TextBox 46"/>
          <p:cNvSpPr txBox="1"/>
          <p:nvPr/>
        </p:nvSpPr>
        <p:spPr>
          <a:xfrm>
            <a:off x="9692640" y="1975104"/>
            <a:ext cx="1371600" cy="438912"/>
          </a:xfrm>
          <a:prstGeom prst="rect">
            <a:avLst/>
          </a:prstGeom>
          <a:noFill/>
        </p:spPr>
        <p:txBody>
          <a:bodyPr wrap="square">
            <a:spAutoFit/>
          </a:bodyPr>
          <a:lstStyle/>
          <a:p>
            <a:pPr algn="ctr"/>
            <a:r>
              <a:rPr sz="1300" b="1" i="0">
                <a:solidFill>
                  <a:srgbClr val="1B5E20"/>
                </a:solidFill>
                <a:latin typeface="Calibri"/>
              </a:rPr>
              <a:t>Saved</a:t>
            </a:r>
          </a:p>
        </p:txBody>
      </p:sp>
      <p:sp>
        <p:nvSpPr>
          <p:cNvPr id="48" name="TextBox 47"/>
          <p:cNvSpPr txBox="1"/>
          <p:nvPr/>
        </p:nvSpPr>
        <p:spPr>
          <a:xfrm>
            <a:off x="9692640" y="2450592"/>
            <a:ext cx="1371600" cy="1371600"/>
          </a:xfrm>
          <a:prstGeom prst="rect">
            <a:avLst/>
          </a:prstGeom>
          <a:noFill/>
        </p:spPr>
        <p:txBody>
          <a:bodyPr wrap="square">
            <a:spAutoFit/>
          </a:bodyPr>
          <a:lstStyle/>
          <a:p>
            <a:pPr algn="ctr"/>
            <a:r>
              <a:rPr sz="1000" b="0" i="0">
                <a:solidFill>
                  <a:srgbClr val="616161"/>
                </a:solidFill>
                <a:latin typeface="Calibri"/>
              </a:rPr>
              <a:t>Offline
bookmarks</a:t>
            </a:r>
          </a:p>
        </p:txBody>
      </p:sp>
      <p:sp>
        <p:nvSpPr>
          <p:cNvPr id="49" name="Rectangle 48"/>
          <p:cNvSpPr/>
          <p:nvPr/>
        </p:nvSpPr>
        <p:spPr>
          <a:xfrm>
            <a:off x="8037575" y="1316736"/>
            <a:ext cx="1572768" cy="2761488"/>
          </a:xfrm>
          <a:prstGeom prst="rect">
            <a:avLst/>
          </a:prstGeom>
          <a:noFill/>
          <a:ln w="25400">
            <a:solidFill>
              <a:srgbClr val="FF6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092440" y="4096511"/>
            <a:ext cx="1463040" cy="292608"/>
          </a:xfrm>
          <a:prstGeom prst="rect">
            <a:avLst/>
          </a:prstGeom>
          <a:noFill/>
        </p:spPr>
        <p:txBody>
          <a:bodyPr wrap="square">
            <a:spAutoFit/>
          </a:bodyPr>
          <a:lstStyle/>
          <a:p>
            <a:pPr algn="ctr"/>
            <a:r>
              <a:rPr sz="1000" b="1" i="0">
                <a:solidFill>
                  <a:srgbClr val="FF6F00"/>
                </a:solidFill>
                <a:latin typeface="Calibri"/>
              </a:rPr>
              <a:t>KEY FEATURE</a:t>
            </a:r>
          </a:p>
        </p:txBody>
      </p:sp>
      <p:sp>
        <p:nvSpPr>
          <p:cNvPr id="51" name="TextBox 50"/>
          <p:cNvSpPr txBox="1"/>
          <p:nvPr/>
        </p:nvSpPr>
        <p:spPr>
          <a:xfrm>
            <a:off x="320040" y="4187952"/>
            <a:ext cx="11430000" cy="320040"/>
          </a:xfrm>
          <a:prstGeom prst="rect">
            <a:avLst/>
          </a:prstGeom>
          <a:noFill/>
        </p:spPr>
        <p:txBody>
          <a:bodyPr wrap="square">
            <a:spAutoFit/>
          </a:bodyPr>
          <a:lstStyle/>
          <a:p>
            <a:pPr algn="l"/>
            <a:r>
              <a:rPr sz="1000" b="0" i="1">
                <a:solidFill>
                  <a:srgbClr val="616161"/>
                </a:solidFill>
                <a:latin typeface="Calibri"/>
              </a:rPr>
              <a:t>* MainActivity and RecipeResultActivity also navigate to Saved Recipes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91440"/>
            <a:ext cx="10972800" cy="658368"/>
          </a:xfrm>
          <a:prstGeom prst="rect">
            <a:avLst/>
          </a:prstGeom>
          <a:noFill/>
        </p:spPr>
        <p:txBody>
          <a:bodyPr wrap="square">
            <a:spAutoFit/>
          </a:bodyPr>
          <a:lstStyle/>
          <a:p>
            <a:pPr algn="l"/>
            <a:r>
              <a:rPr sz="3000" b="1" i="0">
                <a:solidFill>
                  <a:srgbClr val="FFFFFF"/>
                </a:solidFill>
                <a:latin typeface="Calibri"/>
              </a:rPr>
              <a:t>Software Architecture</a:t>
            </a:r>
          </a:p>
        </p:txBody>
      </p:sp>
      <p:sp>
        <p:nvSpPr>
          <p:cNvPr id="4" name="TextBox 3"/>
          <p:cNvSpPr txBox="1"/>
          <p:nvPr/>
        </p:nvSpPr>
        <p:spPr>
          <a:xfrm>
            <a:off x="365760" y="713232"/>
            <a:ext cx="10972800" cy="329184"/>
          </a:xfrm>
          <a:prstGeom prst="rect">
            <a:avLst/>
          </a:prstGeom>
          <a:noFill/>
        </p:spPr>
        <p:txBody>
          <a:bodyPr wrap="square">
            <a:spAutoFit/>
          </a:bodyPr>
          <a:lstStyle/>
          <a:p>
            <a:pPr algn="l"/>
            <a:r>
              <a:rPr sz="1300" b="0" i="0">
                <a:solidFill>
                  <a:srgbClr val="66BB6A"/>
                </a:solidFill>
                <a:latin typeface="Calibri"/>
              </a:rPr>
              <a:t>MVVM + Repository Pattern</a:t>
            </a:r>
          </a:p>
        </p:txBody>
      </p:sp>
      <p:sp>
        <p:nvSpPr>
          <p:cNvPr id="5" name="Rectangle 4"/>
          <p:cNvSpPr/>
          <p:nvPr/>
        </p:nvSpPr>
        <p:spPr>
          <a:xfrm>
            <a:off x="0" y="1097280"/>
            <a:ext cx="12188952" cy="54864"/>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537960"/>
            <a:ext cx="12188952" cy="32004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556248"/>
            <a:ext cx="11430000" cy="256032"/>
          </a:xfrm>
          <a:prstGeom prst="rect">
            <a:avLst/>
          </a:prstGeom>
          <a:noFill/>
        </p:spPr>
        <p:txBody>
          <a:bodyPr wrap="square">
            <a:spAutoFit/>
          </a:bodyPr>
          <a:lstStyle/>
          <a:p>
            <a:pPr algn="l"/>
            <a:r>
              <a:rPr sz="1000" b="0" i="0">
                <a:solidFill>
                  <a:srgbClr val="66BB6A"/>
                </a:solidFill>
                <a:latin typeface="Calibri"/>
              </a:rPr>
              <a:t>Snap &amp; Cook  |  CSD3156 Mobile and Cloud Computing  |  SIT</a:t>
            </a:r>
          </a:p>
        </p:txBody>
      </p:sp>
      <p:sp>
        <p:nvSpPr>
          <p:cNvPr id="8" name="Rectangle 7"/>
          <p:cNvSpPr/>
          <p:nvPr/>
        </p:nvSpPr>
        <p:spPr>
          <a:xfrm>
            <a:off x="365760" y="1261872"/>
            <a:ext cx="6675120" cy="768096"/>
          </a:xfrm>
          <a:prstGeom prst="rect">
            <a:avLst/>
          </a:prstGeom>
          <a:solidFill>
            <a:srgbClr val="2E7D32"/>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1298448"/>
            <a:ext cx="1920240" cy="347472"/>
          </a:xfrm>
          <a:prstGeom prst="rect">
            <a:avLst/>
          </a:prstGeom>
          <a:noFill/>
        </p:spPr>
        <p:txBody>
          <a:bodyPr wrap="square">
            <a:spAutoFit/>
          </a:bodyPr>
          <a:lstStyle/>
          <a:p>
            <a:pPr algn="l"/>
            <a:r>
              <a:rPr sz="1300" b="1" i="0">
                <a:solidFill>
                  <a:srgbClr val="FFFFFF"/>
                </a:solidFill>
                <a:latin typeface="Calibri"/>
              </a:rPr>
              <a:t>UI Layer</a:t>
            </a:r>
          </a:p>
        </p:txBody>
      </p:sp>
      <p:sp>
        <p:nvSpPr>
          <p:cNvPr id="10" name="TextBox 9"/>
          <p:cNvSpPr txBox="1"/>
          <p:nvPr/>
        </p:nvSpPr>
        <p:spPr>
          <a:xfrm>
            <a:off x="2468880" y="1298448"/>
            <a:ext cx="4434840" cy="694944"/>
          </a:xfrm>
          <a:prstGeom prst="rect">
            <a:avLst/>
          </a:prstGeom>
          <a:noFill/>
        </p:spPr>
        <p:txBody>
          <a:bodyPr wrap="square">
            <a:spAutoFit/>
          </a:bodyPr>
          <a:lstStyle/>
          <a:p>
            <a:pPr algn="l"/>
            <a:r>
              <a:rPr sz="1100" b="0" i="0">
                <a:solidFill>
                  <a:srgbClr val="FFFFFF"/>
                </a:solidFill>
                <a:latin typeface="Calibri"/>
              </a:rPr>
              <a:t>Activities + ViewModels + RecyclerView Adapters
ui/splash  ui/main  ui/camera  ui/verification  ui/recipe  ui/cooking  ui/saved</a:t>
            </a:r>
          </a:p>
        </p:txBody>
      </p:sp>
      <p:sp>
        <p:nvSpPr>
          <p:cNvPr id="11" name="Rectangle 10"/>
          <p:cNvSpPr/>
          <p:nvPr/>
        </p:nvSpPr>
        <p:spPr>
          <a:xfrm>
            <a:off x="365760" y="2103120"/>
            <a:ext cx="6675120" cy="768096"/>
          </a:xfrm>
          <a:prstGeom prst="rect">
            <a:avLst/>
          </a:prstGeom>
          <a:solidFill>
            <a:srgbClr val="FF6F00"/>
          </a:solidFill>
          <a:ln w="12700">
            <a:solidFill>
              <a:srgbClr val="FF6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 y="2139696"/>
            <a:ext cx="1920240" cy="347472"/>
          </a:xfrm>
          <a:prstGeom prst="rect">
            <a:avLst/>
          </a:prstGeom>
          <a:noFill/>
        </p:spPr>
        <p:txBody>
          <a:bodyPr wrap="square">
            <a:spAutoFit/>
          </a:bodyPr>
          <a:lstStyle/>
          <a:p>
            <a:pPr algn="l"/>
            <a:r>
              <a:rPr sz="1300" b="1" i="0">
                <a:solidFill>
                  <a:srgbClr val="FFFFFF"/>
                </a:solidFill>
                <a:latin typeface="Calibri"/>
              </a:rPr>
              <a:t>Repository</a:t>
            </a:r>
          </a:p>
        </p:txBody>
      </p:sp>
      <p:sp>
        <p:nvSpPr>
          <p:cNvPr id="13" name="TextBox 12"/>
          <p:cNvSpPr txBox="1"/>
          <p:nvPr/>
        </p:nvSpPr>
        <p:spPr>
          <a:xfrm>
            <a:off x="2468880" y="2139696"/>
            <a:ext cx="4434840" cy="694944"/>
          </a:xfrm>
          <a:prstGeom prst="rect">
            <a:avLst/>
          </a:prstGeom>
          <a:noFill/>
        </p:spPr>
        <p:txBody>
          <a:bodyPr wrap="square">
            <a:spAutoFit/>
          </a:bodyPr>
          <a:lstStyle/>
          <a:p>
            <a:pPr algn="l"/>
            <a:r>
              <a:rPr sz="1100" b="0" i="0">
                <a:solidFill>
                  <a:srgbClr val="FFFFFF"/>
                </a:solidFill>
                <a:latin typeface="Calibri"/>
              </a:rPr>
              <a:t>RecipeRepository -- withKeyRotation() catches HTTP 402, retries with next Spoonacular key
data/remote/</a:t>
            </a:r>
          </a:p>
        </p:txBody>
      </p:sp>
      <p:sp>
        <p:nvSpPr>
          <p:cNvPr id="14" name="Rectangle 13"/>
          <p:cNvSpPr/>
          <p:nvPr/>
        </p:nvSpPr>
        <p:spPr>
          <a:xfrm>
            <a:off x="365760" y="2944368"/>
            <a:ext cx="6675120" cy="768096"/>
          </a:xfrm>
          <a:prstGeom prst="rect">
            <a:avLst/>
          </a:prstGeom>
          <a:solidFill>
            <a:srgbClr val="1B5E20"/>
          </a:solidFill>
          <a:ln w="12700">
            <a:solidFill>
              <a:srgbClr val="1B5E2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02920" y="2980944"/>
            <a:ext cx="1920240" cy="347472"/>
          </a:xfrm>
          <a:prstGeom prst="rect">
            <a:avLst/>
          </a:prstGeom>
          <a:noFill/>
        </p:spPr>
        <p:txBody>
          <a:bodyPr wrap="square">
            <a:spAutoFit/>
          </a:bodyPr>
          <a:lstStyle/>
          <a:p>
            <a:pPr algn="l"/>
            <a:r>
              <a:rPr sz="1300" b="1" i="0">
                <a:solidFill>
                  <a:srgbClr val="FFFFFF"/>
                </a:solidFill>
                <a:latin typeface="Calibri"/>
              </a:rPr>
              <a:t>Remote Data</a:t>
            </a:r>
          </a:p>
        </p:txBody>
      </p:sp>
      <p:sp>
        <p:nvSpPr>
          <p:cNvPr id="16" name="TextBox 15"/>
          <p:cNvSpPr txBox="1"/>
          <p:nvPr/>
        </p:nvSpPr>
        <p:spPr>
          <a:xfrm>
            <a:off x="2468880" y="2980944"/>
            <a:ext cx="4434840" cy="694944"/>
          </a:xfrm>
          <a:prstGeom prst="rect">
            <a:avLst/>
          </a:prstGeom>
          <a:noFill/>
        </p:spPr>
        <p:txBody>
          <a:bodyPr wrap="square">
            <a:spAutoFit/>
          </a:bodyPr>
          <a:lstStyle/>
          <a:p>
            <a:pPr algn="l"/>
            <a:r>
              <a:rPr sz="1100" b="0" i="0">
                <a:solidFill>
                  <a:srgbClr val="FFFFFF"/>
                </a:solidFill>
                <a:latin typeface="Calibri"/>
              </a:rPr>
              <a:t>GeminiClient (Gemini 1.5 Flash)  |  RetrofitClient (Spoonacular)  |  OpenFoodFactsClient
data/remote/</a:t>
            </a:r>
          </a:p>
        </p:txBody>
      </p:sp>
      <p:sp>
        <p:nvSpPr>
          <p:cNvPr id="17" name="Rectangle 16"/>
          <p:cNvSpPr/>
          <p:nvPr/>
        </p:nvSpPr>
        <p:spPr>
          <a:xfrm>
            <a:off x="365760" y="3785615"/>
            <a:ext cx="6675120" cy="768096"/>
          </a:xfrm>
          <a:prstGeom prst="rect">
            <a:avLst/>
          </a:prstGeom>
          <a:solidFill>
            <a:srgbClr val="2E7D32"/>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02920" y="3822191"/>
            <a:ext cx="1920240" cy="347472"/>
          </a:xfrm>
          <a:prstGeom prst="rect">
            <a:avLst/>
          </a:prstGeom>
          <a:noFill/>
        </p:spPr>
        <p:txBody>
          <a:bodyPr wrap="square">
            <a:spAutoFit/>
          </a:bodyPr>
          <a:lstStyle/>
          <a:p>
            <a:pPr algn="l"/>
            <a:r>
              <a:rPr sz="1300" b="1" i="0">
                <a:solidFill>
                  <a:srgbClr val="FFFFFF"/>
                </a:solidFill>
                <a:latin typeface="Calibri"/>
              </a:rPr>
              <a:t>Local Data</a:t>
            </a:r>
          </a:p>
        </p:txBody>
      </p:sp>
      <p:sp>
        <p:nvSpPr>
          <p:cNvPr id="19" name="TextBox 18"/>
          <p:cNvSpPr txBox="1"/>
          <p:nvPr/>
        </p:nvSpPr>
        <p:spPr>
          <a:xfrm>
            <a:off x="2468880" y="3822191"/>
            <a:ext cx="4434840" cy="694944"/>
          </a:xfrm>
          <a:prstGeom prst="rect">
            <a:avLst/>
          </a:prstGeom>
          <a:noFill/>
        </p:spPr>
        <p:txBody>
          <a:bodyPr wrap="square">
            <a:spAutoFit/>
          </a:bodyPr>
          <a:lstStyle/>
          <a:p>
            <a:pPr algn="l"/>
            <a:r>
              <a:rPr sz="1100" b="0" i="0">
                <a:solidFill>
                  <a:srgbClr val="FFFFFF"/>
                </a:solidFill>
                <a:latin typeface="Calibri"/>
              </a:rPr>
              <a:t>Room Database  |  RecipeDao (insert/delete/getAll)  |  SavedRecipe entity
data/local/</a:t>
            </a:r>
          </a:p>
        </p:txBody>
      </p:sp>
      <p:sp>
        <p:nvSpPr>
          <p:cNvPr id="20" name="Rectangle 19"/>
          <p:cNvSpPr/>
          <p:nvPr/>
        </p:nvSpPr>
        <p:spPr>
          <a:xfrm>
            <a:off x="365760" y="4626864"/>
            <a:ext cx="6675120" cy="768096"/>
          </a:xfrm>
          <a:prstGeom prst="rect">
            <a:avLst/>
          </a:prstGeom>
          <a:solidFill>
            <a:srgbClr val="FF6F00"/>
          </a:solidFill>
          <a:ln w="12700">
            <a:solidFill>
              <a:srgbClr val="FF6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02920" y="4663440"/>
            <a:ext cx="1920240" cy="347472"/>
          </a:xfrm>
          <a:prstGeom prst="rect">
            <a:avLst/>
          </a:prstGeom>
          <a:noFill/>
        </p:spPr>
        <p:txBody>
          <a:bodyPr wrap="square">
            <a:spAutoFit/>
          </a:bodyPr>
          <a:lstStyle/>
          <a:p>
            <a:pPr algn="l"/>
            <a:r>
              <a:rPr sz="1300" b="1" i="0">
                <a:solidFill>
                  <a:srgbClr val="FFFFFF"/>
                </a:solidFill>
                <a:latin typeface="Calibri"/>
              </a:rPr>
              <a:t>ML / Vision</a:t>
            </a:r>
          </a:p>
        </p:txBody>
      </p:sp>
      <p:sp>
        <p:nvSpPr>
          <p:cNvPr id="22" name="TextBox 21"/>
          <p:cNvSpPr txBox="1"/>
          <p:nvPr/>
        </p:nvSpPr>
        <p:spPr>
          <a:xfrm>
            <a:off x="2468880" y="4663440"/>
            <a:ext cx="4434840" cy="694944"/>
          </a:xfrm>
          <a:prstGeom prst="rect">
            <a:avLst/>
          </a:prstGeom>
          <a:noFill/>
        </p:spPr>
        <p:txBody>
          <a:bodyPr wrap="square">
            <a:spAutoFit/>
          </a:bodyPr>
          <a:lstStyle/>
          <a:p>
            <a:pPr algn="l"/>
            <a:r>
              <a:rPr sz="1100" b="0" i="0">
                <a:solidFill>
                  <a:srgbClr val="FFFFFF"/>
                </a:solidFill>
                <a:latin typeface="Calibri"/>
              </a:rPr>
              <a:t>IngredientDetector -- Bitmap -&gt; JPEG (q85) -&gt; Base64 -&gt; Gemini REST API
ml/</a:t>
            </a:r>
          </a:p>
        </p:txBody>
      </p:sp>
      <p:sp>
        <p:nvSpPr>
          <p:cNvPr id="23" name="TextBox 22"/>
          <p:cNvSpPr txBox="1"/>
          <p:nvPr/>
        </p:nvSpPr>
        <p:spPr>
          <a:xfrm>
            <a:off x="7360920" y="1207008"/>
            <a:ext cx="4572000" cy="384048"/>
          </a:xfrm>
          <a:prstGeom prst="rect">
            <a:avLst/>
          </a:prstGeom>
          <a:noFill/>
        </p:spPr>
        <p:txBody>
          <a:bodyPr wrap="square">
            <a:spAutoFit/>
          </a:bodyPr>
          <a:lstStyle/>
          <a:p>
            <a:pPr algn="l"/>
            <a:r>
              <a:rPr sz="1500" b="1" i="0">
                <a:solidFill>
                  <a:srgbClr val="1B5E20"/>
                </a:solidFill>
                <a:latin typeface="Calibri"/>
              </a:rPr>
              <a:t>Design Patterns &amp; Decisions</a:t>
            </a:r>
          </a:p>
        </p:txBody>
      </p:sp>
      <p:sp>
        <p:nvSpPr>
          <p:cNvPr id="24" name="Rectangle 23"/>
          <p:cNvSpPr/>
          <p:nvPr/>
        </p:nvSpPr>
        <p:spPr>
          <a:xfrm>
            <a:off x="7360920" y="1664208"/>
            <a:ext cx="4572000" cy="713232"/>
          </a:xfrm>
          <a:prstGeom prst="rect">
            <a:avLst/>
          </a:prstGeom>
          <a:solidFill>
            <a:srgbClr val="E8F5E9"/>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498079" y="1700784"/>
            <a:ext cx="4297680" cy="274320"/>
          </a:xfrm>
          <a:prstGeom prst="rect">
            <a:avLst/>
          </a:prstGeom>
          <a:noFill/>
        </p:spPr>
        <p:txBody>
          <a:bodyPr wrap="square">
            <a:spAutoFit/>
          </a:bodyPr>
          <a:lstStyle/>
          <a:p>
            <a:pPr algn="l"/>
            <a:r>
              <a:rPr sz="1200" b="1" i="0">
                <a:solidFill>
                  <a:srgbClr val="1B5E20"/>
                </a:solidFill>
                <a:latin typeface="Calibri"/>
              </a:rPr>
              <a:t>MVVM</a:t>
            </a:r>
          </a:p>
        </p:txBody>
      </p:sp>
      <p:sp>
        <p:nvSpPr>
          <p:cNvPr id="26" name="TextBox 25"/>
          <p:cNvSpPr txBox="1"/>
          <p:nvPr/>
        </p:nvSpPr>
        <p:spPr>
          <a:xfrm>
            <a:off x="7498079" y="1975104"/>
            <a:ext cx="4297680" cy="347472"/>
          </a:xfrm>
          <a:prstGeom prst="rect">
            <a:avLst/>
          </a:prstGeom>
          <a:noFill/>
        </p:spPr>
        <p:txBody>
          <a:bodyPr wrap="square">
            <a:spAutoFit/>
          </a:bodyPr>
          <a:lstStyle/>
          <a:p>
            <a:pPr algn="l"/>
            <a:r>
              <a:rPr sz="1000" b="0" i="0">
                <a:solidFill>
                  <a:srgbClr val="616161"/>
                </a:solidFill>
                <a:latin typeface="Calibri"/>
              </a:rPr>
              <a:t>ViewModel + LiveData; no tight coupling between UI and data</a:t>
            </a:r>
          </a:p>
        </p:txBody>
      </p:sp>
      <p:sp>
        <p:nvSpPr>
          <p:cNvPr id="27" name="Rectangle 26"/>
          <p:cNvSpPr/>
          <p:nvPr/>
        </p:nvSpPr>
        <p:spPr>
          <a:xfrm>
            <a:off x="7360920" y="2450592"/>
            <a:ext cx="4572000" cy="713232"/>
          </a:xfrm>
          <a:prstGeom prst="rect">
            <a:avLst/>
          </a:prstGeom>
          <a:solidFill>
            <a:srgbClr val="E8F5E9"/>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498079" y="2487168"/>
            <a:ext cx="4297680" cy="274320"/>
          </a:xfrm>
          <a:prstGeom prst="rect">
            <a:avLst/>
          </a:prstGeom>
          <a:noFill/>
        </p:spPr>
        <p:txBody>
          <a:bodyPr wrap="square">
            <a:spAutoFit/>
          </a:bodyPr>
          <a:lstStyle/>
          <a:p>
            <a:pPr algn="l"/>
            <a:r>
              <a:rPr sz="1200" b="1" i="0">
                <a:solidFill>
                  <a:srgbClr val="1B5E20"/>
                </a:solidFill>
                <a:latin typeface="Calibri"/>
              </a:rPr>
              <a:t>Repository</a:t>
            </a:r>
          </a:p>
        </p:txBody>
      </p:sp>
      <p:sp>
        <p:nvSpPr>
          <p:cNvPr id="29" name="TextBox 28"/>
          <p:cNvSpPr txBox="1"/>
          <p:nvPr/>
        </p:nvSpPr>
        <p:spPr>
          <a:xfrm>
            <a:off x="7498079" y="2761488"/>
            <a:ext cx="4297680" cy="347472"/>
          </a:xfrm>
          <a:prstGeom prst="rect">
            <a:avLst/>
          </a:prstGeom>
          <a:noFill/>
        </p:spPr>
        <p:txBody>
          <a:bodyPr wrap="square">
            <a:spAutoFit/>
          </a:bodyPr>
          <a:lstStyle/>
          <a:p>
            <a:pPr algn="l"/>
            <a:r>
              <a:rPr sz="1000" b="0" i="0">
                <a:solidFill>
                  <a:srgbClr val="616161"/>
                </a:solidFill>
                <a:latin typeface="Calibri"/>
              </a:rPr>
              <a:t>Single source of truth; ViewModels never call APIs directly</a:t>
            </a:r>
          </a:p>
        </p:txBody>
      </p:sp>
      <p:sp>
        <p:nvSpPr>
          <p:cNvPr id="30" name="Rectangle 29"/>
          <p:cNvSpPr/>
          <p:nvPr/>
        </p:nvSpPr>
        <p:spPr>
          <a:xfrm>
            <a:off x="7360920" y="3236976"/>
            <a:ext cx="4572000" cy="713232"/>
          </a:xfrm>
          <a:prstGeom prst="rect">
            <a:avLst/>
          </a:prstGeom>
          <a:solidFill>
            <a:srgbClr val="E8F5E9"/>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498079" y="3273552"/>
            <a:ext cx="4297680" cy="274320"/>
          </a:xfrm>
          <a:prstGeom prst="rect">
            <a:avLst/>
          </a:prstGeom>
          <a:noFill/>
        </p:spPr>
        <p:txBody>
          <a:bodyPr wrap="square">
            <a:spAutoFit/>
          </a:bodyPr>
          <a:lstStyle/>
          <a:p>
            <a:pPr algn="l"/>
            <a:r>
              <a:rPr sz="1200" b="1" i="0">
                <a:solidFill>
                  <a:srgbClr val="1B5E20"/>
                </a:solidFill>
                <a:latin typeface="Calibri"/>
              </a:rPr>
              <a:t>Singleton</a:t>
            </a:r>
          </a:p>
        </p:txBody>
      </p:sp>
      <p:sp>
        <p:nvSpPr>
          <p:cNvPr id="32" name="TextBox 31"/>
          <p:cNvSpPr txBox="1"/>
          <p:nvPr/>
        </p:nvSpPr>
        <p:spPr>
          <a:xfrm>
            <a:off x="7498079" y="3547872"/>
            <a:ext cx="4297680" cy="347472"/>
          </a:xfrm>
          <a:prstGeom prst="rect">
            <a:avLst/>
          </a:prstGeom>
          <a:noFill/>
        </p:spPr>
        <p:txBody>
          <a:bodyPr wrap="square">
            <a:spAutoFit/>
          </a:bodyPr>
          <a:lstStyle/>
          <a:p>
            <a:pPr algn="l"/>
            <a:r>
              <a:rPr sz="1000" b="0" i="0">
                <a:solidFill>
                  <a:srgbClr val="616161"/>
                </a:solidFill>
                <a:latin typeface="Calibri"/>
              </a:rPr>
              <a:t>GeminiClient, RetrofitClient, AppDatabase -- one instance each</a:t>
            </a:r>
          </a:p>
        </p:txBody>
      </p:sp>
      <p:sp>
        <p:nvSpPr>
          <p:cNvPr id="33" name="Rectangle 32"/>
          <p:cNvSpPr/>
          <p:nvPr/>
        </p:nvSpPr>
        <p:spPr>
          <a:xfrm>
            <a:off x="7360920" y="4023360"/>
            <a:ext cx="4572000" cy="713232"/>
          </a:xfrm>
          <a:prstGeom prst="rect">
            <a:avLst/>
          </a:prstGeom>
          <a:solidFill>
            <a:srgbClr val="E8F5E9"/>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498079" y="4059936"/>
            <a:ext cx="4297680" cy="274320"/>
          </a:xfrm>
          <a:prstGeom prst="rect">
            <a:avLst/>
          </a:prstGeom>
          <a:noFill/>
        </p:spPr>
        <p:txBody>
          <a:bodyPr wrap="square">
            <a:spAutoFit/>
          </a:bodyPr>
          <a:lstStyle/>
          <a:p>
            <a:pPr algn="l"/>
            <a:r>
              <a:rPr sz="1200" b="1" i="0">
                <a:solidFill>
                  <a:srgbClr val="1B5E20"/>
                </a:solidFill>
                <a:latin typeface="Calibri"/>
              </a:rPr>
              <a:t>Coroutines</a:t>
            </a:r>
          </a:p>
        </p:txBody>
      </p:sp>
      <p:sp>
        <p:nvSpPr>
          <p:cNvPr id="35" name="TextBox 34"/>
          <p:cNvSpPr txBox="1"/>
          <p:nvPr/>
        </p:nvSpPr>
        <p:spPr>
          <a:xfrm>
            <a:off x="7498079" y="4334256"/>
            <a:ext cx="4297680" cy="347472"/>
          </a:xfrm>
          <a:prstGeom prst="rect">
            <a:avLst/>
          </a:prstGeom>
          <a:noFill/>
        </p:spPr>
        <p:txBody>
          <a:bodyPr wrap="square">
            <a:spAutoFit/>
          </a:bodyPr>
          <a:lstStyle/>
          <a:p>
            <a:pPr algn="l"/>
            <a:r>
              <a:rPr sz="1000" b="0" i="0">
                <a:solidFill>
                  <a:srgbClr val="616161"/>
                </a:solidFill>
                <a:latin typeface="Calibri"/>
              </a:rPr>
              <a:t>viewModelScope + Dispatchers.IO for all async I/O</a:t>
            </a:r>
          </a:p>
        </p:txBody>
      </p:sp>
      <p:sp>
        <p:nvSpPr>
          <p:cNvPr id="36" name="Rectangle 35"/>
          <p:cNvSpPr/>
          <p:nvPr/>
        </p:nvSpPr>
        <p:spPr>
          <a:xfrm>
            <a:off x="7360920" y="4809744"/>
            <a:ext cx="4572000" cy="713232"/>
          </a:xfrm>
          <a:prstGeom prst="rect">
            <a:avLst/>
          </a:prstGeom>
          <a:solidFill>
            <a:srgbClr val="E8F5E9"/>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7498079" y="4846320"/>
            <a:ext cx="4297680" cy="274320"/>
          </a:xfrm>
          <a:prstGeom prst="rect">
            <a:avLst/>
          </a:prstGeom>
          <a:noFill/>
        </p:spPr>
        <p:txBody>
          <a:bodyPr wrap="square">
            <a:spAutoFit/>
          </a:bodyPr>
          <a:lstStyle/>
          <a:p>
            <a:pPr algn="l"/>
            <a:r>
              <a:rPr sz="1200" b="1" i="0">
                <a:solidFill>
                  <a:srgbClr val="1B5E20"/>
                </a:solidFill>
                <a:latin typeface="Calibri"/>
              </a:rPr>
              <a:t>Key Rotation</a:t>
            </a:r>
          </a:p>
        </p:txBody>
      </p:sp>
      <p:sp>
        <p:nvSpPr>
          <p:cNvPr id="38" name="TextBox 37"/>
          <p:cNvSpPr txBox="1"/>
          <p:nvPr/>
        </p:nvSpPr>
        <p:spPr>
          <a:xfrm>
            <a:off x="7498079" y="5120640"/>
            <a:ext cx="4297680" cy="347472"/>
          </a:xfrm>
          <a:prstGeom prst="rect">
            <a:avLst/>
          </a:prstGeom>
          <a:noFill/>
        </p:spPr>
        <p:txBody>
          <a:bodyPr wrap="square">
            <a:spAutoFit/>
          </a:bodyPr>
          <a:lstStyle/>
          <a:p>
            <a:pPr algn="l"/>
            <a:r>
              <a:rPr sz="1000" b="0" i="0">
                <a:solidFill>
                  <a:srgbClr val="616161"/>
                </a:solidFill>
                <a:latin typeface="Calibri"/>
              </a:rPr>
              <a:t>SpoonacularKeyManager pools N keys; swaps on HTTP 402</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91440"/>
            <a:ext cx="10972800" cy="658368"/>
          </a:xfrm>
          <a:prstGeom prst="rect">
            <a:avLst/>
          </a:prstGeom>
          <a:noFill/>
        </p:spPr>
        <p:txBody>
          <a:bodyPr wrap="square">
            <a:spAutoFit/>
          </a:bodyPr>
          <a:lstStyle/>
          <a:p>
            <a:pPr algn="l"/>
            <a:r>
              <a:rPr sz="3000" b="1" i="0">
                <a:solidFill>
                  <a:srgbClr val="FFFFFF"/>
                </a:solidFill>
                <a:latin typeface="Calibri"/>
              </a:rPr>
              <a:t>Feature 1 -- AI Ingredient Detection</a:t>
            </a:r>
          </a:p>
        </p:txBody>
      </p:sp>
      <p:sp>
        <p:nvSpPr>
          <p:cNvPr id="4" name="TextBox 3"/>
          <p:cNvSpPr txBox="1"/>
          <p:nvPr/>
        </p:nvSpPr>
        <p:spPr>
          <a:xfrm>
            <a:off x="365760" y="713232"/>
            <a:ext cx="10972800" cy="329184"/>
          </a:xfrm>
          <a:prstGeom prst="rect">
            <a:avLst/>
          </a:prstGeom>
          <a:noFill/>
        </p:spPr>
        <p:txBody>
          <a:bodyPr wrap="square">
            <a:spAutoFit/>
          </a:bodyPr>
          <a:lstStyle/>
          <a:p>
            <a:pPr algn="l"/>
            <a:r>
              <a:rPr sz="1300" b="0" i="0">
                <a:solidFill>
                  <a:srgbClr val="66BB6A"/>
                </a:solidFill>
                <a:latin typeface="Calibri"/>
              </a:rPr>
              <a:t>Google Gemini 1.5 Flash Cloud Vision Pipeline</a:t>
            </a:r>
          </a:p>
        </p:txBody>
      </p:sp>
      <p:sp>
        <p:nvSpPr>
          <p:cNvPr id="5" name="Rectangle 4"/>
          <p:cNvSpPr/>
          <p:nvPr/>
        </p:nvSpPr>
        <p:spPr>
          <a:xfrm>
            <a:off x="0" y="1097280"/>
            <a:ext cx="12188952" cy="54864"/>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537960"/>
            <a:ext cx="12188952" cy="32004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556248"/>
            <a:ext cx="11430000" cy="256032"/>
          </a:xfrm>
          <a:prstGeom prst="rect">
            <a:avLst/>
          </a:prstGeom>
          <a:noFill/>
        </p:spPr>
        <p:txBody>
          <a:bodyPr wrap="square">
            <a:spAutoFit/>
          </a:bodyPr>
          <a:lstStyle/>
          <a:p>
            <a:pPr algn="l"/>
            <a:r>
              <a:rPr sz="1000" b="0" i="0">
                <a:solidFill>
                  <a:srgbClr val="66BB6A"/>
                </a:solidFill>
                <a:latin typeface="Calibri"/>
              </a:rPr>
              <a:t>Snap &amp; Cook  |  CSD3156 Mobile and Cloud Computing  |  SIT</a:t>
            </a:r>
          </a:p>
        </p:txBody>
      </p:sp>
      <p:sp>
        <p:nvSpPr>
          <p:cNvPr id="8" name="Rectangle 7"/>
          <p:cNvSpPr/>
          <p:nvPr/>
        </p:nvSpPr>
        <p:spPr>
          <a:xfrm>
            <a:off x="274320" y="1371600"/>
            <a:ext cx="1737360" cy="2286000"/>
          </a:xfrm>
          <a:prstGeom prst="rect">
            <a:avLst/>
          </a:prstGeom>
          <a:solidFill>
            <a:srgbClr val="E8F5E9"/>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20040" y="1444752"/>
            <a:ext cx="1645919" cy="658368"/>
          </a:xfrm>
          <a:prstGeom prst="rect">
            <a:avLst/>
          </a:prstGeom>
          <a:noFill/>
        </p:spPr>
        <p:txBody>
          <a:bodyPr wrap="square">
            <a:spAutoFit/>
          </a:bodyPr>
          <a:lstStyle/>
          <a:p>
            <a:pPr algn="ctr"/>
            <a:r>
              <a:rPr sz="1400" b="1" i="0">
                <a:solidFill>
                  <a:srgbClr val="1B5E20"/>
                </a:solidFill>
                <a:latin typeface="Calibri"/>
              </a:rPr>
              <a:t>Camera
or Gallery</a:t>
            </a:r>
          </a:p>
        </p:txBody>
      </p:sp>
      <p:sp>
        <p:nvSpPr>
          <p:cNvPr id="10" name="TextBox 9"/>
          <p:cNvSpPr txBox="1"/>
          <p:nvPr/>
        </p:nvSpPr>
        <p:spPr>
          <a:xfrm>
            <a:off x="365760" y="2139696"/>
            <a:ext cx="1554480" cy="1097280"/>
          </a:xfrm>
          <a:prstGeom prst="rect">
            <a:avLst/>
          </a:prstGeom>
          <a:noFill/>
        </p:spPr>
        <p:txBody>
          <a:bodyPr wrap="square">
            <a:spAutoFit/>
          </a:bodyPr>
          <a:lstStyle/>
          <a:p>
            <a:pPr algn="ctr"/>
            <a:r>
              <a:rPr sz="1100" b="0" i="0">
                <a:solidFill>
                  <a:srgbClr val="616161"/>
                </a:solidFill>
                <a:latin typeface="Calibri"/>
              </a:rPr>
              <a:t>CameraX live preview
or multi-image picker</a:t>
            </a:r>
          </a:p>
        </p:txBody>
      </p:sp>
      <p:sp>
        <p:nvSpPr>
          <p:cNvPr id="11" name="TextBox 10"/>
          <p:cNvSpPr txBox="1"/>
          <p:nvPr/>
        </p:nvSpPr>
        <p:spPr>
          <a:xfrm>
            <a:off x="2020823" y="2194560"/>
            <a:ext cx="137160" cy="457200"/>
          </a:xfrm>
          <a:prstGeom prst="rect">
            <a:avLst/>
          </a:prstGeom>
          <a:noFill/>
        </p:spPr>
        <p:txBody>
          <a:bodyPr wrap="square">
            <a:spAutoFit/>
          </a:bodyPr>
          <a:lstStyle/>
          <a:p>
            <a:pPr algn="ctr"/>
            <a:r>
              <a:rPr sz="2000" b="1" i="0">
                <a:solidFill>
                  <a:srgbClr val="FF6F00"/>
                </a:solidFill>
                <a:latin typeface="Calibri"/>
              </a:rPr>
              <a:t>-&gt;</a:t>
            </a:r>
          </a:p>
        </p:txBody>
      </p:sp>
      <p:sp>
        <p:nvSpPr>
          <p:cNvPr id="12" name="Rectangle 11"/>
          <p:cNvSpPr/>
          <p:nvPr/>
        </p:nvSpPr>
        <p:spPr>
          <a:xfrm>
            <a:off x="2130551" y="1371600"/>
            <a:ext cx="1737360" cy="2286000"/>
          </a:xfrm>
          <a:prstGeom prst="rect">
            <a:avLst/>
          </a:prstGeom>
          <a:solidFill>
            <a:srgbClr val="E8F5E9"/>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176271" y="1444752"/>
            <a:ext cx="1645919" cy="658368"/>
          </a:xfrm>
          <a:prstGeom prst="rect">
            <a:avLst/>
          </a:prstGeom>
          <a:noFill/>
        </p:spPr>
        <p:txBody>
          <a:bodyPr wrap="square">
            <a:spAutoFit/>
          </a:bodyPr>
          <a:lstStyle/>
          <a:p>
            <a:pPr algn="ctr"/>
            <a:r>
              <a:rPr sz="1400" b="1" i="0">
                <a:solidFill>
                  <a:srgbClr val="1B5E20"/>
                </a:solidFill>
                <a:latin typeface="Calibri"/>
              </a:rPr>
              <a:t>JPEG
Compress</a:t>
            </a:r>
          </a:p>
        </p:txBody>
      </p:sp>
      <p:sp>
        <p:nvSpPr>
          <p:cNvPr id="14" name="TextBox 13"/>
          <p:cNvSpPr txBox="1"/>
          <p:nvPr/>
        </p:nvSpPr>
        <p:spPr>
          <a:xfrm>
            <a:off x="2221991" y="2139696"/>
            <a:ext cx="1554480" cy="1097280"/>
          </a:xfrm>
          <a:prstGeom prst="rect">
            <a:avLst/>
          </a:prstGeom>
          <a:noFill/>
        </p:spPr>
        <p:txBody>
          <a:bodyPr wrap="square">
            <a:spAutoFit/>
          </a:bodyPr>
          <a:lstStyle/>
          <a:p>
            <a:pPr algn="ctr"/>
            <a:r>
              <a:rPr sz="1100" b="0" i="0">
                <a:solidFill>
                  <a:srgbClr val="616161"/>
                </a:solidFill>
                <a:latin typeface="Calibri"/>
              </a:rPr>
              <a:t>Quality 85
reduce payload</a:t>
            </a:r>
          </a:p>
        </p:txBody>
      </p:sp>
      <p:sp>
        <p:nvSpPr>
          <p:cNvPr id="15" name="TextBox 14"/>
          <p:cNvSpPr txBox="1"/>
          <p:nvPr/>
        </p:nvSpPr>
        <p:spPr>
          <a:xfrm>
            <a:off x="3877055" y="2194560"/>
            <a:ext cx="137160" cy="457200"/>
          </a:xfrm>
          <a:prstGeom prst="rect">
            <a:avLst/>
          </a:prstGeom>
          <a:noFill/>
        </p:spPr>
        <p:txBody>
          <a:bodyPr wrap="square">
            <a:spAutoFit/>
          </a:bodyPr>
          <a:lstStyle/>
          <a:p>
            <a:pPr algn="ctr"/>
            <a:r>
              <a:rPr sz="2000" b="1" i="0">
                <a:solidFill>
                  <a:srgbClr val="FF6F00"/>
                </a:solidFill>
                <a:latin typeface="Calibri"/>
              </a:rPr>
              <a:t>-&gt;</a:t>
            </a:r>
          </a:p>
        </p:txBody>
      </p:sp>
      <p:sp>
        <p:nvSpPr>
          <p:cNvPr id="16" name="Rectangle 15"/>
          <p:cNvSpPr/>
          <p:nvPr/>
        </p:nvSpPr>
        <p:spPr>
          <a:xfrm>
            <a:off x="3986783" y="1371600"/>
            <a:ext cx="1737360" cy="2286000"/>
          </a:xfrm>
          <a:prstGeom prst="rect">
            <a:avLst/>
          </a:prstGeom>
          <a:solidFill>
            <a:srgbClr val="E8F5E9"/>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032503" y="1444752"/>
            <a:ext cx="1645919" cy="658368"/>
          </a:xfrm>
          <a:prstGeom prst="rect">
            <a:avLst/>
          </a:prstGeom>
          <a:noFill/>
        </p:spPr>
        <p:txBody>
          <a:bodyPr wrap="square">
            <a:spAutoFit/>
          </a:bodyPr>
          <a:lstStyle/>
          <a:p>
            <a:pPr algn="ctr"/>
            <a:r>
              <a:rPr sz="1400" b="1" i="0">
                <a:solidFill>
                  <a:srgbClr val="1B5E20"/>
                </a:solidFill>
                <a:latin typeface="Calibri"/>
              </a:rPr>
              <a:t>Base64
Encode</a:t>
            </a:r>
          </a:p>
        </p:txBody>
      </p:sp>
      <p:sp>
        <p:nvSpPr>
          <p:cNvPr id="18" name="TextBox 17"/>
          <p:cNvSpPr txBox="1"/>
          <p:nvPr/>
        </p:nvSpPr>
        <p:spPr>
          <a:xfrm>
            <a:off x="4078223" y="2139696"/>
            <a:ext cx="1554480" cy="1097280"/>
          </a:xfrm>
          <a:prstGeom prst="rect">
            <a:avLst/>
          </a:prstGeom>
          <a:noFill/>
        </p:spPr>
        <p:txBody>
          <a:bodyPr wrap="square">
            <a:spAutoFit/>
          </a:bodyPr>
          <a:lstStyle/>
          <a:p>
            <a:pPr algn="ctr"/>
            <a:r>
              <a:rPr sz="1100" b="0" i="0">
                <a:solidFill>
                  <a:srgbClr val="616161"/>
                </a:solidFill>
                <a:latin typeface="Calibri"/>
              </a:rPr>
              <a:t>For REST
payload</a:t>
            </a:r>
          </a:p>
        </p:txBody>
      </p:sp>
      <p:sp>
        <p:nvSpPr>
          <p:cNvPr id="19" name="TextBox 18"/>
          <p:cNvSpPr txBox="1"/>
          <p:nvPr/>
        </p:nvSpPr>
        <p:spPr>
          <a:xfrm>
            <a:off x="5733288" y="2194560"/>
            <a:ext cx="137160" cy="457200"/>
          </a:xfrm>
          <a:prstGeom prst="rect">
            <a:avLst/>
          </a:prstGeom>
          <a:noFill/>
        </p:spPr>
        <p:txBody>
          <a:bodyPr wrap="square">
            <a:spAutoFit/>
          </a:bodyPr>
          <a:lstStyle/>
          <a:p>
            <a:pPr algn="ctr"/>
            <a:r>
              <a:rPr sz="2000" b="1" i="0">
                <a:solidFill>
                  <a:srgbClr val="FF6F00"/>
                </a:solidFill>
                <a:latin typeface="Calibri"/>
              </a:rPr>
              <a:t>-&gt;</a:t>
            </a:r>
          </a:p>
        </p:txBody>
      </p:sp>
      <p:sp>
        <p:nvSpPr>
          <p:cNvPr id="20" name="Rectangle 19"/>
          <p:cNvSpPr/>
          <p:nvPr/>
        </p:nvSpPr>
        <p:spPr>
          <a:xfrm>
            <a:off x="5843016" y="1371600"/>
            <a:ext cx="1737360" cy="2286000"/>
          </a:xfrm>
          <a:prstGeom prst="rect">
            <a:avLst/>
          </a:prstGeom>
          <a:solidFill>
            <a:srgbClr val="FFF9C4"/>
          </a:solidFill>
          <a:ln w="12700">
            <a:solidFill>
              <a:srgbClr val="FF6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888736" y="1444752"/>
            <a:ext cx="1645919" cy="658368"/>
          </a:xfrm>
          <a:prstGeom prst="rect">
            <a:avLst/>
          </a:prstGeom>
          <a:noFill/>
        </p:spPr>
        <p:txBody>
          <a:bodyPr wrap="square">
            <a:spAutoFit/>
          </a:bodyPr>
          <a:lstStyle/>
          <a:p>
            <a:pPr algn="ctr"/>
            <a:r>
              <a:rPr sz="1400" b="1" i="0">
                <a:solidFill>
                  <a:srgbClr val="FF6F00"/>
                </a:solidFill>
                <a:latin typeface="Calibri"/>
              </a:rPr>
              <a:t>Gemini 1.5
Flash</a:t>
            </a:r>
          </a:p>
        </p:txBody>
      </p:sp>
      <p:sp>
        <p:nvSpPr>
          <p:cNvPr id="22" name="TextBox 21"/>
          <p:cNvSpPr txBox="1"/>
          <p:nvPr/>
        </p:nvSpPr>
        <p:spPr>
          <a:xfrm>
            <a:off x="5934455" y="2139696"/>
            <a:ext cx="1554480" cy="1097280"/>
          </a:xfrm>
          <a:prstGeom prst="rect">
            <a:avLst/>
          </a:prstGeom>
          <a:noFill/>
        </p:spPr>
        <p:txBody>
          <a:bodyPr wrap="square">
            <a:spAutoFit/>
          </a:bodyPr>
          <a:lstStyle/>
          <a:p>
            <a:pPr algn="ctr"/>
            <a:r>
              <a:rPr sz="1100" b="0" i="0">
                <a:solidFill>
                  <a:srgbClr val="616161"/>
                </a:solidFill>
                <a:latin typeface="Calibri"/>
              </a:rPr>
              <a:t>Cloud vision
with prompt</a:t>
            </a:r>
          </a:p>
        </p:txBody>
      </p:sp>
      <p:sp>
        <p:nvSpPr>
          <p:cNvPr id="23" name="TextBox 22"/>
          <p:cNvSpPr txBox="1"/>
          <p:nvPr/>
        </p:nvSpPr>
        <p:spPr>
          <a:xfrm>
            <a:off x="7589519" y="2194560"/>
            <a:ext cx="137160" cy="457200"/>
          </a:xfrm>
          <a:prstGeom prst="rect">
            <a:avLst/>
          </a:prstGeom>
          <a:noFill/>
        </p:spPr>
        <p:txBody>
          <a:bodyPr wrap="square">
            <a:spAutoFit/>
          </a:bodyPr>
          <a:lstStyle/>
          <a:p>
            <a:pPr algn="ctr"/>
            <a:r>
              <a:rPr sz="2000" b="1" i="0">
                <a:solidFill>
                  <a:srgbClr val="FF6F00"/>
                </a:solidFill>
                <a:latin typeface="Calibri"/>
              </a:rPr>
              <a:t>-&gt;</a:t>
            </a:r>
          </a:p>
        </p:txBody>
      </p:sp>
      <p:sp>
        <p:nvSpPr>
          <p:cNvPr id="24" name="Rectangle 23"/>
          <p:cNvSpPr/>
          <p:nvPr/>
        </p:nvSpPr>
        <p:spPr>
          <a:xfrm>
            <a:off x="7699248" y="1371600"/>
            <a:ext cx="1737360" cy="2286000"/>
          </a:xfrm>
          <a:prstGeom prst="rect">
            <a:avLst/>
          </a:prstGeom>
          <a:solidFill>
            <a:srgbClr val="E8F5E9"/>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44968" y="1444752"/>
            <a:ext cx="1645919" cy="658368"/>
          </a:xfrm>
          <a:prstGeom prst="rect">
            <a:avLst/>
          </a:prstGeom>
          <a:noFill/>
        </p:spPr>
        <p:txBody>
          <a:bodyPr wrap="square">
            <a:spAutoFit/>
          </a:bodyPr>
          <a:lstStyle/>
          <a:p>
            <a:pPr algn="ctr"/>
            <a:r>
              <a:rPr sz="1400" b="1" i="0">
                <a:solidFill>
                  <a:srgbClr val="1B5E20"/>
                </a:solidFill>
                <a:latin typeface="Calibri"/>
              </a:rPr>
              <a:t>Parse &amp;
Deduplicate</a:t>
            </a:r>
          </a:p>
        </p:txBody>
      </p:sp>
      <p:sp>
        <p:nvSpPr>
          <p:cNvPr id="26" name="TextBox 25"/>
          <p:cNvSpPr txBox="1"/>
          <p:nvPr/>
        </p:nvSpPr>
        <p:spPr>
          <a:xfrm>
            <a:off x="7790688" y="2139696"/>
            <a:ext cx="1554480" cy="1097280"/>
          </a:xfrm>
          <a:prstGeom prst="rect">
            <a:avLst/>
          </a:prstGeom>
          <a:noFill/>
        </p:spPr>
        <p:txBody>
          <a:bodyPr wrap="square">
            <a:spAutoFit/>
          </a:bodyPr>
          <a:lstStyle/>
          <a:p>
            <a:pPr algn="ctr"/>
            <a:r>
              <a:rPr sz="1100" b="0" i="0">
                <a:solidFill>
                  <a:srgbClr val="616161"/>
                </a:solidFill>
                <a:latin typeface="Calibri"/>
              </a:rPr>
              <a:t>Comma split
case-insensitive</a:t>
            </a:r>
          </a:p>
        </p:txBody>
      </p:sp>
      <p:sp>
        <p:nvSpPr>
          <p:cNvPr id="27" name="TextBox 26"/>
          <p:cNvSpPr txBox="1"/>
          <p:nvPr/>
        </p:nvSpPr>
        <p:spPr>
          <a:xfrm>
            <a:off x="9445752" y="2194560"/>
            <a:ext cx="137160" cy="457200"/>
          </a:xfrm>
          <a:prstGeom prst="rect">
            <a:avLst/>
          </a:prstGeom>
          <a:noFill/>
        </p:spPr>
        <p:txBody>
          <a:bodyPr wrap="square">
            <a:spAutoFit/>
          </a:bodyPr>
          <a:lstStyle/>
          <a:p>
            <a:pPr algn="ctr"/>
            <a:r>
              <a:rPr sz="2000" b="1" i="0">
                <a:solidFill>
                  <a:srgbClr val="FF6F00"/>
                </a:solidFill>
                <a:latin typeface="Calibri"/>
              </a:rPr>
              <a:t>-&gt;</a:t>
            </a:r>
          </a:p>
        </p:txBody>
      </p:sp>
      <p:sp>
        <p:nvSpPr>
          <p:cNvPr id="28" name="Rectangle 27"/>
          <p:cNvSpPr/>
          <p:nvPr/>
        </p:nvSpPr>
        <p:spPr>
          <a:xfrm>
            <a:off x="9555480" y="1371600"/>
            <a:ext cx="1737360" cy="2286000"/>
          </a:xfrm>
          <a:prstGeom prst="rect">
            <a:avLst/>
          </a:prstGeom>
          <a:solidFill>
            <a:srgbClr val="E8F5E9"/>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601200" y="1444752"/>
            <a:ext cx="1645919" cy="658368"/>
          </a:xfrm>
          <a:prstGeom prst="rect">
            <a:avLst/>
          </a:prstGeom>
          <a:noFill/>
        </p:spPr>
        <p:txBody>
          <a:bodyPr wrap="square">
            <a:spAutoFit/>
          </a:bodyPr>
          <a:lstStyle/>
          <a:p>
            <a:pPr algn="ctr"/>
            <a:r>
              <a:rPr sz="1400" b="1" i="0">
                <a:solidFill>
                  <a:srgbClr val="1B5E20"/>
                </a:solidFill>
                <a:latin typeface="Calibri"/>
              </a:rPr>
              <a:t>Ingredient
List</a:t>
            </a:r>
          </a:p>
        </p:txBody>
      </p:sp>
      <p:sp>
        <p:nvSpPr>
          <p:cNvPr id="30" name="TextBox 29"/>
          <p:cNvSpPr txBox="1"/>
          <p:nvPr/>
        </p:nvSpPr>
        <p:spPr>
          <a:xfrm>
            <a:off x="9646919" y="2139696"/>
            <a:ext cx="1554480" cy="1097280"/>
          </a:xfrm>
          <a:prstGeom prst="rect">
            <a:avLst/>
          </a:prstGeom>
          <a:noFill/>
        </p:spPr>
        <p:txBody>
          <a:bodyPr wrap="square">
            <a:spAutoFit/>
          </a:bodyPr>
          <a:lstStyle/>
          <a:p>
            <a:pPr algn="ctr"/>
            <a:r>
              <a:rPr sz="1100" b="0" i="0">
                <a:solidFill>
                  <a:srgbClr val="616161"/>
                </a:solidFill>
                <a:latin typeface="Calibri"/>
              </a:rPr>
              <a:t>Shown in
Verification screen</a:t>
            </a:r>
          </a:p>
        </p:txBody>
      </p:sp>
      <p:sp>
        <p:nvSpPr>
          <p:cNvPr id="31" name="Rectangle 30"/>
          <p:cNvSpPr/>
          <p:nvPr/>
        </p:nvSpPr>
        <p:spPr>
          <a:xfrm>
            <a:off x="365760" y="3840480"/>
            <a:ext cx="11430000" cy="1325880"/>
          </a:xfrm>
          <a:prstGeom prst="rect">
            <a:avLst/>
          </a:prstGeom>
          <a:solidFill>
            <a:srgbClr val="FFF9C4"/>
          </a:solidFill>
          <a:ln w="12700">
            <a:solidFill>
              <a:srgbClr val="FF6F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94360" y="3913632"/>
            <a:ext cx="3657600" cy="365760"/>
          </a:xfrm>
          <a:prstGeom prst="rect">
            <a:avLst/>
          </a:prstGeom>
          <a:noFill/>
        </p:spPr>
        <p:txBody>
          <a:bodyPr wrap="square">
            <a:spAutoFit/>
          </a:bodyPr>
          <a:lstStyle/>
          <a:p>
            <a:pPr algn="l"/>
            <a:r>
              <a:rPr sz="1300" b="1" i="0">
                <a:solidFill>
                  <a:srgbClr val="FF6F00"/>
                </a:solidFill>
                <a:latin typeface="Calibri"/>
              </a:rPr>
              <a:t>Prompt Engineering</a:t>
            </a:r>
          </a:p>
        </p:txBody>
      </p:sp>
      <p:sp>
        <p:nvSpPr>
          <p:cNvPr id="33" name="TextBox 32"/>
          <p:cNvSpPr txBox="1"/>
          <p:nvPr/>
        </p:nvSpPr>
        <p:spPr>
          <a:xfrm>
            <a:off x="594360" y="4261104"/>
            <a:ext cx="10972800" cy="868680"/>
          </a:xfrm>
          <a:prstGeom prst="rect">
            <a:avLst/>
          </a:prstGeom>
          <a:noFill/>
        </p:spPr>
        <p:txBody>
          <a:bodyPr wrap="square">
            <a:spAutoFit/>
          </a:bodyPr>
          <a:lstStyle/>
          <a:p>
            <a:pPr algn="l">
              <a:spcBef>
                <a:spcPts val="200"/>
              </a:spcBef>
            </a:pPr>
            <a:r>
              <a:rPr sz="1100" b="0">
                <a:solidFill>
                  <a:srgbClr val="212121"/>
                </a:solidFill>
                <a:latin typeface="Calibri"/>
              </a:rPr>
              <a:t>Prompt instructs Gemini to return a comma-separated list of SPECIFIC ingredient names only.</a:t>
            </a:r>
          </a:p>
          <a:p>
            <a:pPr algn="l">
              <a:spcBef>
                <a:spcPts val="200"/>
              </a:spcBef>
            </a:pPr>
            <a:r>
              <a:rPr sz="1100" b="0">
                <a:solidFill>
                  <a:srgbClr val="212121"/>
                </a:solidFill>
                <a:latin typeface="Calibri"/>
              </a:rPr>
              <a:t>Rules enforced: no generic terms ('vegetable', 'food', 'produce'), one word or short phrase per item.</a:t>
            </a:r>
          </a:p>
          <a:p>
            <a:pPr algn="l">
              <a:spcBef>
                <a:spcPts val="200"/>
              </a:spcBef>
            </a:pPr>
            <a:r>
              <a:rPr sz="1100" b="0">
                <a:solidFill>
                  <a:srgbClr val="212121"/>
                </a:solidFill>
                <a:latin typeface="Calibri"/>
              </a:rPr>
              <a:t>If no food is visible, respond with exactly: 'none' -- app returns empty list gracefully.</a:t>
            </a:r>
          </a:p>
          <a:p>
            <a:pPr algn="l">
              <a:spcBef>
                <a:spcPts val="200"/>
              </a:spcBef>
            </a:pPr>
            <a:r>
              <a:rPr sz="1100" b="0">
                <a:solidFill>
                  <a:srgbClr val="212121"/>
                </a:solidFill>
                <a:latin typeface="Calibri"/>
              </a:rPr>
              <a:t>Multiple images: each analysed separately, results merged and deduplicated by lowercase name.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91440"/>
            <a:ext cx="10972800" cy="658368"/>
          </a:xfrm>
          <a:prstGeom prst="rect">
            <a:avLst/>
          </a:prstGeom>
          <a:noFill/>
        </p:spPr>
        <p:txBody>
          <a:bodyPr wrap="square">
            <a:spAutoFit/>
          </a:bodyPr>
          <a:lstStyle/>
          <a:p>
            <a:pPr algn="l"/>
            <a:r>
              <a:rPr sz="3000" b="1" i="0">
                <a:solidFill>
                  <a:srgbClr val="FFFFFF"/>
                </a:solidFill>
                <a:latin typeface="Calibri"/>
              </a:rPr>
              <a:t>Feature 2 -- Recipe Search &amp; Results</a:t>
            </a:r>
          </a:p>
        </p:txBody>
      </p:sp>
      <p:sp>
        <p:nvSpPr>
          <p:cNvPr id="4" name="TextBox 3"/>
          <p:cNvSpPr txBox="1"/>
          <p:nvPr/>
        </p:nvSpPr>
        <p:spPr>
          <a:xfrm>
            <a:off x="365760" y="713232"/>
            <a:ext cx="10972800" cy="329184"/>
          </a:xfrm>
          <a:prstGeom prst="rect">
            <a:avLst/>
          </a:prstGeom>
          <a:noFill/>
        </p:spPr>
        <p:txBody>
          <a:bodyPr wrap="square">
            <a:spAutoFit/>
          </a:bodyPr>
          <a:lstStyle/>
          <a:p>
            <a:pPr algn="l"/>
            <a:r>
              <a:rPr sz="1300" b="0" i="0">
                <a:solidFill>
                  <a:srgbClr val="66BB6A"/>
                </a:solidFill>
                <a:latin typeface="Calibri"/>
              </a:rPr>
              <a:t>Spoonacular API + Ingredient Matching + YouTube Integration</a:t>
            </a:r>
          </a:p>
        </p:txBody>
      </p:sp>
      <p:sp>
        <p:nvSpPr>
          <p:cNvPr id="5" name="Rectangle 4"/>
          <p:cNvSpPr/>
          <p:nvPr/>
        </p:nvSpPr>
        <p:spPr>
          <a:xfrm>
            <a:off x="0" y="1097280"/>
            <a:ext cx="12188952" cy="54864"/>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537960"/>
            <a:ext cx="12188952" cy="32004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556248"/>
            <a:ext cx="11430000" cy="256032"/>
          </a:xfrm>
          <a:prstGeom prst="rect">
            <a:avLst/>
          </a:prstGeom>
          <a:noFill/>
        </p:spPr>
        <p:txBody>
          <a:bodyPr wrap="square">
            <a:spAutoFit/>
          </a:bodyPr>
          <a:lstStyle/>
          <a:p>
            <a:pPr algn="l"/>
            <a:r>
              <a:rPr sz="1000" b="0" i="0">
                <a:solidFill>
                  <a:srgbClr val="66BB6A"/>
                </a:solidFill>
                <a:latin typeface="Calibri"/>
              </a:rPr>
              <a:t>Snap &amp; Cook  |  CSD3156 Mobile and Cloud Computing  |  SIT</a:t>
            </a:r>
          </a:p>
        </p:txBody>
      </p:sp>
      <p:sp>
        <p:nvSpPr>
          <p:cNvPr id="8" name="TextBox 7"/>
          <p:cNvSpPr txBox="1"/>
          <p:nvPr/>
        </p:nvSpPr>
        <p:spPr>
          <a:xfrm>
            <a:off x="365760" y="1261872"/>
            <a:ext cx="5577840" cy="384048"/>
          </a:xfrm>
          <a:prstGeom prst="rect">
            <a:avLst/>
          </a:prstGeom>
          <a:noFill/>
        </p:spPr>
        <p:txBody>
          <a:bodyPr wrap="square">
            <a:spAutoFit/>
          </a:bodyPr>
          <a:lstStyle/>
          <a:p>
            <a:pPr algn="l"/>
            <a:r>
              <a:rPr sz="1500" b="1" i="0">
                <a:solidFill>
                  <a:srgbClr val="1B5E20"/>
                </a:solidFill>
                <a:latin typeface="Calibri"/>
              </a:rPr>
              <a:t>Recipe Search Flow</a:t>
            </a:r>
          </a:p>
        </p:txBody>
      </p:sp>
      <p:sp>
        <p:nvSpPr>
          <p:cNvPr id="9" name="TextBox 8"/>
          <p:cNvSpPr txBox="1"/>
          <p:nvPr/>
        </p:nvSpPr>
        <p:spPr>
          <a:xfrm>
            <a:off x="457200" y="1719072"/>
            <a:ext cx="5486400" cy="365760"/>
          </a:xfrm>
          <a:prstGeom prst="rect">
            <a:avLst/>
          </a:prstGeom>
          <a:noFill/>
        </p:spPr>
        <p:txBody>
          <a:bodyPr wrap="square">
            <a:spAutoFit/>
          </a:bodyPr>
          <a:lstStyle/>
          <a:p>
            <a:pPr algn="l"/>
            <a:r>
              <a:rPr sz="1200" b="0" i="0">
                <a:solidFill>
                  <a:srgbClr val="212121"/>
                </a:solidFill>
                <a:latin typeface="Calibri"/>
              </a:rPr>
              <a:t>1.  Ingredient list sent to Spoonacular /findByIngredients</a:t>
            </a:r>
          </a:p>
        </p:txBody>
      </p:sp>
      <p:sp>
        <p:nvSpPr>
          <p:cNvPr id="10" name="TextBox 9"/>
          <p:cNvSpPr txBox="1"/>
          <p:nvPr/>
        </p:nvSpPr>
        <p:spPr>
          <a:xfrm>
            <a:off x="457200" y="2103120"/>
            <a:ext cx="5486400" cy="365760"/>
          </a:xfrm>
          <a:prstGeom prst="rect">
            <a:avLst/>
          </a:prstGeom>
          <a:noFill/>
        </p:spPr>
        <p:txBody>
          <a:bodyPr wrap="square">
            <a:spAutoFit/>
          </a:bodyPr>
          <a:lstStyle/>
          <a:p>
            <a:pPr algn="l"/>
            <a:r>
              <a:rPr sz="1200" b="0" i="0">
                <a:solidFill>
                  <a:srgbClr val="212121"/>
                </a:solidFill>
                <a:latin typeface="Calibri"/>
              </a:rPr>
              <a:t>2.  Ranked by ingredient coverage, capped at 15 ingredients, returns 6 results</a:t>
            </a:r>
          </a:p>
        </p:txBody>
      </p:sp>
      <p:sp>
        <p:nvSpPr>
          <p:cNvPr id="11" name="TextBox 10"/>
          <p:cNvSpPr txBox="1"/>
          <p:nvPr/>
        </p:nvSpPr>
        <p:spPr>
          <a:xfrm>
            <a:off x="457200" y="2487168"/>
            <a:ext cx="5486400" cy="365760"/>
          </a:xfrm>
          <a:prstGeom prst="rect">
            <a:avLst/>
          </a:prstGeom>
          <a:noFill/>
        </p:spPr>
        <p:txBody>
          <a:bodyPr wrap="square">
            <a:spAutoFit/>
          </a:bodyPr>
          <a:lstStyle/>
          <a:p>
            <a:pPr algn="l"/>
            <a:r>
              <a:rPr sz="1200" b="0" i="0">
                <a:solidFill>
                  <a:srgbClr val="212121"/>
                </a:solidFill>
                <a:latin typeface="Calibri"/>
              </a:rPr>
              <a:t>3.  User taps recipe -&gt; full details fetched (/recipes/{id}/information)</a:t>
            </a:r>
          </a:p>
        </p:txBody>
      </p:sp>
      <p:sp>
        <p:nvSpPr>
          <p:cNvPr id="12" name="TextBox 11"/>
          <p:cNvSpPr txBox="1"/>
          <p:nvPr/>
        </p:nvSpPr>
        <p:spPr>
          <a:xfrm>
            <a:off x="457200" y="2871215"/>
            <a:ext cx="5486400" cy="365760"/>
          </a:xfrm>
          <a:prstGeom prst="rect">
            <a:avLst/>
          </a:prstGeom>
          <a:noFill/>
        </p:spPr>
        <p:txBody>
          <a:bodyPr wrap="square">
            <a:spAutoFit/>
          </a:bodyPr>
          <a:lstStyle/>
          <a:p>
            <a:pPr algn="l"/>
            <a:r>
              <a:rPr sz="1200" b="0" i="0">
                <a:solidFill>
                  <a:srgbClr val="212121"/>
                </a:solidFill>
                <a:latin typeface="Calibri"/>
              </a:rPr>
              <a:t>4.  Nutrition data shown: calories, servings, cooking time</a:t>
            </a:r>
          </a:p>
        </p:txBody>
      </p:sp>
      <p:sp>
        <p:nvSpPr>
          <p:cNvPr id="13" name="TextBox 12"/>
          <p:cNvSpPr txBox="1"/>
          <p:nvPr/>
        </p:nvSpPr>
        <p:spPr>
          <a:xfrm>
            <a:off x="457200" y="3255263"/>
            <a:ext cx="5486400" cy="365760"/>
          </a:xfrm>
          <a:prstGeom prst="rect">
            <a:avLst/>
          </a:prstGeom>
          <a:noFill/>
        </p:spPr>
        <p:txBody>
          <a:bodyPr wrap="square">
            <a:spAutoFit/>
          </a:bodyPr>
          <a:lstStyle/>
          <a:p>
            <a:pPr algn="l"/>
            <a:r>
              <a:rPr sz="1200" b="0" i="0">
                <a:solidFill>
                  <a:srgbClr val="212121"/>
                </a:solidFill>
                <a:latin typeface="Calibri"/>
              </a:rPr>
              <a:t>5.  Ingredients highlighted: green checkmark for owned, bullet for missing</a:t>
            </a:r>
          </a:p>
        </p:txBody>
      </p:sp>
      <p:sp>
        <p:nvSpPr>
          <p:cNvPr id="14" name="TextBox 13"/>
          <p:cNvSpPr txBox="1"/>
          <p:nvPr/>
        </p:nvSpPr>
        <p:spPr>
          <a:xfrm>
            <a:off x="457200" y="3639311"/>
            <a:ext cx="5486400" cy="365760"/>
          </a:xfrm>
          <a:prstGeom prst="rect">
            <a:avLst/>
          </a:prstGeom>
          <a:noFill/>
        </p:spPr>
        <p:txBody>
          <a:bodyPr wrap="square">
            <a:spAutoFit/>
          </a:bodyPr>
          <a:lstStyle/>
          <a:p>
            <a:pPr algn="l"/>
            <a:r>
              <a:rPr sz="1200" b="0" i="0">
                <a:solidFill>
                  <a:srgbClr val="212121"/>
                </a:solidFill>
                <a:latin typeface="Calibri"/>
              </a:rPr>
              <a:t>6.  YouTube tutorial fetched and shown as tappable thumbnail</a:t>
            </a:r>
          </a:p>
        </p:txBody>
      </p:sp>
      <p:sp>
        <p:nvSpPr>
          <p:cNvPr id="15" name="TextBox 14"/>
          <p:cNvSpPr txBox="1"/>
          <p:nvPr/>
        </p:nvSpPr>
        <p:spPr>
          <a:xfrm>
            <a:off x="457200" y="4023359"/>
            <a:ext cx="5486400" cy="365760"/>
          </a:xfrm>
          <a:prstGeom prst="rect">
            <a:avLst/>
          </a:prstGeom>
          <a:noFill/>
        </p:spPr>
        <p:txBody>
          <a:bodyPr wrap="square">
            <a:spAutoFit/>
          </a:bodyPr>
          <a:lstStyle/>
          <a:p>
            <a:pPr algn="l"/>
            <a:r>
              <a:rPr sz="1200" b="0" i="0">
                <a:solidFill>
                  <a:srgbClr val="212121"/>
                </a:solidFill>
                <a:latin typeface="Calibri"/>
              </a:rPr>
              <a:t>7.  Tap recipe hero image for fullscreen view</a:t>
            </a:r>
          </a:p>
        </p:txBody>
      </p:sp>
      <p:sp>
        <p:nvSpPr>
          <p:cNvPr id="16" name="TextBox 15"/>
          <p:cNvSpPr txBox="1"/>
          <p:nvPr/>
        </p:nvSpPr>
        <p:spPr>
          <a:xfrm>
            <a:off x="457200" y="4407407"/>
            <a:ext cx="5486400" cy="365760"/>
          </a:xfrm>
          <a:prstGeom prst="rect">
            <a:avLst/>
          </a:prstGeom>
          <a:noFill/>
        </p:spPr>
        <p:txBody>
          <a:bodyPr wrap="square">
            <a:spAutoFit/>
          </a:bodyPr>
          <a:lstStyle/>
          <a:p>
            <a:pPr algn="l"/>
            <a:r>
              <a:rPr sz="1200" b="0" i="0">
                <a:solidFill>
                  <a:srgbClr val="212121"/>
                </a:solidFill>
                <a:latin typeface="Calibri"/>
              </a:rPr>
              <a:t>8.  Save recipe to Room database for offline access</a:t>
            </a:r>
          </a:p>
        </p:txBody>
      </p:sp>
      <p:sp>
        <p:nvSpPr>
          <p:cNvPr id="17" name="Rectangle 16"/>
          <p:cNvSpPr/>
          <p:nvPr/>
        </p:nvSpPr>
        <p:spPr>
          <a:xfrm>
            <a:off x="365760" y="4864608"/>
            <a:ext cx="5577840" cy="1325880"/>
          </a:xfrm>
          <a:prstGeom prst="rect">
            <a:avLst/>
          </a:prstGeom>
          <a:solidFill>
            <a:srgbClr val="E8F5E9"/>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94360" y="4937760"/>
            <a:ext cx="5120640" cy="347472"/>
          </a:xfrm>
          <a:prstGeom prst="rect">
            <a:avLst/>
          </a:prstGeom>
          <a:noFill/>
        </p:spPr>
        <p:txBody>
          <a:bodyPr wrap="square">
            <a:spAutoFit/>
          </a:bodyPr>
          <a:lstStyle/>
          <a:p>
            <a:pPr algn="l"/>
            <a:r>
              <a:rPr sz="1300" b="1" i="0">
                <a:solidFill>
                  <a:srgbClr val="1B5E20"/>
                </a:solidFill>
                <a:latin typeface="Calibri"/>
              </a:rPr>
              <a:t>Barcode Scanning Flow</a:t>
            </a:r>
          </a:p>
        </p:txBody>
      </p:sp>
      <p:sp>
        <p:nvSpPr>
          <p:cNvPr id="19" name="TextBox 18"/>
          <p:cNvSpPr txBox="1"/>
          <p:nvPr/>
        </p:nvSpPr>
        <p:spPr>
          <a:xfrm>
            <a:off x="594360" y="5285232"/>
            <a:ext cx="5120640" cy="822960"/>
          </a:xfrm>
          <a:prstGeom prst="rect">
            <a:avLst/>
          </a:prstGeom>
          <a:noFill/>
        </p:spPr>
        <p:txBody>
          <a:bodyPr wrap="square">
            <a:spAutoFit/>
          </a:bodyPr>
          <a:lstStyle/>
          <a:p>
            <a:pPr algn="l"/>
            <a:r>
              <a:rPr sz="1100" b="0" i="0">
                <a:solidFill>
                  <a:srgbClr val="212121"/>
                </a:solidFill>
                <a:latin typeface="Calibri"/>
              </a:rPr>
              <a:t>ML Kit (GmsBarcodeScanning) scans via camera bottom-sheet UI -&gt; raw barcode value sent to Open Food Facts API -&gt; product name extracted -&gt; added as ingredient. Toast confirms success or failure.</a:t>
            </a:r>
          </a:p>
        </p:txBody>
      </p:sp>
      <p:sp>
        <p:nvSpPr>
          <p:cNvPr id="20" name="TextBox 19"/>
          <p:cNvSpPr txBox="1"/>
          <p:nvPr/>
        </p:nvSpPr>
        <p:spPr>
          <a:xfrm>
            <a:off x="6400800" y="1261872"/>
            <a:ext cx="5394960" cy="384048"/>
          </a:xfrm>
          <a:prstGeom prst="rect">
            <a:avLst/>
          </a:prstGeom>
          <a:noFill/>
        </p:spPr>
        <p:txBody>
          <a:bodyPr wrap="square">
            <a:spAutoFit/>
          </a:bodyPr>
          <a:lstStyle/>
          <a:p>
            <a:pPr algn="l"/>
            <a:r>
              <a:rPr sz="1500" b="1" i="0">
                <a:solidFill>
                  <a:srgbClr val="1B5E20"/>
                </a:solidFill>
                <a:latin typeface="Calibri"/>
              </a:rPr>
              <a:t>API Key Rotation</a:t>
            </a:r>
          </a:p>
        </p:txBody>
      </p:sp>
      <p:sp>
        <p:nvSpPr>
          <p:cNvPr id="21" name="Rectangle 20"/>
          <p:cNvSpPr/>
          <p:nvPr/>
        </p:nvSpPr>
        <p:spPr>
          <a:xfrm>
            <a:off x="6400800" y="1691640"/>
            <a:ext cx="5394960" cy="4572000"/>
          </a:xfrm>
          <a:prstGeom prst="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583680" y="1783080"/>
            <a:ext cx="5029200" cy="4297680"/>
          </a:xfrm>
          <a:prstGeom prst="rect">
            <a:avLst/>
          </a:prstGeom>
          <a:noFill/>
        </p:spPr>
        <p:txBody>
          <a:bodyPr wrap="square">
            <a:spAutoFit/>
          </a:bodyPr>
          <a:lstStyle/>
          <a:p>
            <a:pPr algn="l">
              <a:spcBef>
                <a:spcPts val="300"/>
              </a:spcBef>
            </a:pPr>
            <a:r>
              <a:rPr sz="1300" b="1">
                <a:solidFill>
                  <a:srgbClr val="1B5E20"/>
                </a:solidFill>
                <a:latin typeface="Calibri"/>
              </a:rPr>
              <a:t>SpoonacularKeyManager (object)</a:t>
            </a:r>
          </a:p>
          <a:p>
            <a:pPr algn="l">
              <a:spcBef>
                <a:spcPts val="300"/>
              </a:spcBef>
            </a:pPr>
            <a:r>
              <a:rPr sz="1100" b="0">
                <a:solidFill>
                  <a:srgbClr val="212121"/>
                </a:solidFill>
                <a:latin typeface="Calibri"/>
              </a:rPr>
              <a:t>  Keys read from local.properties at build time</a:t>
            </a:r>
          </a:p>
          <a:p>
            <a:pPr algn="l">
              <a:spcBef>
                <a:spcPts val="300"/>
              </a:spcBef>
            </a:pPr>
            <a:r>
              <a:rPr sz="1100" b="0">
                <a:solidFill>
                  <a:srgbClr val="212121"/>
                </a:solidFill>
                <a:latin typeface="Calibri"/>
              </a:rPr>
              <a:t>  Stored as pipe-delimited BuildConfig field</a:t>
            </a:r>
          </a:p>
          <a:p>
            <a:pPr algn="l">
              <a:spcBef>
                <a:spcPts val="300"/>
              </a:spcBef>
            </a:pPr>
            <a:r>
              <a:rPr sz="1100" b="0">
                <a:solidFill>
                  <a:srgbClr val="212121"/>
                </a:solidFill>
                <a:latin typeface="Calibri"/>
              </a:rPr>
              <a:t>  Thread-safe exhausted set (synchronizedSet)</a:t>
            </a:r>
          </a:p>
          <a:p>
            <a:pPr algn="l">
              <a:spcBef>
                <a:spcPts val="300"/>
              </a:spcBef>
            </a:pPr>
            <a:endParaRPr sz="1100" b="0">
              <a:solidFill>
                <a:srgbClr val="212121"/>
              </a:solidFill>
              <a:latin typeface="Calibri"/>
            </a:endParaRPr>
          </a:p>
          <a:p>
            <a:pPr algn="l">
              <a:spcBef>
                <a:spcPts val="300"/>
              </a:spcBef>
            </a:pPr>
            <a:r>
              <a:rPr sz="1300" b="1">
                <a:solidFill>
                  <a:srgbClr val="1B5E20"/>
                </a:solidFill>
                <a:latin typeface="Calibri"/>
              </a:rPr>
              <a:t>RecipeRepository.withKeyRotation()</a:t>
            </a:r>
          </a:p>
          <a:p>
            <a:pPr algn="l">
              <a:spcBef>
                <a:spcPts val="300"/>
              </a:spcBef>
            </a:pPr>
            <a:r>
              <a:rPr sz="1100" b="0">
                <a:solidFill>
                  <a:srgbClr val="212121"/>
                </a:solidFill>
                <a:latin typeface="Calibri"/>
              </a:rPr>
              <a:t>  Wraps every Spoonacular API call</a:t>
            </a:r>
          </a:p>
          <a:p>
            <a:pPr algn="l">
              <a:spcBef>
                <a:spcPts val="300"/>
              </a:spcBef>
            </a:pPr>
            <a:r>
              <a:rPr sz="1100" b="0">
                <a:solidFill>
                  <a:srgbClr val="212121"/>
                </a:solidFill>
                <a:latin typeface="Calibri"/>
              </a:rPr>
              <a:t>  Catches HTTP 402 (quota exhausted)</a:t>
            </a:r>
          </a:p>
          <a:p>
            <a:pPr algn="l">
              <a:spcBef>
                <a:spcPts val="300"/>
              </a:spcBef>
            </a:pPr>
            <a:r>
              <a:rPr sz="1100" b="0">
                <a:solidFill>
                  <a:srgbClr val="212121"/>
                </a:solidFill>
                <a:latin typeface="Calibri"/>
              </a:rPr>
              <a:t>  Marks key as exhausted, retries with next key</a:t>
            </a:r>
          </a:p>
          <a:p>
            <a:pPr algn="l">
              <a:spcBef>
                <a:spcPts val="300"/>
              </a:spcBef>
            </a:pPr>
            <a:r>
              <a:rPr sz="1100" b="0">
                <a:solidFill>
                  <a:srgbClr val="212121"/>
                </a:solidFill>
                <a:latin typeface="Calibri"/>
              </a:rPr>
              <a:t>  Zero user-visible interruption</a:t>
            </a:r>
          </a:p>
          <a:p>
            <a:pPr algn="l">
              <a:spcBef>
                <a:spcPts val="300"/>
              </a:spcBef>
            </a:pPr>
            <a:r>
              <a:rPr sz="1100" b="0">
                <a:solidFill>
                  <a:srgbClr val="212121"/>
                </a:solidFill>
                <a:latin typeface="Calibri"/>
              </a:rPr>
              <a:t>  Throws descriptive error only when ALL keys exhausted</a:t>
            </a:r>
          </a:p>
          <a:p>
            <a:pPr algn="l">
              <a:spcBef>
                <a:spcPts val="300"/>
              </a:spcBef>
            </a:pPr>
            <a:endParaRPr sz="1100" b="0">
              <a:solidFill>
                <a:srgbClr val="212121"/>
              </a:solidFill>
              <a:latin typeface="Calibri"/>
            </a:endParaRPr>
          </a:p>
          <a:p>
            <a:pPr algn="l">
              <a:spcBef>
                <a:spcPts val="300"/>
              </a:spcBef>
            </a:pPr>
            <a:r>
              <a:rPr sz="1200" b="1">
                <a:solidFill>
                  <a:srgbClr val="FF6F00"/>
                </a:solidFill>
                <a:latin typeface="Calibri"/>
              </a:rPr>
              <a:t>Add more keys: just number them in local.properties.</a:t>
            </a:r>
          </a:p>
          <a:p>
            <a:pPr algn="l">
              <a:spcBef>
                <a:spcPts val="300"/>
              </a:spcBef>
            </a:pPr>
            <a:r>
              <a:rPr sz="1200" b="1">
                <a:solidFill>
                  <a:srgbClr val="FF6F00"/>
                </a:solidFill>
                <a:latin typeface="Calibri"/>
              </a:rPr>
              <a:t>No code changes required.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91440"/>
            <a:ext cx="10972800" cy="658368"/>
          </a:xfrm>
          <a:prstGeom prst="rect">
            <a:avLst/>
          </a:prstGeom>
          <a:noFill/>
        </p:spPr>
        <p:txBody>
          <a:bodyPr wrap="square">
            <a:spAutoFit/>
          </a:bodyPr>
          <a:lstStyle/>
          <a:p>
            <a:pPr algn="l"/>
            <a:r>
              <a:rPr sz="3000" b="1" i="0">
                <a:solidFill>
                  <a:srgbClr val="FFFFFF"/>
                </a:solidFill>
                <a:latin typeface="Calibri"/>
              </a:rPr>
              <a:t>Feature 3 -- Hands-Free Cooking Mode</a:t>
            </a:r>
          </a:p>
        </p:txBody>
      </p:sp>
      <p:sp>
        <p:nvSpPr>
          <p:cNvPr id="4" name="TextBox 3"/>
          <p:cNvSpPr txBox="1"/>
          <p:nvPr/>
        </p:nvSpPr>
        <p:spPr>
          <a:xfrm>
            <a:off x="365760" y="713232"/>
            <a:ext cx="10972800" cy="329184"/>
          </a:xfrm>
          <a:prstGeom prst="rect">
            <a:avLst/>
          </a:prstGeom>
          <a:noFill/>
        </p:spPr>
        <p:txBody>
          <a:bodyPr wrap="square">
            <a:spAutoFit/>
          </a:bodyPr>
          <a:lstStyle/>
          <a:p>
            <a:pPr algn="l"/>
            <a:r>
              <a:rPr sz="1300" b="0" i="0">
                <a:solidFill>
                  <a:srgbClr val="66BB6A"/>
                </a:solidFill>
                <a:latin typeface="Calibri"/>
              </a:rPr>
              <a:t>Text-to-Speech + Voice Commands + Screen-On Management</a:t>
            </a:r>
          </a:p>
        </p:txBody>
      </p:sp>
      <p:sp>
        <p:nvSpPr>
          <p:cNvPr id="5" name="Rectangle 4"/>
          <p:cNvSpPr/>
          <p:nvPr/>
        </p:nvSpPr>
        <p:spPr>
          <a:xfrm>
            <a:off x="0" y="1097280"/>
            <a:ext cx="12188952" cy="54864"/>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537960"/>
            <a:ext cx="12188952" cy="32004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556248"/>
            <a:ext cx="11430000" cy="256032"/>
          </a:xfrm>
          <a:prstGeom prst="rect">
            <a:avLst/>
          </a:prstGeom>
          <a:noFill/>
        </p:spPr>
        <p:txBody>
          <a:bodyPr wrap="square">
            <a:spAutoFit/>
          </a:bodyPr>
          <a:lstStyle/>
          <a:p>
            <a:pPr algn="l"/>
            <a:r>
              <a:rPr sz="1000" b="0" i="0">
                <a:solidFill>
                  <a:srgbClr val="66BB6A"/>
                </a:solidFill>
                <a:latin typeface="Calibri"/>
              </a:rPr>
              <a:t>Snap &amp; Cook  |  CSD3156 Mobile and Cloud Computing  |  SIT</a:t>
            </a:r>
          </a:p>
        </p:txBody>
      </p:sp>
      <p:sp>
        <p:nvSpPr>
          <p:cNvPr id="8" name="Rectangle 7"/>
          <p:cNvSpPr/>
          <p:nvPr/>
        </p:nvSpPr>
        <p:spPr>
          <a:xfrm>
            <a:off x="320040" y="1280160"/>
            <a:ext cx="3520440" cy="5029200"/>
          </a:xfrm>
          <a:prstGeom prst="rect">
            <a:avLst/>
          </a:prstGeom>
          <a:solidFill>
            <a:srgbClr val="E8F5E9"/>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11479" y="1371600"/>
            <a:ext cx="3383280" cy="457200"/>
          </a:xfrm>
          <a:prstGeom prst="rect">
            <a:avLst/>
          </a:prstGeom>
          <a:noFill/>
        </p:spPr>
        <p:txBody>
          <a:bodyPr wrap="square">
            <a:spAutoFit/>
          </a:bodyPr>
          <a:lstStyle/>
          <a:p>
            <a:pPr algn="ctr"/>
            <a:r>
              <a:rPr sz="1500" b="1" i="0">
                <a:solidFill>
                  <a:srgbClr val="1B5E20"/>
                </a:solidFill>
                <a:latin typeface="Calibri"/>
              </a:rPr>
              <a:t>TTS Narration</a:t>
            </a:r>
          </a:p>
        </p:txBody>
      </p:sp>
      <p:sp>
        <p:nvSpPr>
          <p:cNvPr id="10" name="Rectangle 9"/>
          <p:cNvSpPr/>
          <p:nvPr/>
        </p:nvSpPr>
        <p:spPr>
          <a:xfrm>
            <a:off x="548640" y="1874519"/>
            <a:ext cx="3063240" cy="36576"/>
          </a:xfrm>
          <a:prstGeom prst="rect">
            <a:avLst/>
          </a:prstGeom>
          <a:solidFill>
            <a:srgbClr val="66BB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84632" y="1993391"/>
            <a:ext cx="3246120" cy="685800"/>
          </a:xfrm>
          <a:prstGeom prst="rect">
            <a:avLst/>
          </a:prstGeom>
          <a:noFill/>
        </p:spPr>
        <p:txBody>
          <a:bodyPr wrap="square">
            <a:spAutoFit/>
          </a:bodyPr>
          <a:lstStyle/>
          <a:p>
            <a:pPr algn="l"/>
            <a:r>
              <a:rPr sz="1100" b="0" i="0">
                <a:solidFill>
                  <a:srgbClr val="212121"/>
                </a:solidFill>
                <a:latin typeface="Calibri"/>
              </a:rPr>
              <a:t>- Android TextToSpeech reads each step aloud automatically</a:t>
            </a:r>
          </a:p>
        </p:txBody>
      </p:sp>
      <p:sp>
        <p:nvSpPr>
          <p:cNvPr id="12" name="TextBox 11"/>
          <p:cNvSpPr txBox="1"/>
          <p:nvPr/>
        </p:nvSpPr>
        <p:spPr>
          <a:xfrm>
            <a:off x="484632" y="2679191"/>
            <a:ext cx="3246120" cy="685800"/>
          </a:xfrm>
          <a:prstGeom prst="rect">
            <a:avLst/>
          </a:prstGeom>
          <a:noFill/>
        </p:spPr>
        <p:txBody>
          <a:bodyPr wrap="square">
            <a:spAutoFit/>
          </a:bodyPr>
          <a:lstStyle/>
          <a:p>
            <a:pPr algn="l"/>
            <a:r>
              <a:rPr sz="1100" b="0" i="0">
                <a:solidFill>
                  <a:srgbClr val="212121"/>
                </a:solidFill>
                <a:latin typeface="Calibri"/>
              </a:rPr>
              <a:t>- UtteranceProgressListener auto-starts microphone after speech ends</a:t>
            </a:r>
          </a:p>
        </p:txBody>
      </p:sp>
      <p:sp>
        <p:nvSpPr>
          <p:cNvPr id="13" name="TextBox 12"/>
          <p:cNvSpPr txBox="1"/>
          <p:nvPr/>
        </p:nvSpPr>
        <p:spPr>
          <a:xfrm>
            <a:off x="484632" y="3364991"/>
            <a:ext cx="3246120" cy="685800"/>
          </a:xfrm>
          <a:prstGeom prst="rect">
            <a:avLst/>
          </a:prstGeom>
          <a:noFill/>
        </p:spPr>
        <p:txBody>
          <a:bodyPr wrap="square">
            <a:spAutoFit/>
          </a:bodyPr>
          <a:lstStyle/>
          <a:p>
            <a:pPr algn="l"/>
            <a:r>
              <a:rPr sz="1100" b="0" i="0">
                <a:solidFill>
                  <a:srgbClr val="212121"/>
                </a:solidFill>
                <a:latin typeface="Calibri"/>
              </a:rPr>
              <a:t>- TTS and voice recognition can run concurrently</a:t>
            </a:r>
          </a:p>
        </p:txBody>
      </p:sp>
      <p:sp>
        <p:nvSpPr>
          <p:cNvPr id="14" name="TextBox 13"/>
          <p:cNvSpPr txBox="1"/>
          <p:nvPr/>
        </p:nvSpPr>
        <p:spPr>
          <a:xfrm>
            <a:off x="484632" y="4050791"/>
            <a:ext cx="3246120" cy="685800"/>
          </a:xfrm>
          <a:prstGeom prst="rect">
            <a:avLst/>
          </a:prstGeom>
          <a:noFill/>
        </p:spPr>
        <p:txBody>
          <a:bodyPr wrap="square">
            <a:spAutoFit/>
          </a:bodyPr>
          <a:lstStyle/>
          <a:p>
            <a:pPr algn="l"/>
            <a:r>
              <a:rPr sz="1100" b="0" i="0">
                <a:solidFill>
                  <a:srgbClr val="212121"/>
                </a:solidFill>
                <a:latin typeface="Calibri"/>
              </a:rPr>
              <a:t>- Toggle button to enable / disable narration</a:t>
            </a:r>
          </a:p>
        </p:txBody>
      </p:sp>
      <p:sp>
        <p:nvSpPr>
          <p:cNvPr id="15" name="TextBox 14"/>
          <p:cNvSpPr txBox="1"/>
          <p:nvPr/>
        </p:nvSpPr>
        <p:spPr>
          <a:xfrm>
            <a:off x="484632" y="4736592"/>
            <a:ext cx="3246120" cy="685800"/>
          </a:xfrm>
          <a:prstGeom prst="rect">
            <a:avLst/>
          </a:prstGeom>
          <a:noFill/>
        </p:spPr>
        <p:txBody>
          <a:bodyPr wrap="square">
            <a:spAutoFit/>
          </a:bodyPr>
          <a:lstStyle/>
          <a:p>
            <a:pPr algn="l"/>
            <a:r>
              <a:rPr sz="1100" b="0" i="0">
                <a:solidFill>
                  <a:srgbClr val="212121"/>
                </a:solidFill>
                <a:latin typeface="Calibri"/>
              </a:rPr>
              <a:t>- Congratulations message spoken on recipe completion</a:t>
            </a:r>
          </a:p>
        </p:txBody>
      </p:sp>
      <p:sp>
        <p:nvSpPr>
          <p:cNvPr id="16" name="Rectangle 15"/>
          <p:cNvSpPr/>
          <p:nvPr/>
        </p:nvSpPr>
        <p:spPr>
          <a:xfrm>
            <a:off x="4114800" y="1280160"/>
            <a:ext cx="3520440" cy="5029200"/>
          </a:xfrm>
          <a:prstGeom prst="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206240" y="1371600"/>
            <a:ext cx="3383280" cy="457200"/>
          </a:xfrm>
          <a:prstGeom prst="rect">
            <a:avLst/>
          </a:prstGeom>
          <a:noFill/>
        </p:spPr>
        <p:txBody>
          <a:bodyPr wrap="square">
            <a:spAutoFit/>
          </a:bodyPr>
          <a:lstStyle/>
          <a:p>
            <a:pPr algn="ctr"/>
            <a:r>
              <a:rPr sz="1500" b="1" i="0">
                <a:solidFill>
                  <a:srgbClr val="1B5E20"/>
                </a:solidFill>
                <a:latin typeface="Calibri"/>
              </a:rPr>
              <a:t>Voice Commands</a:t>
            </a:r>
          </a:p>
        </p:txBody>
      </p:sp>
      <p:sp>
        <p:nvSpPr>
          <p:cNvPr id="18" name="Rectangle 17"/>
          <p:cNvSpPr/>
          <p:nvPr/>
        </p:nvSpPr>
        <p:spPr>
          <a:xfrm>
            <a:off x="4343400" y="1874519"/>
            <a:ext cx="3063240" cy="36576"/>
          </a:xfrm>
          <a:prstGeom prst="rect">
            <a:avLst/>
          </a:prstGeom>
          <a:solidFill>
            <a:srgbClr val="66BB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279392" y="1993391"/>
            <a:ext cx="3246120" cy="685800"/>
          </a:xfrm>
          <a:prstGeom prst="rect">
            <a:avLst/>
          </a:prstGeom>
          <a:noFill/>
        </p:spPr>
        <p:txBody>
          <a:bodyPr wrap="square">
            <a:spAutoFit/>
          </a:bodyPr>
          <a:lstStyle/>
          <a:p>
            <a:pPr algn="l"/>
            <a:r>
              <a:rPr sz="1100" b="0" i="0">
                <a:solidFill>
                  <a:srgbClr val="212121"/>
                </a:solidFill>
                <a:latin typeface="Calibri"/>
              </a:rPr>
              <a:t>- SpeechRecognizer listens continuously</a:t>
            </a:r>
          </a:p>
        </p:txBody>
      </p:sp>
      <p:sp>
        <p:nvSpPr>
          <p:cNvPr id="20" name="TextBox 19"/>
          <p:cNvSpPr txBox="1"/>
          <p:nvPr/>
        </p:nvSpPr>
        <p:spPr>
          <a:xfrm>
            <a:off x="4279392" y="2679191"/>
            <a:ext cx="3246120" cy="685800"/>
          </a:xfrm>
          <a:prstGeom prst="rect">
            <a:avLst/>
          </a:prstGeom>
          <a:noFill/>
        </p:spPr>
        <p:txBody>
          <a:bodyPr wrap="square">
            <a:spAutoFit/>
          </a:bodyPr>
          <a:lstStyle/>
          <a:p>
            <a:pPr algn="l"/>
            <a:r>
              <a:rPr sz="1100" b="0" i="0">
                <a:solidFill>
                  <a:srgbClr val="212121"/>
                </a:solidFill>
                <a:latin typeface="Calibri"/>
              </a:rPr>
              <a:t>- "next" -- advance to next step</a:t>
            </a:r>
          </a:p>
        </p:txBody>
      </p:sp>
      <p:sp>
        <p:nvSpPr>
          <p:cNvPr id="21" name="TextBox 20"/>
          <p:cNvSpPr txBox="1"/>
          <p:nvPr/>
        </p:nvSpPr>
        <p:spPr>
          <a:xfrm>
            <a:off x="4279392" y="3364991"/>
            <a:ext cx="3246120" cy="685800"/>
          </a:xfrm>
          <a:prstGeom prst="rect">
            <a:avLst/>
          </a:prstGeom>
          <a:noFill/>
        </p:spPr>
        <p:txBody>
          <a:bodyPr wrap="square">
            <a:spAutoFit/>
          </a:bodyPr>
          <a:lstStyle/>
          <a:p>
            <a:pPr algn="l"/>
            <a:r>
              <a:rPr sz="1100" b="0" i="0">
                <a:solidFill>
                  <a:srgbClr val="212121"/>
                </a:solidFill>
                <a:latin typeface="Calibri"/>
              </a:rPr>
              <a:t>- "previous" / "back" -- go back one step</a:t>
            </a:r>
          </a:p>
        </p:txBody>
      </p:sp>
      <p:sp>
        <p:nvSpPr>
          <p:cNvPr id="22" name="TextBox 21"/>
          <p:cNvSpPr txBox="1"/>
          <p:nvPr/>
        </p:nvSpPr>
        <p:spPr>
          <a:xfrm>
            <a:off x="4279392" y="4050791"/>
            <a:ext cx="3246120" cy="685800"/>
          </a:xfrm>
          <a:prstGeom prst="rect">
            <a:avLst/>
          </a:prstGeom>
          <a:noFill/>
        </p:spPr>
        <p:txBody>
          <a:bodyPr wrap="square">
            <a:spAutoFit/>
          </a:bodyPr>
          <a:lstStyle/>
          <a:p>
            <a:pPr algn="l"/>
            <a:r>
              <a:rPr sz="1100" b="0" i="0">
                <a:solidFill>
                  <a:srgbClr val="212121"/>
                </a:solidFill>
                <a:latin typeface="Calibri"/>
              </a:rPr>
              <a:t>- "repeat" / "again" -- re-read current step</a:t>
            </a:r>
          </a:p>
        </p:txBody>
      </p:sp>
      <p:sp>
        <p:nvSpPr>
          <p:cNvPr id="23" name="TextBox 22"/>
          <p:cNvSpPr txBox="1"/>
          <p:nvPr/>
        </p:nvSpPr>
        <p:spPr>
          <a:xfrm>
            <a:off x="4279392" y="4736592"/>
            <a:ext cx="3246120" cy="685800"/>
          </a:xfrm>
          <a:prstGeom prst="rect">
            <a:avLst/>
          </a:prstGeom>
          <a:noFill/>
        </p:spPr>
        <p:txBody>
          <a:bodyPr wrap="square">
            <a:spAutoFit/>
          </a:bodyPr>
          <a:lstStyle/>
          <a:p>
            <a:pPr algn="l"/>
            <a:r>
              <a:rPr sz="1100" b="0" i="0">
                <a:solidFill>
                  <a:srgbClr val="212121"/>
                </a:solidFill>
                <a:latin typeface="Calibri"/>
              </a:rPr>
              <a:t>- Top-3 recognition results checked (more resilient)</a:t>
            </a:r>
          </a:p>
        </p:txBody>
      </p:sp>
      <p:sp>
        <p:nvSpPr>
          <p:cNvPr id="24" name="TextBox 23"/>
          <p:cNvSpPr txBox="1"/>
          <p:nvPr/>
        </p:nvSpPr>
        <p:spPr>
          <a:xfrm>
            <a:off x="4279392" y="5422392"/>
            <a:ext cx="3246120" cy="685800"/>
          </a:xfrm>
          <a:prstGeom prst="rect">
            <a:avLst/>
          </a:prstGeom>
          <a:noFill/>
        </p:spPr>
        <p:txBody>
          <a:bodyPr wrap="square">
            <a:spAutoFit/>
          </a:bodyPr>
          <a:lstStyle/>
          <a:p>
            <a:pPr algn="l"/>
            <a:r>
              <a:rPr sz="1100" b="0" i="0">
                <a:solidFill>
                  <a:srgbClr val="212121"/>
                </a:solidFill>
                <a:latin typeface="Calibri"/>
              </a:rPr>
              <a:t>- ERROR_RECOGNIZER_BUSY auto-retry after 500 ms</a:t>
            </a:r>
          </a:p>
        </p:txBody>
      </p:sp>
      <p:sp>
        <p:nvSpPr>
          <p:cNvPr id="25" name="Rectangle 24"/>
          <p:cNvSpPr/>
          <p:nvPr/>
        </p:nvSpPr>
        <p:spPr>
          <a:xfrm>
            <a:off x="7909560" y="1280160"/>
            <a:ext cx="3520440" cy="5029200"/>
          </a:xfrm>
          <a:prstGeom prst="rect">
            <a:avLst/>
          </a:prstGeom>
          <a:solidFill>
            <a:srgbClr val="E8F5E9"/>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001000" y="1371600"/>
            <a:ext cx="3383280" cy="457200"/>
          </a:xfrm>
          <a:prstGeom prst="rect">
            <a:avLst/>
          </a:prstGeom>
          <a:noFill/>
        </p:spPr>
        <p:txBody>
          <a:bodyPr wrap="square">
            <a:spAutoFit/>
          </a:bodyPr>
          <a:lstStyle/>
          <a:p>
            <a:pPr algn="ctr"/>
            <a:r>
              <a:rPr sz="1500" b="1" i="0">
                <a:solidFill>
                  <a:srgbClr val="1B5E20"/>
                </a:solidFill>
                <a:latin typeface="Calibri"/>
              </a:rPr>
              <a:t>UX &amp; Screen</a:t>
            </a:r>
          </a:p>
        </p:txBody>
      </p:sp>
      <p:sp>
        <p:nvSpPr>
          <p:cNvPr id="27" name="Rectangle 26"/>
          <p:cNvSpPr/>
          <p:nvPr/>
        </p:nvSpPr>
        <p:spPr>
          <a:xfrm>
            <a:off x="8138160" y="1874519"/>
            <a:ext cx="3063240" cy="36576"/>
          </a:xfrm>
          <a:prstGeom prst="rect">
            <a:avLst/>
          </a:prstGeom>
          <a:solidFill>
            <a:srgbClr val="66BB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074152" y="1993391"/>
            <a:ext cx="3246120" cy="685800"/>
          </a:xfrm>
          <a:prstGeom prst="rect">
            <a:avLst/>
          </a:prstGeom>
          <a:noFill/>
        </p:spPr>
        <p:txBody>
          <a:bodyPr wrap="square">
            <a:spAutoFit/>
          </a:bodyPr>
          <a:lstStyle/>
          <a:p>
            <a:pPr algn="l"/>
            <a:r>
              <a:rPr sz="1100" b="0" i="0">
                <a:solidFill>
                  <a:srgbClr val="212121"/>
                </a:solidFill>
                <a:latin typeface="Calibri"/>
              </a:rPr>
              <a:t>- FLAG_KEEP_SCREEN_ON -- screen stays on while cooking</a:t>
            </a:r>
          </a:p>
        </p:txBody>
      </p:sp>
      <p:sp>
        <p:nvSpPr>
          <p:cNvPr id="29" name="TextBox 28"/>
          <p:cNvSpPr txBox="1"/>
          <p:nvPr/>
        </p:nvSpPr>
        <p:spPr>
          <a:xfrm>
            <a:off x="8074152" y="2679191"/>
            <a:ext cx="3246120" cy="685800"/>
          </a:xfrm>
          <a:prstGeom prst="rect">
            <a:avLst/>
          </a:prstGeom>
          <a:noFill/>
        </p:spPr>
        <p:txBody>
          <a:bodyPr wrap="square">
            <a:spAutoFit/>
          </a:bodyPr>
          <a:lstStyle/>
          <a:p>
            <a:pPr algn="l"/>
            <a:r>
              <a:rPr sz="1100" b="0" i="0">
                <a:solidFill>
                  <a:srgbClr val="212121"/>
                </a:solidFill>
                <a:latin typeface="Calibri"/>
              </a:rPr>
              <a:t>- Progress bar shows % completion across all steps</a:t>
            </a:r>
          </a:p>
        </p:txBody>
      </p:sp>
      <p:sp>
        <p:nvSpPr>
          <p:cNvPr id="30" name="TextBox 29"/>
          <p:cNvSpPr txBox="1"/>
          <p:nvPr/>
        </p:nvSpPr>
        <p:spPr>
          <a:xfrm>
            <a:off x="8074152" y="3364991"/>
            <a:ext cx="3246120" cy="685800"/>
          </a:xfrm>
          <a:prstGeom prst="rect">
            <a:avLst/>
          </a:prstGeom>
          <a:noFill/>
        </p:spPr>
        <p:txBody>
          <a:bodyPr wrap="square">
            <a:spAutoFit/>
          </a:bodyPr>
          <a:lstStyle/>
          <a:p>
            <a:pPr algn="l"/>
            <a:r>
              <a:rPr sz="1100" b="0" i="0">
                <a:solidFill>
                  <a:srgbClr val="212121"/>
                </a:solidFill>
                <a:latin typeface="Calibri"/>
              </a:rPr>
              <a:t>- Equipment chips shown per step (e.g. pan, whisk)</a:t>
            </a:r>
          </a:p>
        </p:txBody>
      </p:sp>
      <p:sp>
        <p:nvSpPr>
          <p:cNvPr id="31" name="TextBox 30"/>
          <p:cNvSpPr txBox="1"/>
          <p:nvPr/>
        </p:nvSpPr>
        <p:spPr>
          <a:xfrm>
            <a:off x="8074152" y="4050791"/>
            <a:ext cx="3246120" cy="685800"/>
          </a:xfrm>
          <a:prstGeom prst="rect">
            <a:avLst/>
          </a:prstGeom>
          <a:noFill/>
        </p:spPr>
        <p:txBody>
          <a:bodyPr wrap="square">
            <a:spAutoFit/>
          </a:bodyPr>
          <a:lstStyle/>
          <a:p>
            <a:pPr algn="l"/>
            <a:r>
              <a:rPr sz="1100" b="0" i="0">
                <a:solidFill>
                  <a:srgbClr val="212121"/>
                </a:solidFill>
                <a:latin typeface="Calibri"/>
              </a:rPr>
              <a:t>- Prev / Next buttons for manual navigation</a:t>
            </a:r>
          </a:p>
        </p:txBody>
      </p:sp>
      <p:sp>
        <p:nvSpPr>
          <p:cNvPr id="32" name="TextBox 31"/>
          <p:cNvSpPr txBox="1"/>
          <p:nvPr/>
        </p:nvSpPr>
        <p:spPr>
          <a:xfrm>
            <a:off x="8074152" y="4736592"/>
            <a:ext cx="3246120" cy="685800"/>
          </a:xfrm>
          <a:prstGeom prst="rect">
            <a:avLst/>
          </a:prstGeom>
          <a:noFill/>
        </p:spPr>
        <p:txBody>
          <a:bodyPr wrap="square">
            <a:spAutoFit/>
          </a:bodyPr>
          <a:lstStyle/>
          <a:p>
            <a:pPr algn="l"/>
            <a:r>
              <a:rPr sz="1100" b="0" i="0">
                <a:solidFill>
                  <a:srgbClr val="212121"/>
                </a:solidFill>
                <a:latin typeface="Calibri"/>
              </a:rPr>
              <a:t>- Done screen + TTS congratulations on finish</a:t>
            </a:r>
          </a:p>
        </p:txBody>
      </p:sp>
      <p:sp>
        <p:nvSpPr>
          <p:cNvPr id="33" name="TextBox 32"/>
          <p:cNvSpPr txBox="1"/>
          <p:nvPr/>
        </p:nvSpPr>
        <p:spPr>
          <a:xfrm>
            <a:off x="8074152" y="5422392"/>
            <a:ext cx="3246120" cy="685800"/>
          </a:xfrm>
          <a:prstGeom prst="rect">
            <a:avLst/>
          </a:prstGeom>
          <a:noFill/>
        </p:spPr>
        <p:txBody>
          <a:bodyPr wrap="square">
            <a:spAutoFit/>
          </a:bodyPr>
          <a:lstStyle/>
          <a:p>
            <a:pPr algn="l"/>
            <a:r>
              <a:rPr sz="1100" b="0" i="0">
                <a:solidFill>
                  <a:srgbClr val="212121"/>
                </a:solidFill>
                <a:latin typeface="Calibri"/>
              </a:rPr>
              <a:t>- Portrait-locked -- no accidental rotation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91440"/>
            <a:ext cx="10972800" cy="658368"/>
          </a:xfrm>
          <a:prstGeom prst="rect">
            <a:avLst/>
          </a:prstGeom>
          <a:noFill/>
        </p:spPr>
        <p:txBody>
          <a:bodyPr wrap="square">
            <a:spAutoFit/>
          </a:bodyPr>
          <a:lstStyle/>
          <a:p>
            <a:pPr algn="l"/>
            <a:r>
              <a:rPr sz="3000" b="1" i="0">
                <a:solidFill>
                  <a:srgbClr val="FFFFFF"/>
                </a:solidFill>
                <a:latin typeface="Calibri"/>
              </a:rPr>
              <a:t>Offline Storage &amp; Data Layer</a:t>
            </a:r>
          </a:p>
        </p:txBody>
      </p:sp>
      <p:sp>
        <p:nvSpPr>
          <p:cNvPr id="4" name="TextBox 3"/>
          <p:cNvSpPr txBox="1"/>
          <p:nvPr/>
        </p:nvSpPr>
        <p:spPr>
          <a:xfrm>
            <a:off x="365760" y="713232"/>
            <a:ext cx="10972800" cy="329184"/>
          </a:xfrm>
          <a:prstGeom prst="rect">
            <a:avLst/>
          </a:prstGeom>
          <a:noFill/>
        </p:spPr>
        <p:txBody>
          <a:bodyPr wrap="square">
            <a:spAutoFit/>
          </a:bodyPr>
          <a:lstStyle/>
          <a:p>
            <a:pPr algn="l"/>
            <a:r>
              <a:rPr sz="1300" b="0" i="0">
                <a:solidFill>
                  <a:srgbClr val="66BB6A"/>
                </a:solidFill>
                <a:latin typeface="Calibri"/>
              </a:rPr>
              <a:t>Room Database + Local Persistence</a:t>
            </a:r>
          </a:p>
        </p:txBody>
      </p:sp>
      <p:sp>
        <p:nvSpPr>
          <p:cNvPr id="5" name="Rectangle 4"/>
          <p:cNvSpPr/>
          <p:nvPr/>
        </p:nvSpPr>
        <p:spPr>
          <a:xfrm>
            <a:off x="0" y="1097280"/>
            <a:ext cx="12188952" cy="54864"/>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537960"/>
            <a:ext cx="12188952" cy="32004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556248"/>
            <a:ext cx="11430000" cy="256032"/>
          </a:xfrm>
          <a:prstGeom prst="rect">
            <a:avLst/>
          </a:prstGeom>
          <a:noFill/>
        </p:spPr>
        <p:txBody>
          <a:bodyPr wrap="square">
            <a:spAutoFit/>
          </a:bodyPr>
          <a:lstStyle/>
          <a:p>
            <a:pPr algn="l"/>
            <a:r>
              <a:rPr sz="1000" b="0" i="0">
                <a:solidFill>
                  <a:srgbClr val="66BB6A"/>
                </a:solidFill>
                <a:latin typeface="Calibri"/>
              </a:rPr>
              <a:t>Snap &amp; Cook  |  CSD3156 Mobile and Cloud Computing  |  SIT</a:t>
            </a:r>
          </a:p>
        </p:txBody>
      </p:sp>
      <p:sp>
        <p:nvSpPr>
          <p:cNvPr id="8" name="TextBox 7"/>
          <p:cNvSpPr txBox="1"/>
          <p:nvPr/>
        </p:nvSpPr>
        <p:spPr>
          <a:xfrm>
            <a:off x="365760" y="1261872"/>
            <a:ext cx="6400800" cy="384048"/>
          </a:xfrm>
          <a:prstGeom prst="rect">
            <a:avLst/>
          </a:prstGeom>
          <a:noFill/>
        </p:spPr>
        <p:txBody>
          <a:bodyPr wrap="square">
            <a:spAutoFit/>
          </a:bodyPr>
          <a:lstStyle/>
          <a:p>
            <a:pPr algn="l"/>
            <a:r>
              <a:rPr sz="1500" b="1" i="0">
                <a:solidFill>
                  <a:srgbClr val="1B5E20"/>
                </a:solidFill>
                <a:latin typeface="Calibri"/>
              </a:rPr>
              <a:t>SavedRecipe Entity  (table: saved_recipes)</a:t>
            </a:r>
          </a:p>
        </p:txBody>
      </p:sp>
      <p:sp>
        <p:nvSpPr>
          <p:cNvPr id="9" name="Rectangle 8"/>
          <p:cNvSpPr/>
          <p:nvPr/>
        </p:nvSpPr>
        <p:spPr>
          <a:xfrm>
            <a:off x="365760" y="1719072"/>
            <a:ext cx="6035040" cy="384048"/>
          </a:xfrm>
          <a:prstGeom prst="rect">
            <a:avLst/>
          </a:prstGeom>
          <a:solidFill>
            <a:srgbClr val="E8F5E9"/>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11480" y="1755648"/>
            <a:ext cx="566928" cy="310896"/>
          </a:xfrm>
          <a:prstGeom prst="rect">
            <a:avLst/>
          </a:prstGeom>
          <a:noFill/>
        </p:spPr>
        <p:txBody>
          <a:bodyPr wrap="square">
            <a:spAutoFit/>
          </a:bodyPr>
          <a:lstStyle/>
          <a:p>
            <a:pPr algn="l"/>
            <a:r>
              <a:rPr sz="900" b="1" i="0">
                <a:solidFill>
                  <a:srgbClr val="1B5E20"/>
                </a:solidFill>
                <a:latin typeface="Calibri"/>
              </a:rPr>
              <a:t>PK</a:t>
            </a:r>
          </a:p>
        </p:txBody>
      </p:sp>
      <p:sp>
        <p:nvSpPr>
          <p:cNvPr id="11" name="TextBox 10"/>
          <p:cNvSpPr txBox="1"/>
          <p:nvPr/>
        </p:nvSpPr>
        <p:spPr>
          <a:xfrm>
            <a:off x="1005840" y="1783080"/>
            <a:ext cx="1965960" cy="256032"/>
          </a:xfrm>
          <a:prstGeom prst="rect">
            <a:avLst/>
          </a:prstGeom>
          <a:noFill/>
        </p:spPr>
        <p:txBody>
          <a:bodyPr wrap="square">
            <a:spAutoFit/>
          </a:bodyPr>
          <a:lstStyle/>
          <a:p>
            <a:pPr algn="l"/>
            <a:r>
              <a:rPr sz="1200" b="1" i="0">
                <a:solidFill>
                  <a:srgbClr val="212121"/>
                </a:solidFill>
                <a:latin typeface="Calibri"/>
              </a:rPr>
              <a:t>recipeId: Int</a:t>
            </a:r>
          </a:p>
        </p:txBody>
      </p:sp>
      <p:sp>
        <p:nvSpPr>
          <p:cNvPr id="12" name="TextBox 11"/>
          <p:cNvSpPr txBox="1"/>
          <p:nvPr/>
        </p:nvSpPr>
        <p:spPr>
          <a:xfrm>
            <a:off x="3017520" y="1801368"/>
            <a:ext cx="3246120" cy="237744"/>
          </a:xfrm>
          <a:prstGeom prst="rect">
            <a:avLst/>
          </a:prstGeom>
          <a:noFill/>
        </p:spPr>
        <p:txBody>
          <a:bodyPr wrap="square">
            <a:spAutoFit/>
          </a:bodyPr>
          <a:lstStyle/>
          <a:p>
            <a:pPr algn="l"/>
            <a:r>
              <a:rPr sz="1100" b="0" i="0">
                <a:solidFill>
                  <a:srgbClr val="616161"/>
                </a:solidFill>
                <a:latin typeface="Calibri"/>
              </a:rPr>
              <a:t>Spoonacular recipe ID -- primary key</a:t>
            </a:r>
          </a:p>
        </p:txBody>
      </p:sp>
      <p:sp>
        <p:nvSpPr>
          <p:cNvPr id="13" name="Rectangle 12"/>
          <p:cNvSpPr/>
          <p:nvPr/>
        </p:nvSpPr>
        <p:spPr>
          <a:xfrm>
            <a:off x="365760" y="2139696"/>
            <a:ext cx="6035040" cy="384048"/>
          </a:xfrm>
          <a:prstGeom prst="rect">
            <a:avLst/>
          </a:prstGeom>
          <a:solidFill>
            <a:srgbClr val="FFFFFF"/>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05840" y="2203703"/>
            <a:ext cx="1965960" cy="256032"/>
          </a:xfrm>
          <a:prstGeom prst="rect">
            <a:avLst/>
          </a:prstGeom>
          <a:noFill/>
        </p:spPr>
        <p:txBody>
          <a:bodyPr wrap="square">
            <a:spAutoFit/>
          </a:bodyPr>
          <a:lstStyle/>
          <a:p>
            <a:pPr algn="l"/>
            <a:r>
              <a:rPr sz="1200" b="1" i="0">
                <a:solidFill>
                  <a:srgbClr val="212121"/>
                </a:solidFill>
                <a:latin typeface="Calibri"/>
              </a:rPr>
              <a:t>title: String</a:t>
            </a:r>
          </a:p>
        </p:txBody>
      </p:sp>
      <p:sp>
        <p:nvSpPr>
          <p:cNvPr id="15" name="TextBox 14"/>
          <p:cNvSpPr txBox="1"/>
          <p:nvPr/>
        </p:nvSpPr>
        <p:spPr>
          <a:xfrm>
            <a:off x="3017520" y="2221991"/>
            <a:ext cx="3246120" cy="237744"/>
          </a:xfrm>
          <a:prstGeom prst="rect">
            <a:avLst/>
          </a:prstGeom>
          <a:noFill/>
        </p:spPr>
        <p:txBody>
          <a:bodyPr wrap="square">
            <a:spAutoFit/>
          </a:bodyPr>
          <a:lstStyle/>
          <a:p>
            <a:pPr algn="l"/>
            <a:r>
              <a:rPr sz="1100" b="0" i="0">
                <a:solidFill>
                  <a:srgbClr val="616161"/>
                </a:solidFill>
                <a:latin typeface="Calibri"/>
              </a:rPr>
              <a:t>Recipe display name</a:t>
            </a:r>
          </a:p>
        </p:txBody>
      </p:sp>
      <p:sp>
        <p:nvSpPr>
          <p:cNvPr id="16" name="Rectangle 15"/>
          <p:cNvSpPr/>
          <p:nvPr/>
        </p:nvSpPr>
        <p:spPr>
          <a:xfrm>
            <a:off x="365760" y="2560320"/>
            <a:ext cx="6035040" cy="384048"/>
          </a:xfrm>
          <a:prstGeom prst="rect">
            <a:avLst/>
          </a:prstGeom>
          <a:solidFill>
            <a:srgbClr val="FFFFFF"/>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005840" y="2624327"/>
            <a:ext cx="1965960" cy="256032"/>
          </a:xfrm>
          <a:prstGeom prst="rect">
            <a:avLst/>
          </a:prstGeom>
          <a:noFill/>
        </p:spPr>
        <p:txBody>
          <a:bodyPr wrap="square">
            <a:spAutoFit/>
          </a:bodyPr>
          <a:lstStyle/>
          <a:p>
            <a:pPr algn="l"/>
            <a:r>
              <a:rPr sz="1200" b="1" i="0">
                <a:solidFill>
                  <a:srgbClr val="212121"/>
                </a:solidFill>
                <a:latin typeface="Calibri"/>
              </a:rPr>
              <a:t>imageUrl: String?</a:t>
            </a:r>
          </a:p>
        </p:txBody>
      </p:sp>
      <p:sp>
        <p:nvSpPr>
          <p:cNvPr id="18" name="TextBox 17"/>
          <p:cNvSpPr txBox="1"/>
          <p:nvPr/>
        </p:nvSpPr>
        <p:spPr>
          <a:xfrm>
            <a:off x="3017520" y="2642615"/>
            <a:ext cx="3246120" cy="237744"/>
          </a:xfrm>
          <a:prstGeom prst="rect">
            <a:avLst/>
          </a:prstGeom>
          <a:noFill/>
        </p:spPr>
        <p:txBody>
          <a:bodyPr wrap="square">
            <a:spAutoFit/>
          </a:bodyPr>
          <a:lstStyle/>
          <a:p>
            <a:pPr algn="l"/>
            <a:r>
              <a:rPr sz="1100" b="0" i="0">
                <a:solidFill>
                  <a:srgbClr val="616161"/>
                </a:solidFill>
                <a:latin typeface="Calibri"/>
              </a:rPr>
              <a:t>Thumbnail URL (nullable)</a:t>
            </a:r>
          </a:p>
        </p:txBody>
      </p:sp>
      <p:sp>
        <p:nvSpPr>
          <p:cNvPr id="19" name="Rectangle 18"/>
          <p:cNvSpPr/>
          <p:nvPr/>
        </p:nvSpPr>
        <p:spPr>
          <a:xfrm>
            <a:off x="365760" y="2980944"/>
            <a:ext cx="6035040" cy="384048"/>
          </a:xfrm>
          <a:prstGeom prst="rect">
            <a:avLst/>
          </a:prstGeom>
          <a:solidFill>
            <a:srgbClr val="FFFFFF"/>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05840" y="3044951"/>
            <a:ext cx="1965960" cy="256032"/>
          </a:xfrm>
          <a:prstGeom prst="rect">
            <a:avLst/>
          </a:prstGeom>
          <a:noFill/>
        </p:spPr>
        <p:txBody>
          <a:bodyPr wrap="square">
            <a:spAutoFit/>
          </a:bodyPr>
          <a:lstStyle/>
          <a:p>
            <a:pPr algn="l"/>
            <a:r>
              <a:rPr sz="1200" b="1" i="0">
                <a:solidFill>
                  <a:srgbClr val="212121"/>
                </a:solidFill>
                <a:latin typeface="Calibri"/>
              </a:rPr>
              <a:t>readyInMinutes: Int</a:t>
            </a:r>
          </a:p>
        </p:txBody>
      </p:sp>
      <p:sp>
        <p:nvSpPr>
          <p:cNvPr id="21" name="TextBox 20"/>
          <p:cNvSpPr txBox="1"/>
          <p:nvPr/>
        </p:nvSpPr>
        <p:spPr>
          <a:xfrm>
            <a:off x="3017520" y="3063239"/>
            <a:ext cx="3246120" cy="237744"/>
          </a:xfrm>
          <a:prstGeom prst="rect">
            <a:avLst/>
          </a:prstGeom>
          <a:noFill/>
        </p:spPr>
        <p:txBody>
          <a:bodyPr wrap="square">
            <a:spAutoFit/>
          </a:bodyPr>
          <a:lstStyle/>
          <a:p>
            <a:pPr algn="l"/>
            <a:r>
              <a:rPr sz="1100" b="0" i="0">
                <a:solidFill>
                  <a:srgbClr val="616161"/>
                </a:solidFill>
                <a:latin typeface="Calibri"/>
              </a:rPr>
              <a:t>Cooking duration</a:t>
            </a:r>
          </a:p>
        </p:txBody>
      </p:sp>
      <p:sp>
        <p:nvSpPr>
          <p:cNvPr id="22" name="Rectangle 21"/>
          <p:cNvSpPr/>
          <p:nvPr/>
        </p:nvSpPr>
        <p:spPr>
          <a:xfrm>
            <a:off x="365760" y="3401568"/>
            <a:ext cx="6035040" cy="384048"/>
          </a:xfrm>
          <a:prstGeom prst="rect">
            <a:avLst/>
          </a:prstGeom>
          <a:solidFill>
            <a:srgbClr val="FFFFFF"/>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005840" y="3465575"/>
            <a:ext cx="1965960" cy="256032"/>
          </a:xfrm>
          <a:prstGeom prst="rect">
            <a:avLst/>
          </a:prstGeom>
          <a:noFill/>
        </p:spPr>
        <p:txBody>
          <a:bodyPr wrap="square">
            <a:spAutoFit/>
          </a:bodyPr>
          <a:lstStyle/>
          <a:p>
            <a:pPr algn="l"/>
            <a:r>
              <a:rPr sz="1200" b="1" i="0">
                <a:solidFill>
                  <a:srgbClr val="212121"/>
                </a:solidFill>
                <a:latin typeface="Calibri"/>
              </a:rPr>
              <a:t>servings: Int</a:t>
            </a:r>
          </a:p>
        </p:txBody>
      </p:sp>
      <p:sp>
        <p:nvSpPr>
          <p:cNvPr id="24" name="TextBox 23"/>
          <p:cNvSpPr txBox="1"/>
          <p:nvPr/>
        </p:nvSpPr>
        <p:spPr>
          <a:xfrm>
            <a:off x="3017520" y="3483863"/>
            <a:ext cx="3246120" cy="237744"/>
          </a:xfrm>
          <a:prstGeom prst="rect">
            <a:avLst/>
          </a:prstGeom>
          <a:noFill/>
        </p:spPr>
        <p:txBody>
          <a:bodyPr wrap="square">
            <a:spAutoFit/>
          </a:bodyPr>
          <a:lstStyle/>
          <a:p>
            <a:pPr algn="l"/>
            <a:r>
              <a:rPr sz="1100" b="0" i="0">
                <a:solidFill>
                  <a:srgbClr val="616161"/>
                </a:solidFill>
                <a:latin typeface="Calibri"/>
              </a:rPr>
              <a:t>Number of portions</a:t>
            </a:r>
          </a:p>
        </p:txBody>
      </p:sp>
      <p:sp>
        <p:nvSpPr>
          <p:cNvPr id="25" name="Rectangle 24"/>
          <p:cNvSpPr/>
          <p:nvPr/>
        </p:nvSpPr>
        <p:spPr>
          <a:xfrm>
            <a:off x="365760" y="3822191"/>
            <a:ext cx="6035040" cy="384048"/>
          </a:xfrm>
          <a:prstGeom prst="rect">
            <a:avLst/>
          </a:prstGeom>
          <a:solidFill>
            <a:srgbClr val="FFFFFF"/>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05840" y="3886200"/>
            <a:ext cx="1965960" cy="256032"/>
          </a:xfrm>
          <a:prstGeom prst="rect">
            <a:avLst/>
          </a:prstGeom>
          <a:noFill/>
        </p:spPr>
        <p:txBody>
          <a:bodyPr wrap="square">
            <a:spAutoFit/>
          </a:bodyPr>
          <a:lstStyle/>
          <a:p>
            <a:pPr algn="l"/>
            <a:r>
              <a:rPr sz="1200" b="1" i="0">
                <a:solidFill>
                  <a:srgbClr val="212121"/>
                </a:solidFill>
                <a:latin typeface="Calibri"/>
              </a:rPr>
              <a:t>calories: Int?</a:t>
            </a:r>
          </a:p>
        </p:txBody>
      </p:sp>
      <p:sp>
        <p:nvSpPr>
          <p:cNvPr id="27" name="TextBox 26"/>
          <p:cNvSpPr txBox="1"/>
          <p:nvPr/>
        </p:nvSpPr>
        <p:spPr>
          <a:xfrm>
            <a:off x="3017520" y="3904487"/>
            <a:ext cx="3246120" cy="237744"/>
          </a:xfrm>
          <a:prstGeom prst="rect">
            <a:avLst/>
          </a:prstGeom>
          <a:noFill/>
        </p:spPr>
        <p:txBody>
          <a:bodyPr wrap="square">
            <a:spAutoFit/>
          </a:bodyPr>
          <a:lstStyle/>
          <a:p>
            <a:pPr algn="l"/>
            <a:r>
              <a:rPr sz="1100" b="0" i="0">
                <a:solidFill>
                  <a:srgbClr val="616161"/>
                </a:solidFill>
                <a:latin typeface="Calibri"/>
              </a:rPr>
              <a:t>Calories per serving (nullable)</a:t>
            </a:r>
          </a:p>
        </p:txBody>
      </p:sp>
      <p:sp>
        <p:nvSpPr>
          <p:cNvPr id="28" name="Rectangle 27"/>
          <p:cNvSpPr/>
          <p:nvPr/>
        </p:nvSpPr>
        <p:spPr>
          <a:xfrm>
            <a:off x="365760" y="4242816"/>
            <a:ext cx="6035040" cy="384048"/>
          </a:xfrm>
          <a:prstGeom prst="rect">
            <a:avLst/>
          </a:prstGeom>
          <a:solidFill>
            <a:srgbClr val="FFF9C4"/>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411480" y="4279392"/>
            <a:ext cx="566928" cy="310896"/>
          </a:xfrm>
          <a:prstGeom prst="rect">
            <a:avLst/>
          </a:prstGeom>
          <a:noFill/>
        </p:spPr>
        <p:txBody>
          <a:bodyPr wrap="square">
            <a:spAutoFit/>
          </a:bodyPr>
          <a:lstStyle/>
          <a:p>
            <a:pPr algn="l"/>
            <a:r>
              <a:rPr sz="900" b="1" i="0">
                <a:solidFill>
                  <a:srgbClr val="FF6F00"/>
                </a:solidFill>
                <a:latin typeface="Calibri"/>
              </a:rPr>
              <a:t>JSON</a:t>
            </a:r>
          </a:p>
        </p:txBody>
      </p:sp>
      <p:sp>
        <p:nvSpPr>
          <p:cNvPr id="30" name="TextBox 29"/>
          <p:cNvSpPr txBox="1"/>
          <p:nvPr/>
        </p:nvSpPr>
        <p:spPr>
          <a:xfrm>
            <a:off x="1005840" y="4306824"/>
            <a:ext cx="1965960" cy="256032"/>
          </a:xfrm>
          <a:prstGeom prst="rect">
            <a:avLst/>
          </a:prstGeom>
          <a:noFill/>
        </p:spPr>
        <p:txBody>
          <a:bodyPr wrap="square">
            <a:spAutoFit/>
          </a:bodyPr>
          <a:lstStyle/>
          <a:p>
            <a:pPr algn="l"/>
            <a:r>
              <a:rPr sz="1200" b="1" i="0">
                <a:solidFill>
                  <a:srgbClr val="212121"/>
                </a:solidFill>
                <a:latin typeface="Calibri"/>
              </a:rPr>
              <a:t>ingredientsJson: String</a:t>
            </a:r>
          </a:p>
        </p:txBody>
      </p:sp>
      <p:sp>
        <p:nvSpPr>
          <p:cNvPr id="31" name="TextBox 30"/>
          <p:cNvSpPr txBox="1"/>
          <p:nvPr/>
        </p:nvSpPr>
        <p:spPr>
          <a:xfrm>
            <a:off x="3017520" y="4325112"/>
            <a:ext cx="3246120" cy="237744"/>
          </a:xfrm>
          <a:prstGeom prst="rect">
            <a:avLst/>
          </a:prstGeom>
          <a:noFill/>
        </p:spPr>
        <p:txBody>
          <a:bodyPr wrap="square">
            <a:spAutoFit/>
          </a:bodyPr>
          <a:lstStyle/>
          <a:p>
            <a:pPr algn="l"/>
            <a:r>
              <a:rPr sz="1100" b="0" i="0">
                <a:solidFill>
                  <a:srgbClr val="616161"/>
                </a:solidFill>
                <a:latin typeface="Calibri"/>
              </a:rPr>
              <a:t>Gson-serialised ingredient string list</a:t>
            </a:r>
          </a:p>
        </p:txBody>
      </p:sp>
      <p:sp>
        <p:nvSpPr>
          <p:cNvPr id="32" name="Rectangle 31"/>
          <p:cNvSpPr/>
          <p:nvPr/>
        </p:nvSpPr>
        <p:spPr>
          <a:xfrm>
            <a:off x="365760" y="4663440"/>
            <a:ext cx="6035040" cy="384048"/>
          </a:xfrm>
          <a:prstGeom prst="rect">
            <a:avLst/>
          </a:prstGeom>
          <a:solidFill>
            <a:srgbClr val="FFF9C4"/>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11480" y="4700016"/>
            <a:ext cx="566928" cy="310896"/>
          </a:xfrm>
          <a:prstGeom prst="rect">
            <a:avLst/>
          </a:prstGeom>
          <a:noFill/>
        </p:spPr>
        <p:txBody>
          <a:bodyPr wrap="square">
            <a:spAutoFit/>
          </a:bodyPr>
          <a:lstStyle/>
          <a:p>
            <a:pPr algn="l"/>
            <a:r>
              <a:rPr sz="900" b="1" i="0">
                <a:solidFill>
                  <a:srgbClr val="FF6F00"/>
                </a:solidFill>
                <a:latin typeface="Calibri"/>
              </a:rPr>
              <a:t>JSON</a:t>
            </a:r>
          </a:p>
        </p:txBody>
      </p:sp>
      <p:sp>
        <p:nvSpPr>
          <p:cNvPr id="34" name="TextBox 33"/>
          <p:cNvSpPr txBox="1"/>
          <p:nvPr/>
        </p:nvSpPr>
        <p:spPr>
          <a:xfrm>
            <a:off x="1005840" y="4727448"/>
            <a:ext cx="1965960" cy="256032"/>
          </a:xfrm>
          <a:prstGeom prst="rect">
            <a:avLst/>
          </a:prstGeom>
          <a:noFill/>
        </p:spPr>
        <p:txBody>
          <a:bodyPr wrap="square">
            <a:spAutoFit/>
          </a:bodyPr>
          <a:lstStyle/>
          <a:p>
            <a:pPr algn="l"/>
            <a:r>
              <a:rPr sz="1200" b="1" i="0">
                <a:solidFill>
                  <a:srgbClr val="212121"/>
                </a:solidFill>
                <a:latin typeface="Calibri"/>
              </a:rPr>
              <a:t>stepsJson: String</a:t>
            </a:r>
          </a:p>
        </p:txBody>
      </p:sp>
      <p:sp>
        <p:nvSpPr>
          <p:cNvPr id="35" name="TextBox 34"/>
          <p:cNvSpPr txBox="1"/>
          <p:nvPr/>
        </p:nvSpPr>
        <p:spPr>
          <a:xfrm>
            <a:off x="3017520" y="4745736"/>
            <a:ext cx="3246120" cy="237744"/>
          </a:xfrm>
          <a:prstGeom prst="rect">
            <a:avLst/>
          </a:prstGeom>
          <a:noFill/>
        </p:spPr>
        <p:txBody>
          <a:bodyPr wrap="square">
            <a:spAutoFit/>
          </a:bodyPr>
          <a:lstStyle/>
          <a:p>
            <a:pPr algn="l"/>
            <a:r>
              <a:rPr sz="1100" b="0" i="0">
                <a:solidFill>
                  <a:srgbClr val="616161"/>
                </a:solidFill>
                <a:latin typeface="Calibri"/>
              </a:rPr>
              <a:t>Gson-serialised step string list</a:t>
            </a:r>
          </a:p>
        </p:txBody>
      </p:sp>
      <p:sp>
        <p:nvSpPr>
          <p:cNvPr id="36" name="Rectangle 35"/>
          <p:cNvSpPr/>
          <p:nvPr/>
        </p:nvSpPr>
        <p:spPr>
          <a:xfrm>
            <a:off x="365760" y="5084064"/>
            <a:ext cx="6035040" cy="384048"/>
          </a:xfrm>
          <a:prstGeom prst="rect">
            <a:avLst/>
          </a:prstGeom>
          <a:solidFill>
            <a:srgbClr val="FFFFFF"/>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1005840" y="5148072"/>
            <a:ext cx="1965960" cy="256032"/>
          </a:xfrm>
          <a:prstGeom prst="rect">
            <a:avLst/>
          </a:prstGeom>
          <a:noFill/>
        </p:spPr>
        <p:txBody>
          <a:bodyPr wrap="square">
            <a:spAutoFit/>
          </a:bodyPr>
          <a:lstStyle/>
          <a:p>
            <a:pPr algn="l"/>
            <a:r>
              <a:rPr sz="1200" b="1" i="0">
                <a:solidFill>
                  <a:srgbClr val="212121"/>
                </a:solidFill>
                <a:latin typeface="Calibri"/>
              </a:rPr>
              <a:t>savedAt: Long</a:t>
            </a:r>
          </a:p>
        </p:txBody>
      </p:sp>
      <p:sp>
        <p:nvSpPr>
          <p:cNvPr id="38" name="TextBox 37"/>
          <p:cNvSpPr txBox="1"/>
          <p:nvPr/>
        </p:nvSpPr>
        <p:spPr>
          <a:xfrm>
            <a:off x="3017520" y="5166359"/>
            <a:ext cx="3246120" cy="237744"/>
          </a:xfrm>
          <a:prstGeom prst="rect">
            <a:avLst/>
          </a:prstGeom>
          <a:noFill/>
        </p:spPr>
        <p:txBody>
          <a:bodyPr wrap="square">
            <a:spAutoFit/>
          </a:bodyPr>
          <a:lstStyle/>
          <a:p>
            <a:pPr algn="l"/>
            <a:r>
              <a:rPr sz="1100" b="0" i="0">
                <a:solidFill>
                  <a:srgbClr val="616161"/>
                </a:solidFill>
                <a:latin typeface="Calibri"/>
              </a:rPr>
              <a:t>Unix timestamp of save event</a:t>
            </a:r>
          </a:p>
        </p:txBody>
      </p:sp>
      <p:sp>
        <p:nvSpPr>
          <p:cNvPr id="39" name="TextBox 38"/>
          <p:cNvSpPr txBox="1"/>
          <p:nvPr/>
        </p:nvSpPr>
        <p:spPr>
          <a:xfrm>
            <a:off x="6720840" y="1261872"/>
            <a:ext cx="5166360" cy="384048"/>
          </a:xfrm>
          <a:prstGeom prst="rect">
            <a:avLst/>
          </a:prstGeom>
          <a:noFill/>
        </p:spPr>
        <p:txBody>
          <a:bodyPr wrap="square">
            <a:spAutoFit/>
          </a:bodyPr>
          <a:lstStyle/>
          <a:p>
            <a:pPr algn="l"/>
            <a:r>
              <a:rPr sz="1500" b="1" i="0">
                <a:solidFill>
                  <a:srgbClr val="1B5E20"/>
                </a:solidFill>
                <a:latin typeface="Calibri"/>
              </a:rPr>
              <a:t>Data Access &amp; Architecture</a:t>
            </a:r>
          </a:p>
        </p:txBody>
      </p:sp>
      <p:sp>
        <p:nvSpPr>
          <p:cNvPr id="40" name="Rectangle 39"/>
          <p:cNvSpPr/>
          <p:nvPr/>
        </p:nvSpPr>
        <p:spPr>
          <a:xfrm>
            <a:off x="6720840" y="1691640"/>
            <a:ext cx="5166360" cy="4572000"/>
          </a:xfrm>
          <a:prstGeom prst="rect">
            <a:avLst/>
          </a:prstGeom>
          <a:solidFill>
            <a:srgbClr val="E8F5E9"/>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903720" y="1783080"/>
            <a:ext cx="4846320" cy="4343400"/>
          </a:xfrm>
          <a:prstGeom prst="rect">
            <a:avLst/>
          </a:prstGeom>
          <a:noFill/>
        </p:spPr>
        <p:txBody>
          <a:bodyPr wrap="square">
            <a:spAutoFit/>
          </a:bodyPr>
          <a:lstStyle/>
          <a:p>
            <a:pPr algn="l">
              <a:spcBef>
                <a:spcPts val="300"/>
              </a:spcBef>
            </a:pPr>
            <a:r>
              <a:rPr sz="1300" b="1">
                <a:solidFill>
                  <a:srgbClr val="1B5E20"/>
                </a:solidFill>
                <a:latin typeface="Calibri"/>
              </a:rPr>
              <a:t>RecipeDao</a:t>
            </a:r>
          </a:p>
          <a:p>
            <a:pPr algn="l">
              <a:spcBef>
                <a:spcPts val="300"/>
              </a:spcBef>
            </a:pPr>
            <a:r>
              <a:rPr sz="1100" b="0">
                <a:solidFill>
                  <a:srgbClr val="212121"/>
                </a:solidFill>
                <a:latin typeface="Calibri"/>
              </a:rPr>
              <a:t>  @Insert(onConflict = REPLACE)  insertRecipe()</a:t>
            </a:r>
          </a:p>
          <a:p>
            <a:pPr algn="l">
              <a:spcBef>
                <a:spcPts val="300"/>
              </a:spcBef>
            </a:pPr>
            <a:r>
              <a:rPr sz="1100" b="0">
                <a:solidFill>
                  <a:srgbClr val="212121"/>
                </a:solidFill>
                <a:latin typeface="Calibri"/>
              </a:rPr>
              <a:t>  @Delete  deleteRecipe()</a:t>
            </a:r>
          </a:p>
          <a:p>
            <a:pPr algn="l">
              <a:spcBef>
                <a:spcPts val="300"/>
              </a:spcBef>
            </a:pPr>
            <a:r>
              <a:rPr sz="1100" b="0">
                <a:solidFill>
                  <a:srgbClr val="212121"/>
                </a:solidFill>
                <a:latin typeface="Calibri"/>
              </a:rPr>
              <a:t>  @Query  getAllRecipes() : LiveData&lt;List&lt;SavedRecipe&gt;&gt;</a:t>
            </a:r>
          </a:p>
          <a:p>
            <a:pPr algn="l">
              <a:spcBef>
                <a:spcPts val="300"/>
              </a:spcBef>
            </a:pPr>
            <a:endParaRPr sz="1100" b="0">
              <a:solidFill>
                <a:srgbClr val="212121"/>
              </a:solidFill>
              <a:latin typeface="Calibri"/>
            </a:endParaRPr>
          </a:p>
          <a:p>
            <a:pPr algn="l">
              <a:spcBef>
                <a:spcPts val="300"/>
              </a:spcBef>
            </a:pPr>
            <a:r>
              <a:rPr sz="1300" b="1">
                <a:solidFill>
                  <a:srgbClr val="1B5E20"/>
                </a:solidFill>
                <a:latin typeface="Calibri"/>
              </a:rPr>
              <a:t>RecipeConverter</a:t>
            </a:r>
          </a:p>
          <a:p>
            <a:pPr algn="l">
              <a:spcBef>
                <a:spcPts val="300"/>
              </a:spcBef>
            </a:pPr>
            <a:r>
              <a:rPr sz="1100" b="0">
                <a:solidFill>
                  <a:srgbClr val="212121"/>
                </a:solidFill>
                <a:latin typeface="Calibri"/>
              </a:rPr>
              <a:t>  ingredientsJson &lt;-&gt; List&lt;String&gt; via Gson</a:t>
            </a:r>
          </a:p>
          <a:p>
            <a:pPr algn="l">
              <a:spcBef>
                <a:spcPts val="300"/>
              </a:spcBef>
            </a:pPr>
            <a:r>
              <a:rPr sz="1100" b="0">
                <a:solidFill>
                  <a:srgbClr val="212121"/>
                </a:solidFill>
                <a:latin typeface="Calibri"/>
              </a:rPr>
              <a:t>  stepsJson &lt;-&gt; List&lt;String&gt; via Gson</a:t>
            </a:r>
          </a:p>
          <a:p>
            <a:pPr algn="l">
              <a:spcBef>
                <a:spcPts val="300"/>
              </a:spcBef>
            </a:pPr>
            <a:endParaRPr sz="1100" b="0">
              <a:solidFill>
                <a:srgbClr val="212121"/>
              </a:solidFill>
              <a:latin typeface="Calibri"/>
            </a:endParaRPr>
          </a:p>
          <a:p>
            <a:pPr algn="l">
              <a:spcBef>
                <a:spcPts val="300"/>
              </a:spcBef>
            </a:pPr>
            <a:r>
              <a:rPr sz="1300" b="1">
                <a:solidFill>
                  <a:srgbClr val="1B5E20"/>
                </a:solidFill>
                <a:latin typeface="Calibri"/>
              </a:rPr>
              <a:t>AppDatabase</a:t>
            </a:r>
          </a:p>
          <a:p>
            <a:pPr algn="l">
              <a:spcBef>
                <a:spcPts val="300"/>
              </a:spcBef>
            </a:pPr>
            <a:r>
              <a:rPr sz="1100" b="0">
                <a:solidFill>
                  <a:srgbClr val="212121"/>
                </a:solidFill>
                <a:latin typeface="Calibri"/>
              </a:rPr>
              <a:t>  Singleton via getInstance(context)</a:t>
            </a:r>
          </a:p>
          <a:p>
            <a:pPr algn="l">
              <a:spcBef>
                <a:spcPts val="300"/>
              </a:spcBef>
            </a:pPr>
            <a:r>
              <a:rPr sz="1100" b="0">
                <a:solidFill>
                  <a:srgbClr val="212121"/>
                </a:solidFill>
                <a:latin typeface="Calibri"/>
              </a:rPr>
              <a:t>  fallbackToDestructiveMigration for dev builds</a:t>
            </a:r>
          </a:p>
          <a:p>
            <a:pPr algn="l">
              <a:spcBef>
                <a:spcPts val="300"/>
              </a:spcBef>
            </a:pPr>
            <a:endParaRPr sz="1100" b="0">
              <a:solidFill>
                <a:srgbClr val="212121"/>
              </a:solidFill>
              <a:latin typeface="Calibri"/>
            </a:endParaRPr>
          </a:p>
          <a:p>
            <a:pPr algn="l">
              <a:spcBef>
                <a:spcPts val="300"/>
              </a:spcBef>
            </a:pPr>
            <a:r>
              <a:rPr sz="1300" b="1">
                <a:solidFill>
                  <a:srgbClr val="1B5E20"/>
                </a:solidFill>
                <a:latin typeface="Calibri"/>
              </a:rPr>
              <a:t>Recently Saved Strip</a:t>
            </a:r>
          </a:p>
          <a:p>
            <a:pPr algn="l">
              <a:spcBef>
                <a:spcPts val="300"/>
              </a:spcBef>
            </a:pPr>
            <a:r>
              <a:rPr sz="1100" b="0">
                <a:solidFill>
                  <a:srgbClr val="212121"/>
                </a:solidFill>
                <a:latin typeface="Calibri"/>
              </a:rPr>
              <a:t>  MainActivity shows last 3 saved recipes via LiveData</a:t>
            </a:r>
          </a:p>
          <a:p>
            <a:pPr algn="l">
              <a:spcBef>
                <a:spcPts val="300"/>
              </a:spcBef>
            </a:pPr>
            <a:r>
              <a:rPr sz="1100" b="0">
                <a:solidFill>
                  <a:srgbClr val="212121"/>
                </a:solidFill>
                <a:latin typeface="Calibri"/>
              </a:rPr>
              <a:t>  Time-based greeting (Morning / Afternoon / Evening)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91440"/>
            <a:ext cx="10972800" cy="658368"/>
          </a:xfrm>
          <a:prstGeom prst="rect">
            <a:avLst/>
          </a:prstGeom>
          <a:noFill/>
        </p:spPr>
        <p:txBody>
          <a:bodyPr wrap="square">
            <a:spAutoFit/>
          </a:bodyPr>
          <a:lstStyle/>
          <a:p>
            <a:pPr algn="l"/>
            <a:r>
              <a:rPr sz="3000" b="1" i="0">
                <a:solidFill>
                  <a:srgbClr val="FFFFFF"/>
                </a:solidFill>
                <a:latin typeface="Calibri"/>
              </a:rPr>
              <a:t>Technology Stack</a:t>
            </a:r>
          </a:p>
        </p:txBody>
      </p:sp>
      <p:sp>
        <p:nvSpPr>
          <p:cNvPr id="4" name="TextBox 3"/>
          <p:cNvSpPr txBox="1"/>
          <p:nvPr/>
        </p:nvSpPr>
        <p:spPr>
          <a:xfrm>
            <a:off x="365760" y="713232"/>
            <a:ext cx="10972800" cy="329184"/>
          </a:xfrm>
          <a:prstGeom prst="rect">
            <a:avLst/>
          </a:prstGeom>
          <a:noFill/>
        </p:spPr>
        <p:txBody>
          <a:bodyPr wrap="square">
            <a:spAutoFit/>
          </a:bodyPr>
          <a:lstStyle/>
          <a:p>
            <a:pPr algn="l"/>
            <a:r>
              <a:rPr sz="1300" b="0" i="0">
                <a:solidFill>
                  <a:srgbClr val="66BB6A"/>
                </a:solidFill>
                <a:latin typeface="Calibri"/>
              </a:rPr>
              <a:t>Libraries, APIs &amp; Tools</a:t>
            </a:r>
          </a:p>
        </p:txBody>
      </p:sp>
      <p:sp>
        <p:nvSpPr>
          <p:cNvPr id="5" name="Rectangle 4"/>
          <p:cNvSpPr/>
          <p:nvPr/>
        </p:nvSpPr>
        <p:spPr>
          <a:xfrm>
            <a:off x="0" y="1097280"/>
            <a:ext cx="12188952" cy="54864"/>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0" y="6537960"/>
            <a:ext cx="12188952" cy="32004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74320" y="6556248"/>
            <a:ext cx="11430000" cy="256032"/>
          </a:xfrm>
          <a:prstGeom prst="rect">
            <a:avLst/>
          </a:prstGeom>
          <a:noFill/>
        </p:spPr>
        <p:txBody>
          <a:bodyPr wrap="square">
            <a:spAutoFit/>
          </a:bodyPr>
          <a:lstStyle/>
          <a:p>
            <a:pPr algn="l"/>
            <a:r>
              <a:rPr sz="1000" b="0" i="0">
                <a:solidFill>
                  <a:srgbClr val="66BB6A"/>
                </a:solidFill>
                <a:latin typeface="Calibri"/>
              </a:rPr>
              <a:t>Snap &amp; Cook  |  CSD3156 Mobile and Cloud Computing  |  SIT</a:t>
            </a:r>
          </a:p>
        </p:txBody>
      </p:sp>
      <p:sp>
        <p:nvSpPr>
          <p:cNvPr id="8" name="Rectangle 7"/>
          <p:cNvSpPr/>
          <p:nvPr/>
        </p:nvSpPr>
        <p:spPr>
          <a:xfrm>
            <a:off x="365760" y="1261872"/>
            <a:ext cx="5486400" cy="2487168"/>
          </a:xfrm>
          <a:prstGeom prst="rect">
            <a:avLst/>
          </a:prstGeom>
          <a:solidFill>
            <a:srgbClr val="E8F5E9"/>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1353312"/>
            <a:ext cx="5303520" cy="402336"/>
          </a:xfrm>
          <a:prstGeom prst="rect">
            <a:avLst/>
          </a:prstGeom>
          <a:noFill/>
        </p:spPr>
        <p:txBody>
          <a:bodyPr wrap="square">
            <a:spAutoFit/>
          </a:bodyPr>
          <a:lstStyle/>
          <a:p>
            <a:pPr algn="l"/>
            <a:r>
              <a:rPr sz="1400" b="1" i="0">
                <a:solidFill>
                  <a:srgbClr val="1B5E20"/>
                </a:solidFill>
                <a:latin typeface="Calibri"/>
              </a:rPr>
              <a:t>Networking &amp; APIs</a:t>
            </a:r>
          </a:p>
        </p:txBody>
      </p:sp>
      <p:sp>
        <p:nvSpPr>
          <p:cNvPr id="10" name="Rectangle 9"/>
          <p:cNvSpPr/>
          <p:nvPr/>
        </p:nvSpPr>
        <p:spPr>
          <a:xfrm>
            <a:off x="502920" y="1792224"/>
            <a:ext cx="5212080" cy="36576"/>
          </a:xfrm>
          <a:prstGeom prst="rect">
            <a:avLst/>
          </a:prstGeom>
          <a:solidFill>
            <a:srgbClr val="66BB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8640" y="1901952"/>
            <a:ext cx="5212080" cy="320040"/>
          </a:xfrm>
          <a:prstGeom prst="rect">
            <a:avLst/>
          </a:prstGeom>
          <a:noFill/>
        </p:spPr>
        <p:txBody>
          <a:bodyPr wrap="square">
            <a:spAutoFit/>
          </a:bodyPr>
          <a:lstStyle/>
          <a:p>
            <a:pPr algn="l"/>
            <a:r>
              <a:rPr sz="1100" b="0" i="0">
                <a:solidFill>
                  <a:srgbClr val="212121"/>
                </a:solidFill>
                <a:latin typeface="Calibri"/>
              </a:rPr>
              <a:t>- Retrofit 2.11.0 + OkHttp 4.12.0 -- REST clients</a:t>
            </a:r>
          </a:p>
        </p:txBody>
      </p:sp>
      <p:sp>
        <p:nvSpPr>
          <p:cNvPr id="12" name="TextBox 11"/>
          <p:cNvSpPr txBox="1"/>
          <p:nvPr/>
        </p:nvSpPr>
        <p:spPr>
          <a:xfrm>
            <a:off x="548640" y="2221992"/>
            <a:ext cx="5212080" cy="320040"/>
          </a:xfrm>
          <a:prstGeom prst="rect">
            <a:avLst/>
          </a:prstGeom>
          <a:noFill/>
        </p:spPr>
        <p:txBody>
          <a:bodyPr wrap="square">
            <a:spAutoFit/>
          </a:bodyPr>
          <a:lstStyle/>
          <a:p>
            <a:pPr algn="l"/>
            <a:r>
              <a:rPr sz="1100" b="0" i="0">
                <a:solidFill>
                  <a:srgbClr val="212121"/>
                </a:solidFill>
                <a:latin typeface="Calibri"/>
              </a:rPr>
              <a:t>- Google Gemini 1.5 Flash -- cloud AI vision</a:t>
            </a:r>
          </a:p>
        </p:txBody>
      </p:sp>
      <p:sp>
        <p:nvSpPr>
          <p:cNvPr id="13" name="TextBox 12"/>
          <p:cNvSpPr txBox="1"/>
          <p:nvPr/>
        </p:nvSpPr>
        <p:spPr>
          <a:xfrm>
            <a:off x="548640" y="2542032"/>
            <a:ext cx="5212080" cy="320040"/>
          </a:xfrm>
          <a:prstGeom prst="rect">
            <a:avLst/>
          </a:prstGeom>
          <a:noFill/>
        </p:spPr>
        <p:txBody>
          <a:bodyPr wrap="square">
            <a:spAutoFit/>
          </a:bodyPr>
          <a:lstStyle/>
          <a:p>
            <a:pPr algn="l"/>
            <a:r>
              <a:rPr sz="1100" b="0" i="0">
                <a:solidFill>
                  <a:srgbClr val="212121"/>
                </a:solidFill>
                <a:latin typeface="Calibri"/>
              </a:rPr>
              <a:t>- Spoonacular API -- recipe search + nutrition + YouTube</a:t>
            </a:r>
          </a:p>
        </p:txBody>
      </p:sp>
      <p:sp>
        <p:nvSpPr>
          <p:cNvPr id="14" name="TextBox 13"/>
          <p:cNvSpPr txBox="1"/>
          <p:nvPr/>
        </p:nvSpPr>
        <p:spPr>
          <a:xfrm>
            <a:off x="548640" y="2862072"/>
            <a:ext cx="5212080" cy="320040"/>
          </a:xfrm>
          <a:prstGeom prst="rect">
            <a:avLst/>
          </a:prstGeom>
          <a:noFill/>
        </p:spPr>
        <p:txBody>
          <a:bodyPr wrap="square">
            <a:spAutoFit/>
          </a:bodyPr>
          <a:lstStyle/>
          <a:p>
            <a:pPr algn="l"/>
            <a:r>
              <a:rPr sz="1100" b="0" i="0">
                <a:solidFill>
                  <a:srgbClr val="212121"/>
                </a:solidFill>
                <a:latin typeface="Calibri"/>
              </a:rPr>
              <a:t>- Open Food Facts API -- barcode product lookup</a:t>
            </a:r>
          </a:p>
        </p:txBody>
      </p:sp>
      <p:sp>
        <p:nvSpPr>
          <p:cNvPr id="15" name="TextBox 14"/>
          <p:cNvSpPr txBox="1"/>
          <p:nvPr/>
        </p:nvSpPr>
        <p:spPr>
          <a:xfrm>
            <a:off x="548640" y="3182112"/>
            <a:ext cx="5212080" cy="320040"/>
          </a:xfrm>
          <a:prstGeom prst="rect">
            <a:avLst/>
          </a:prstGeom>
          <a:noFill/>
        </p:spPr>
        <p:txBody>
          <a:bodyPr wrap="square">
            <a:spAutoFit/>
          </a:bodyPr>
          <a:lstStyle/>
          <a:p>
            <a:pPr algn="l"/>
            <a:r>
              <a:rPr sz="1100" b="0" i="0">
                <a:solidFill>
                  <a:srgbClr val="212121"/>
                </a:solidFill>
                <a:latin typeface="Calibri"/>
              </a:rPr>
              <a:t>- Gson 2.11.0 -- JSON serialisation</a:t>
            </a:r>
          </a:p>
        </p:txBody>
      </p:sp>
      <p:sp>
        <p:nvSpPr>
          <p:cNvPr id="16" name="Rectangle 15"/>
          <p:cNvSpPr/>
          <p:nvPr/>
        </p:nvSpPr>
        <p:spPr>
          <a:xfrm>
            <a:off x="6327648" y="1261872"/>
            <a:ext cx="5486400" cy="2487168"/>
          </a:xfrm>
          <a:prstGeom prst="rect">
            <a:avLst/>
          </a:prstGeom>
          <a:solidFill>
            <a:srgbClr val="E8F5E9"/>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64808" y="1353312"/>
            <a:ext cx="5303520" cy="402336"/>
          </a:xfrm>
          <a:prstGeom prst="rect">
            <a:avLst/>
          </a:prstGeom>
          <a:noFill/>
        </p:spPr>
        <p:txBody>
          <a:bodyPr wrap="square">
            <a:spAutoFit/>
          </a:bodyPr>
          <a:lstStyle/>
          <a:p>
            <a:pPr algn="l"/>
            <a:r>
              <a:rPr sz="1400" b="1" i="0">
                <a:solidFill>
                  <a:srgbClr val="1B5E20"/>
                </a:solidFill>
                <a:latin typeface="Calibri"/>
              </a:rPr>
              <a:t>Data &amp; Persistence</a:t>
            </a:r>
          </a:p>
        </p:txBody>
      </p:sp>
      <p:sp>
        <p:nvSpPr>
          <p:cNvPr id="18" name="Rectangle 17"/>
          <p:cNvSpPr/>
          <p:nvPr/>
        </p:nvSpPr>
        <p:spPr>
          <a:xfrm>
            <a:off x="6464808" y="1792224"/>
            <a:ext cx="5212080" cy="36576"/>
          </a:xfrm>
          <a:prstGeom prst="rect">
            <a:avLst/>
          </a:prstGeom>
          <a:solidFill>
            <a:srgbClr val="66BB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10528" y="1901952"/>
            <a:ext cx="5212080" cy="320040"/>
          </a:xfrm>
          <a:prstGeom prst="rect">
            <a:avLst/>
          </a:prstGeom>
          <a:noFill/>
        </p:spPr>
        <p:txBody>
          <a:bodyPr wrap="square">
            <a:spAutoFit/>
          </a:bodyPr>
          <a:lstStyle/>
          <a:p>
            <a:pPr algn="l"/>
            <a:r>
              <a:rPr sz="1100" b="0" i="0">
                <a:solidFill>
                  <a:srgbClr val="212121"/>
                </a:solidFill>
                <a:latin typeface="Calibri"/>
              </a:rPr>
              <a:t>- Room 2.6.1 -- SQLite ORM</a:t>
            </a:r>
          </a:p>
        </p:txBody>
      </p:sp>
      <p:sp>
        <p:nvSpPr>
          <p:cNvPr id="20" name="TextBox 19"/>
          <p:cNvSpPr txBox="1"/>
          <p:nvPr/>
        </p:nvSpPr>
        <p:spPr>
          <a:xfrm>
            <a:off x="6510528" y="2221992"/>
            <a:ext cx="5212080" cy="320040"/>
          </a:xfrm>
          <a:prstGeom prst="rect">
            <a:avLst/>
          </a:prstGeom>
          <a:noFill/>
        </p:spPr>
        <p:txBody>
          <a:bodyPr wrap="square">
            <a:spAutoFit/>
          </a:bodyPr>
          <a:lstStyle/>
          <a:p>
            <a:pPr algn="l"/>
            <a:r>
              <a:rPr sz="1100" b="0" i="0">
                <a:solidFill>
                  <a:srgbClr val="212121"/>
                </a:solidFill>
                <a:latin typeface="Calibri"/>
              </a:rPr>
              <a:t>- Kotlin Coroutines 1.8.1 -- async I/O</a:t>
            </a:r>
          </a:p>
        </p:txBody>
      </p:sp>
      <p:sp>
        <p:nvSpPr>
          <p:cNvPr id="21" name="TextBox 20"/>
          <p:cNvSpPr txBox="1"/>
          <p:nvPr/>
        </p:nvSpPr>
        <p:spPr>
          <a:xfrm>
            <a:off x="6510528" y="2542032"/>
            <a:ext cx="5212080" cy="320040"/>
          </a:xfrm>
          <a:prstGeom prst="rect">
            <a:avLst/>
          </a:prstGeom>
          <a:noFill/>
        </p:spPr>
        <p:txBody>
          <a:bodyPr wrap="square">
            <a:spAutoFit/>
          </a:bodyPr>
          <a:lstStyle/>
          <a:p>
            <a:pPr algn="l"/>
            <a:r>
              <a:rPr sz="1100" b="0" i="0">
                <a:solidFill>
                  <a:srgbClr val="212121"/>
                </a:solidFill>
                <a:latin typeface="Calibri"/>
              </a:rPr>
              <a:t>- LiveData (AndroidX Lifecycle 2.8.7)</a:t>
            </a:r>
          </a:p>
        </p:txBody>
      </p:sp>
      <p:sp>
        <p:nvSpPr>
          <p:cNvPr id="22" name="TextBox 21"/>
          <p:cNvSpPr txBox="1"/>
          <p:nvPr/>
        </p:nvSpPr>
        <p:spPr>
          <a:xfrm>
            <a:off x="6510528" y="2862072"/>
            <a:ext cx="5212080" cy="320040"/>
          </a:xfrm>
          <a:prstGeom prst="rect">
            <a:avLst/>
          </a:prstGeom>
          <a:noFill/>
        </p:spPr>
        <p:txBody>
          <a:bodyPr wrap="square">
            <a:spAutoFit/>
          </a:bodyPr>
          <a:lstStyle/>
          <a:p>
            <a:pPr algn="l"/>
            <a:r>
              <a:rPr sz="1100" b="0" i="0">
                <a:solidFill>
                  <a:srgbClr val="212121"/>
                </a:solidFill>
                <a:latin typeface="Calibri"/>
              </a:rPr>
              <a:t>- RecipeConverter -- Gson JSON &lt;-&gt; entity</a:t>
            </a:r>
          </a:p>
        </p:txBody>
      </p:sp>
      <p:sp>
        <p:nvSpPr>
          <p:cNvPr id="23" name="Rectangle 22"/>
          <p:cNvSpPr/>
          <p:nvPr/>
        </p:nvSpPr>
        <p:spPr>
          <a:xfrm>
            <a:off x="365760" y="3840480"/>
            <a:ext cx="5486400" cy="2487168"/>
          </a:xfrm>
          <a:prstGeom prst="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02920" y="3931920"/>
            <a:ext cx="5303520" cy="402336"/>
          </a:xfrm>
          <a:prstGeom prst="rect">
            <a:avLst/>
          </a:prstGeom>
          <a:noFill/>
        </p:spPr>
        <p:txBody>
          <a:bodyPr wrap="square">
            <a:spAutoFit/>
          </a:bodyPr>
          <a:lstStyle/>
          <a:p>
            <a:pPr algn="l"/>
            <a:r>
              <a:rPr sz="1400" b="1" i="0">
                <a:solidFill>
                  <a:srgbClr val="1B5E20"/>
                </a:solidFill>
                <a:latin typeface="Calibri"/>
              </a:rPr>
              <a:t>Camera &amp; Sensors</a:t>
            </a:r>
          </a:p>
        </p:txBody>
      </p:sp>
      <p:sp>
        <p:nvSpPr>
          <p:cNvPr id="25" name="Rectangle 24"/>
          <p:cNvSpPr/>
          <p:nvPr/>
        </p:nvSpPr>
        <p:spPr>
          <a:xfrm>
            <a:off x="502920" y="4370832"/>
            <a:ext cx="5212080" cy="36576"/>
          </a:xfrm>
          <a:prstGeom prst="rect">
            <a:avLst/>
          </a:prstGeom>
          <a:solidFill>
            <a:srgbClr val="66BB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48640" y="4480560"/>
            <a:ext cx="5212080" cy="320040"/>
          </a:xfrm>
          <a:prstGeom prst="rect">
            <a:avLst/>
          </a:prstGeom>
          <a:noFill/>
        </p:spPr>
        <p:txBody>
          <a:bodyPr wrap="square">
            <a:spAutoFit/>
          </a:bodyPr>
          <a:lstStyle/>
          <a:p>
            <a:pPr algn="l"/>
            <a:r>
              <a:rPr sz="1100" b="0" i="0">
                <a:solidFill>
                  <a:srgbClr val="212121"/>
                </a:solidFill>
                <a:latin typeface="Calibri"/>
              </a:rPr>
              <a:t>- CameraX 1.4.2 -- preview, capture, orientation</a:t>
            </a:r>
          </a:p>
        </p:txBody>
      </p:sp>
      <p:sp>
        <p:nvSpPr>
          <p:cNvPr id="27" name="TextBox 26"/>
          <p:cNvSpPr txBox="1"/>
          <p:nvPr/>
        </p:nvSpPr>
        <p:spPr>
          <a:xfrm>
            <a:off x="548640" y="4800600"/>
            <a:ext cx="5212080" cy="320040"/>
          </a:xfrm>
          <a:prstGeom prst="rect">
            <a:avLst/>
          </a:prstGeom>
          <a:noFill/>
        </p:spPr>
        <p:txBody>
          <a:bodyPr wrap="square">
            <a:spAutoFit/>
          </a:bodyPr>
          <a:lstStyle/>
          <a:p>
            <a:pPr algn="l"/>
            <a:r>
              <a:rPr sz="1100" b="0" i="0">
                <a:solidFill>
                  <a:srgbClr val="212121"/>
                </a:solidFill>
                <a:latin typeface="Calibri"/>
              </a:rPr>
              <a:t>- Glide 4.16.0 -- image loading &amp; caching</a:t>
            </a:r>
          </a:p>
        </p:txBody>
      </p:sp>
      <p:sp>
        <p:nvSpPr>
          <p:cNvPr id="28" name="TextBox 27"/>
          <p:cNvSpPr txBox="1"/>
          <p:nvPr/>
        </p:nvSpPr>
        <p:spPr>
          <a:xfrm>
            <a:off x="548640" y="5120640"/>
            <a:ext cx="5212080" cy="320040"/>
          </a:xfrm>
          <a:prstGeom prst="rect">
            <a:avLst/>
          </a:prstGeom>
          <a:noFill/>
        </p:spPr>
        <p:txBody>
          <a:bodyPr wrap="square">
            <a:spAutoFit/>
          </a:bodyPr>
          <a:lstStyle/>
          <a:p>
            <a:pPr algn="l"/>
            <a:r>
              <a:rPr sz="1100" b="0" i="0">
                <a:solidFill>
                  <a:srgbClr val="212121"/>
                </a:solidFill>
                <a:latin typeface="Calibri"/>
              </a:rPr>
              <a:t>- ML Kit Code Scanner 16.1.0 -- barcode scanning</a:t>
            </a:r>
          </a:p>
        </p:txBody>
      </p:sp>
      <p:sp>
        <p:nvSpPr>
          <p:cNvPr id="29" name="TextBox 28"/>
          <p:cNvSpPr txBox="1"/>
          <p:nvPr/>
        </p:nvSpPr>
        <p:spPr>
          <a:xfrm>
            <a:off x="548640" y="5440679"/>
            <a:ext cx="5212080" cy="320040"/>
          </a:xfrm>
          <a:prstGeom prst="rect">
            <a:avLst/>
          </a:prstGeom>
          <a:noFill/>
        </p:spPr>
        <p:txBody>
          <a:bodyPr wrap="square">
            <a:spAutoFit/>
          </a:bodyPr>
          <a:lstStyle/>
          <a:p>
            <a:pPr algn="l"/>
            <a:r>
              <a:rPr sz="1100" b="0" i="0">
                <a:solidFill>
                  <a:srgbClr val="212121"/>
                </a:solidFill>
                <a:latin typeface="Calibri"/>
              </a:rPr>
              <a:t>- Android SpeechRecognizer -- voice commands</a:t>
            </a:r>
          </a:p>
        </p:txBody>
      </p:sp>
      <p:sp>
        <p:nvSpPr>
          <p:cNvPr id="30" name="TextBox 29"/>
          <p:cNvSpPr txBox="1"/>
          <p:nvPr/>
        </p:nvSpPr>
        <p:spPr>
          <a:xfrm>
            <a:off x="548640" y="5760719"/>
            <a:ext cx="5212080" cy="320040"/>
          </a:xfrm>
          <a:prstGeom prst="rect">
            <a:avLst/>
          </a:prstGeom>
          <a:noFill/>
        </p:spPr>
        <p:txBody>
          <a:bodyPr wrap="square">
            <a:spAutoFit/>
          </a:bodyPr>
          <a:lstStyle/>
          <a:p>
            <a:pPr algn="l"/>
            <a:r>
              <a:rPr sz="1100" b="0" i="0">
                <a:solidFill>
                  <a:srgbClr val="212121"/>
                </a:solidFill>
                <a:latin typeface="Calibri"/>
              </a:rPr>
              <a:t>- Android TextToSpeech -- step narration</a:t>
            </a:r>
          </a:p>
        </p:txBody>
      </p:sp>
      <p:sp>
        <p:nvSpPr>
          <p:cNvPr id="31" name="Rectangle 30"/>
          <p:cNvSpPr/>
          <p:nvPr/>
        </p:nvSpPr>
        <p:spPr>
          <a:xfrm>
            <a:off x="6327648" y="3840480"/>
            <a:ext cx="5486400" cy="2487168"/>
          </a:xfrm>
          <a:prstGeom prst="rect">
            <a:avLst/>
          </a:prstGeom>
          <a:solidFill>
            <a:srgbClr val="FFFFFF"/>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64808" y="3931920"/>
            <a:ext cx="5303520" cy="402336"/>
          </a:xfrm>
          <a:prstGeom prst="rect">
            <a:avLst/>
          </a:prstGeom>
          <a:noFill/>
        </p:spPr>
        <p:txBody>
          <a:bodyPr wrap="square">
            <a:spAutoFit/>
          </a:bodyPr>
          <a:lstStyle/>
          <a:p>
            <a:pPr algn="l"/>
            <a:r>
              <a:rPr sz="1400" b="1" i="0">
                <a:solidFill>
                  <a:srgbClr val="1B5E20"/>
                </a:solidFill>
                <a:latin typeface="Calibri"/>
              </a:rPr>
              <a:t>Architecture &amp; Build</a:t>
            </a:r>
          </a:p>
        </p:txBody>
      </p:sp>
      <p:sp>
        <p:nvSpPr>
          <p:cNvPr id="33" name="Rectangle 32"/>
          <p:cNvSpPr/>
          <p:nvPr/>
        </p:nvSpPr>
        <p:spPr>
          <a:xfrm>
            <a:off x="6464808" y="4370832"/>
            <a:ext cx="5212080" cy="36576"/>
          </a:xfrm>
          <a:prstGeom prst="rect">
            <a:avLst/>
          </a:prstGeom>
          <a:solidFill>
            <a:srgbClr val="66BB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510528" y="4480560"/>
            <a:ext cx="5212080" cy="320040"/>
          </a:xfrm>
          <a:prstGeom prst="rect">
            <a:avLst/>
          </a:prstGeom>
          <a:noFill/>
        </p:spPr>
        <p:txBody>
          <a:bodyPr wrap="square">
            <a:spAutoFit/>
          </a:bodyPr>
          <a:lstStyle/>
          <a:p>
            <a:pPr algn="l"/>
            <a:r>
              <a:rPr sz="1100" b="0" i="0">
                <a:solidFill>
                  <a:srgbClr val="212121"/>
                </a:solidFill>
                <a:latin typeface="Calibri"/>
              </a:rPr>
              <a:t>- Kotlin 2.0.21 (min SDK 26 / target SDK 35)</a:t>
            </a:r>
          </a:p>
        </p:txBody>
      </p:sp>
      <p:sp>
        <p:nvSpPr>
          <p:cNvPr id="35" name="TextBox 34"/>
          <p:cNvSpPr txBox="1"/>
          <p:nvPr/>
        </p:nvSpPr>
        <p:spPr>
          <a:xfrm>
            <a:off x="6510528" y="4800600"/>
            <a:ext cx="5212080" cy="320040"/>
          </a:xfrm>
          <a:prstGeom prst="rect">
            <a:avLst/>
          </a:prstGeom>
          <a:noFill/>
        </p:spPr>
        <p:txBody>
          <a:bodyPr wrap="square">
            <a:spAutoFit/>
          </a:bodyPr>
          <a:lstStyle/>
          <a:p>
            <a:pPr algn="l"/>
            <a:r>
              <a:rPr sz="1100" b="0" i="0">
                <a:solidFill>
                  <a:srgbClr val="212121"/>
                </a:solidFill>
                <a:latin typeface="Calibri"/>
              </a:rPr>
              <a:t>- MVVM + Repository pattern</a:t>
            </a:r>
          </a:p>
        </p:txBody>
      </p:sp>
      <p:sp>
        <p:nvSpPr>
          <p:cNvPr id="36" name="TextBox 35"/>
          <p:cNvSpPr txBox="1"/>
          <p:nvPr/>
        </p:nvSpPr>
        <p:spPr>
          <a:xfrm>
            <a:off x="6510528" y="5120640"/>
            <a:ext cx="5212080" cy="320040"/>
          </a:xfrm>
          <a:prstGeom prst="rect">
            <a:avLst/>
          </a:prstGeom>
          <a:noFill/>
        </p:spPr>
        <p:txBody>
          <a:bodyPr wrap="square">
            <a:spAutoFit/>
          </a:bodyPr>
          <a:lstStyle/>
          <a:p>
            <a:pPr algn="l"/>
            <a:r>
              <a:rPr sz="1100" b="0" i="0">
                <a:solidFill>
                  <a:srgbClr val="212121"/>
                </a:solidFill>
                <a:latin typeface="Calibri"/>
              </a:rPr>
              <a:t>- ViewBinding -- type-safe view access</a:t>
            </a:r>
          </a:p>
        </p:txBody>
      </p:sp>
      <p:sp>
        <p:nvSpPr>
          <p:cNvPr id="37" name="TextBox 36"/>
          <p:cNvSpPr txBox="1"/>
          <p:nvPr/>
        </p:nvSpPr>
        <p:spPr>
          <a:xfrm>
            <a:off x="6510528" y="5440679"/>
            <a:ext cx="5212080" cy="320040"/>
          </a:xfrm>
          <a:prstGeom prst="rect">
            <a:avLst/>
          </a:prstGeom>
          <a:noFill/>
        </p:spPr>
        <p:txBody>
          <a:bodyPr wrap="square">
            <a:spAutoFit/>
          </a:bodyPr>
          <a:lstStyle/>
          <a:p>
            <a:pPr algn="l"/>
            <a:r>
              <a:rPr sz="1100" b="0" i="0">
                <a:solidFill>
                  <a:srgbClr val="212121"/>
                </a:solidFill>
                <a:latin typeface="Calibri"/>
              </a:rPr>
              <a:t>- Material Design 3 1.12.0</a:t>
            </a:r>
          </a:p>
        </p:txBody>
      </p:sp>
      <p:sp>
        <p:nvSpPr>
          <p:cNvPr id="38" name="TextBox 37"/>
          <p:cNvSpPr txBox="1"/>
          <p:nvPr/>
        </p:nvSpPr>
        <p:spPr>
          <a:xfrm>
            <a:off x="6510528" y="5760719"/>
            <a:ext cx="5212080" cy="320040"/>
          </a:xfrm>
          <a:prstGeom prst="rect">
            <a:avLst/>
          </a:prstGeom>
          <a:noFill/>
        </p:spPr>
        <p:txBody>
          <a:bodyPr wrap="square">
            <a:spAutoFit/>
          </a:bodyPr>
          <a:lstStyle/>
          <a:p>
            <a:pPr algn="l"/>
            <a:r>
              <a:rPr sz="1100" b="0" i="0">
                <a:solidFill>
                  <a:srgbClr val="212121"/>
                </a:solidFill>
                <a:latin typeface="Calibri"/>
              </a:rPr>
              <a:t>- Android Gradle Plugin 8.13.2 (Kotlin DSL)</a:t>
            </a:r>
          </a:p>
        </p:txBody>
      </p:sp>
      <p:sp>
        <p:nvSpPr>
          <p:cNvPr id="39" name="TextBox 38"/>
          <p:cNvSpPr txBox="1"/>
          <p:nvPr/>
        </p:nvSpPr>
        <p:spPr>
          <a:xfrm>
            <a:off x="6510528" y="6080759"/>
            <a:ext cx="5212080" cy="320040"/>
          </a:xfrm>
          <a:prstGeom prst="rect">
            <a:avLst/>
          </a:prstGeom>
          <a:noFill/>
        </p:spPr>
        <p:txBody>
          <a:bodyPr wrap="square">
            <a:spAutoFit/>
          </a:bodyPr>
          <a:lstStyle/>
          <a:p>
            <a:pPr algn="l"/>
            <a:r>
              <a:rPr sz="1100" b="0" i="0">
                <a:solidFill>
                  <a:srgbClr val="212121"/>
                </a:solidFill>
                <a:latin typeface="Calibri"/>
              </a:rPr>
              <a:t>- Dark mode via values-night + dynamic colour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91440"/>
            <a:ext cx="10972800" cy="658368"/>
          </a:xfrm>
          <a:prstGeom prst="rect">
            <a:avLst/>
          </a:prstGeom>
          <a:noFill/>
        </p:spPr>
        <p:txBody>
          <a:bodyPr wrap="square">
            <a:spAutoFit/>
          </a:bodyPr>
          <a:lstStyle/>
          <a:p>
            <a:pPr algn="l"/>
            <a:r>
              <a:rPr sz="3000" b="1" i="0">
                <a:solidFill>
                  <a:srgbClr val="FFFFFF"/>
                </a:solidFill>
                <a:latin typeface="Calibri"/>
              </a:rPr>
              <a:t>Challenges &amp; Solutions</a:t>
            </a:r>
          </a:p>
        </p:txBody>
      </p:sp>
      <p:sp>
        <p:nvSpPr>
          <p:cNvPr id="4" name="Rectangle 3"/>
          <p:cNvSpPr/>
          <p:nvPr/>
        </p:nvSpPr>
        <p:spPr>
          <a:xfrm>
            <a:off x="0" y="1097280"/>
            <a:ext cx="12188952" cy="54864"/>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6537960"/>
            <a:ext cx="12188952" cy="32004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56248"/>
            <a:ext cx="11430000" cy="256032"/>
          </a:xfrm>
          <a:prstGeom prst="rect">
            <a:avLst/>
          </a:prstGeom>
          <a:noFill/>
        </p:spPr>
        <p:txBody>
          <a:bodyPr wrap="square">
            <a:spAutoFit/>
          </a:bodyPr>
          <a:lstStyle/>
          <a:p>
            <a:pPr algn="l"/>
            <a:r>
              <a:rPr sz="1000" b="0" i="0">
                <a:solidFill>
                  <a:srgbClr val="66BB6A"/>
                </a:solidFill>
                <a:latin typeface="Calibri"/>
              </a:rPr>
              <a:t>Snap &amp; Cook  |  CSD3156 Mobile and Cloud Computing  |  SIT</a:t>
            </a:r>
          </a:p>
        </p:txBody>
      </p:sp>
      <p:sp>
        <p:nvSpPr>
          <p:cNvPr id="7" name="Rectangle 6"/>
          <p:cNvSpPr/>
          <p:nvPr/>
        </p:nvSpPr>
        <p:spPr>
          <a:xfrm>
            <a:off x="365760" y="1280160"/>
            <a:ext cx="310896" cy="118872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5760" y="1600200"/>
            <a:ext cx="310896" cy="457200"/>
          </a:xfrm>
          <a:prstGeom prst="rect">
            <a:avLst/>
          </a:prstGeom>
          <a:noFill/>
        </p:spPr>
        <p:txBody>
          <a:bodyPr wrap="square">
            <a:spAutoFit/>
          </a:bodyPr>
          <a:lstStyle/>
          <a:p>
            <a:pPr algn="ctr"/>
            <a:r>
              <a:rPr sz="1800" b="1" i="0">
                <a:solidFill>
                  <a:srgbClr val="FFFFFF"/>
                </a:solidFill>
                <a:latin typeface="Calibri"/>
              </a:rPr>
              <a:t>1</a:t>
            </a:r>
          </a:p>
        </p:txBody>
      </p:sp>
      <p:sp>
        <p:nvSpPr>
          <p:cNvPr id="9" name="Rectangle 8"/>
          <p:cNvSpPr/>
          <p:nvPr/>
        </p:nvSpPr>
        <p:spPr>
          <a:xfrm>
            <a:off x="704088" y="1280160"/>
            <a:ext cx="5029200" cy="1188720"/>
          </a:xfrm>
          <a:prstGeom prst="rect">
            <a:avLst/>
          </a:prstGeom>
          <a:solidFill>
            <a:srgbClr val="FFEBEE"/>
          </a:solidFill>
          <a:ln w="12700">
            <a:solidFill>
              <a:srgbClr val="EF9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6968" y="1335024"/>
            <a:ext cx="4663440" cy="329184"/>
          </a:xfrm>
          <a:prstGeom prst="rect">
            <a:avLst/>
          </a:prstGeom>
          <a:noFill/>
        </p:spPr>
        <p:txBody>
          <a:bodyPr wrap="square">
            <a:spAutoFit/>
          </a:bodyPr>
          <a:lstStyle/>
          <a:p>
            <a:pPr algn="l"/>
            <a:r>
              <a:rPr sz="1300" b="1" i="0">
                <a:solidFill>
                  <a:srgbClr val="C62828"/>
                </a:solidFill>
                <a:latin typeface="Calibri"/>
              </a:rPr>
              <a:t>API Quota Exhaustion</a:t>
            </a:r>
          </a:p>
        </p:txBody>
      </p:sp>
      <p:sp>
        <p:nvSpPr>
          <p:cNvPr id="11" name="TextBox 10"/>
          <p:cNvSpPr txBox="1"/>
          <p:nvPr/>
        </p:nvSpPr>
        <p:spPr>
          <a:xfrm>
            <a:off x="886968" y="1664207"/>
            <a:ext cx="4663440" cy="694944"/>
          </a:xfrm>
          <a:prstGeom prst="rect">
            <a:avLst/>
          </a:prstGeom>
          <a:noFill/>
        </p:spPr>
        <p:txBody>
          <a:bodyPr wrap="square">
            <a:spAutoFit/>
          </a:bodyPr>
          <a:lstStyle/>
          <a:p>
            <a:pPr algn="l"/>
            <a:r>
              <a:rPr sz="1100" b="0" i="0">
                <a:solidFill>
                  <a:srgbClr val="212121"/>
                </a:solidFill>
                <a:latin typeface="Calibri"/>
              </a:rPr>
              <a:t>Spoonacular free-tier hits daily limit mid-session with no warning.</a:t>
            </a:r>
          </a:p>
        </p:txBody>
      </p:sp>
      <p:sp>
        <p:nvSpPr>
          <p:cNvPr id="12" name="TextBox 11"/>
          <p:cNvSpPr txBox="1"/>
          <p:nvPr/>
        </p:nvSpPr>
        <p:spPr>
          <a:xfrm>
            <a:off x="5833872" y="1645919"/>
            <a:ext cx="457200" cy="457200"/>
          </a:xfrm>
          <a:prstGeom prst="rect">
            <a:avLst/>
          </a:prstGeom>
          <a:noFill/>
        </p:spPr>
        <p:txBody>
          <a:bodyPr wrap="square">
            <a:spAutoFit/>
          </a:bodyPr>
          <a:lstStyle/>
          <a:p>
            <a:pPr algn="ctr"/>
            <a:r>
              <a:rPr sz="2200" b="1" i="0">
                <a:solidFill>
                  <a:srgbClr val="2E7D32"/>
                </a:solidFill>
                <a:latin typeface="Calibri"/>
              </a:rPr>
              <a:t>-&gt;</a:t>
            </a:r>
          </a:p>
        </p:txBody>
      </p:sp>
      <p:sp>
        <p:nvSpPr>
          <p:cNvPr id="13" name="Rectangle 12"/>
          <p:cNvSpPr/>
          <p:nvPr/>
        </p:nvSpPr>
        <p:spPr>
          <a:xfrm>
            <a:off x="6355080" y="1280160"/>
            <a:ext cx="5486400" cy="1188720"/>
          </a:xfrm>
          <a:prstGeom prst="rect">
            <a:avLst/>
          </a:prstGeom>
          <a:solidFill>
            <a:srgbClr val="E8F5E9"/>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0" y="1371600"/>
            <a:ext cx="5212080" cy="1005840"/>
          </a:xfrm>
          <a:prstGeom prst="rect">
            <a:avLst/>
          </a:prstGeom>
          <a:noFill/>
        </p:spPr>
        <p:txBody>
          <a:bodyPr wrap="square">
            <a:spAutoFit/>
          </a:bodyPr>
          <a:lstStyle/>
          <a:p>
            <a:pPr algn="l"/>
            <a:r>
              <a:rPr sz="1100" b="0" i="0">
                <a:solidFill>
                  <a:srgbClr val="212121"/>
                </a:solidFill>
                <a:latin typeface="Calibri"/>
              </a:rPr>
              <a:t>SpoonacularKeyManager pools multiple keys. withKeyRotation() catches HTTP 402, marks key exhausted, retries transparently -- user sees no failure.</a:t>
            </a:r>
          </a:p>
        </p:txBody>
      </p:sp>
      <p:sp>
        <p:nvSpPr>
          <p:cNvPr id="15" name="Rectangle 14"/>
          <p:cNvSpPr/>
          <p:nvPr/>
        </p:nvSpPr>
        <p:spPr>
          <a:xfrm>
            <a:off x="365760" y="2578608"/>
            <a:ext cx="310896" cy="118872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65760" y="2898648"/>
            <a:ext cx="310896" cy="457200"/>
          </a:xfrm>
          <a:prstGeom prst="rect">
            <a:avLst/>
          </a:prstGeom>
          <a:noFill/>
        </p:spPr>
        <p:txBody>
          <a:bodyPr wrap="square">
            <a:spAutoFit/>
          </a:bodyPr>
          <a:lstStyle/>
          <a:p>
            <a:pPr algn="ctr"/>
            <a:r>
              <a:rPr sz="1800" b="1" i="0">
                <a:solidFill>
                  <a:srgbClr val="FFFFFF"/>
                </a:solidFill>
                <a:latin typeface="Calibri"/>
              </a:rPr>
              <a:t>2</a:t>
            </a:r>
          </a:p>
        </p:txBody>
      </p:sp>
      <p:sp>
        <p:nvSpPr>
          <p:cNvPr id="17" name="Rectangle 16"/>
          <p:cNvSpPr/>
          <p:nvPr/>
        </p:nvSpPr>
        <p:spPr>
          <a:xfrm>
            <a:off x="704088" y="2578608"/>
            <a:ext cx="5029200" cy="1188720"/>
          </a:xfrm>
          <a:prstGeom prst="rect">
            <a:avLst/>
          </a:prstGeom>
          <a:solidFill>
            <a:srgbClr val="FFEBEE"/>
          </a:solidFill>
          <a:ln w="12700">
            <a:solidFill>
              <a:srgbClr val="EF9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86968" y="2633472"/>
            <a:ext cx="4663440" cy="329184"/>
          </a:xfrm>
          <a:prstGeom prst="rect">
            <a:avLst/>
          </a:prstGeom>
          <a:noFill/>
        </p:spPr>
        <p:txBody>
          <a:bodyPr wrap="square">
            <a:spAutoFit/>
          </a:bodyPr>
          <a:lstStyle/>
          <a:p>
            <a:pPr algn="l"/>
            <a:r>
              <a:rPr sz="1300" b="1" i="0">
                <a:solidFill>
                  <a:srgbClr val="C62828"/>
                </a:solidFill>
                <a:latin typeface="Calibri"/>
              </a:rPr>
              <a:t>Image Size &amp; OOM Risk</a:t>
            </a:r>
          </a:p>
        </p:txBody>
      </p:sp>
      <p:sp>
        <p:nvSpPr>
          <p:cNvPr id="19" name="TextBox 18"/>
          <p:cNvSpPr txBox="1"/>
          <p:nvPr/>
        </p:nvSpPr>
        <p:spPr>
          <a:xfrm>
            <a:off x="886968" y="2962656"/>
            <a:ext cx="4663440" cy="694944"/>
          </a:xfrm>
          <a:prstGeom prst="rect">
            <a:avLst/>
          </a:prstGeom>
          <a:noFill/>
        </p:spPr>
        <p:txBody>
          <a:bodyPr wrap="square">
            <a:spAutoFit/>
          </a:bodyPr>
          <a:lstStyle/>
          <a:p>
            <a:pPr algn="l"/>
            <a:r>
              <a:rPr sz="1100" b="0" i="0">
                <a:solidFill>
                  <a:srgbClr val="212121"/>
                </a:solidFill>
                <a:latin typeface="Calibri"/>
              </a:rPr>
              <a:t>High-res camera photos cause OutOfMemoryError when base64-encoding for Gemini.</a:t>
            </a:r>
          </a:p>
        </p:txBody>
      </p:sp>
      <p:sp>
        <p:nvSpPr>
          <p:cNvPr id="20" name="TextBox 19"/>
          <p:cNvSpPr txBox="1"/>
          <p:nvPr/>
        </p:nvSpPr>
        <p:spPr>
          <a:xfrm>
            <a:off x="5833872" y="2944368"/>
            <a:ext cx="457200" cy="457200"/>
          </a:xfrm>
          <a:prstGeom prst="rect">
            <a:avLst/>
          </a:prstGeom>
          <a:noFill/>
        </p:spPr>
        <p:txBody>
          <a:bodyPr wrap="square">
            <a:spAutoFit/>
          </a:bodyPr>
          <a:lstStyle/>
          <a:p>
            <a:pPr algn="ctr"/>
            <a:r>
              <a:rPr sz="2200" b="1" i="0">
                <a:solidFill>
                  <a:srgbClr val="2E7D32"/>
                </a:solidFill>
                <a:latin typeface="Calibri"/>
              </a:rPr>
              <a:t>-&gt;</a:t>
            </a:r>
          </a:p>
        </p:txBody>
      </p:sp>
      <p:sp>
        <p:nvSpPr>
          <p:cNvPr id="21" name="Rectangle 20"/>
          <p:cNvSpPr/>
          <p:nvPr/>
        </p:nvSpPr>
        <p:spPr>
          <a:xfrm>
            <a:off x="6355080" y="2578608"/>
            <a:ext cx="5486400" cy="1188720"/>
          </a:xfrm>
          <a:prstGeom prst="rect">
            <a:avLst/>
          </a:prstGeom>
          <a:solidFill>
            <a:srgbClr val="E8F5E9"/>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492240" y="2670048"/>
            <a:ext cx="5212080" cy="1005840"/>
          </a:xfrm>
          <a:prstGeom prst="rect">
            <a:avLst/>
          </a:prstGeom>
          <a:noFill/>
        </p:spPr>
        <p:txBody>
          <a:bodyPr wrap="square">
            <a:spAutoFit/>
          </a:bodyPr>
          <a:lstStyle/>
          <a:p>
            <a:pPr algn="l"/>
            <a:r>
              <a:rPr sz="1100" b="0" i="0">
                <a:solidFill>
                  <a:srgbClr val="212121"/>
                </a:solidFill>
                <a:latin typeface="Calibri"/>
              </a:rPr>
              <a:t>IngredientDetector compresses all bitmaps to JPEG quality 85 before encoding, reducing payload ~10x with no measurable accuracy loss.</a:t>
            </a:r>
          </a:p>
        </p:txBody>
      </p:sp>
      <p:sp>
        <p:nvSpPr>
          <p:cNvPr id="23" name="Rectangle 22"/>
          <p:cNvSpPr/>
          <p:nvPr/>
        </p:nvSpPr>
        <p:spPr>
          <a:xfrm>
            <a:off x="365760" y="3877056"/>
            <a:ext cx="310896" cy="118872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65760" y="4197096"/>
            <a:ext cx="310896" cy="457200"/>
          </a:xfrm>
          <a:prstGeom prst="rect">
            <a:avLst/>
          </a:prstGeom>
          <a:noFill/>
        </p:spPr>
        <p:txBody>
          <a:bodyPr wrap="square">
            <a:spAutoFit/>
          </a:bodyPr>
          <a:lstStyle/>
          <a:p>
            <a:pPr algn="ctr"/>
            <a:r>
              <a:rPr sz="1800" b="1" i="0">
                <a:solidFill>
                  <a:srgbClr val="FFFFFF"/>
                </a:solidFill>
                <a:latin typeface="Calibri"/>
              </a:rPr>
              <a:t>3</a:t>
            </a:r>
          </a:p>
        </p:txBody>
      </p:sp>
      <p:sp>
        <p:nvSpPr>
          <p:cNvPr id="25" name="Rectangle 24"/>
          <p:cNvSpPr/>
          <p:nvPr/>
        </p:nvSpPr>
        <p:spPr>
          <a:xfrm>
            <a:off x="704088" y="3877056"/>
            <a:ext cx="5029200" cy="1188720"/>
          </a:xfrm>
          <a:prstGeom prst="rect">
            <a:avLst/>
          </a:prstGeom>
          <a:solidFill>
            <a:srgbClr val="FFEBEE"/>
          </a:solidFill>
          <a:ln w="12700">
            <a:solidFill>
              <a:srgbClr val="EF9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86968" y="3931920"/>
            <a:ext cx="4663440" cy="329184"/>
          </a:xfrm>
          <a:prstGeom prst="rect">
            <a:avLst/>
          </a:prstGeom>
          <a:noFill/>
        </p:spPr>
        <p:txBody>
          <a:bodyPr wrap="square">
            <a:spAutoFit/>
          </a:bodyPr>
          <a:lstStyle/>
          <a:p>
            <a:pPr algn="l"/>
            <a:r>
              <a:rPr sz="1300" b="1" i="0">
                <a:solidFill>
                  <a:srgbClr val="C62828"/>
                </a:solidFill>
                <a:latin typeface="Calibri"/>
              </a:rPr>
              <a:t>TTS and Microphone Interleave</a:t>
            </a:r>
          </a:p>
        </p:txBody>
      </p:sp>
      <p:sp>
        <p:nvSpPr>
          <p:cNvPr id="27" name="TextBox 26"/>
          <p:cNvSpPr txBox="1"/>
          <p:nvPr/>
        </p:nvSpPr>
        <p:spPr>
          <a:xfrm>
            <a:off x="886968" y="4261104"/>
            <a:ext cx="4663440" cy="694944"/>
          </a:xfrm>
          <a:prstGeom prst="rect">
            <a:avLst/>
          </a:prstGeom>
          <a:noFill/>
        </p:spPr>
        <p:txBody>
          <a:bodyPr wrap="square">
            <a:spAutoFit/>
          </a:bodyPr>
          <a:lstStyle/>
          <a:p>
            <a:pPr algn="l"/>
            <a:r>
              <a:rPr sz="1100" b="0" i="0">
                <a:solidFill>
                  <a:srgbClr val="212121"/>
                </a:solidFill>
                <a:latin typeface="Calibri"/>
              </a:rPr>
              <a:t>Microphone and TTS must co-exist smoothly -- overlap causes dropped commands.</a:t>
            </a:r>
          </a:p>
        </p:txBody>
      </p:sp>
      <p:sp>
        <p:nvSpPr>
          <p:cNvPr id="28" name="TextBox 27"/>
          <p:cNvSpPr txBox="1"/>
          <p:nvPr/>
        </p:nvSpPr>
        <p:spPr>
          <a:xfrm>
            <a:off x="5833872" y="4242816"/>
            <a:ext cx="457200" cy="457200"/>
          </a:xfrm>
          <a:prstGeom prst="rect">
            <a:avLst/>
          </a:prstGeom>
          <a:noFill/>
        </p:spPr>
        <p:txBody>
          <a:bodyPr wrap="square">
            <a:spAutoFit/>
          </a:bodyPr>
          <a:lstStyle/>
          <a:p>
            <a:pPr algn="ctr"/>
            <a:r>
              <a:rPr sz="2200" b="1" i="0">
                <a:solidFill>
                  <a:srgbClr val="2E7D32"/>
                </a:solidFill>
                <a:latin typeface="Calibri"/>
              </a:rPr>
              <a:t>-&gt;</a:t>
            </a:r>
          </a:p>
        </p:txBody>
      </p:sp>
      <p:sp>
        <p:nvSpPr>
          <p:cNvPr id="29" name="Rectangle 28"/>
          <p:cNvSpPr/>
          <p:nvPr/>
        </p:nvSpPr>
        <p:spPr>
          <a:xfrm>
            <a:off x="6355080" y="3877056"/>
            <a:ext cx="5486400" cy="1188720"/>
          </a:xfrm>
          <a:prstGeom prst="rect">
            <a:avLst/>
          </a:prstGeom>
          <a:solidFill>
            <a:srgbClr val="E8F5E9"/>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492240" y="3968496"/>
            <a:ext cx="5212080" cy="1005840"/>
          </a:xfrm>
          <a:prstGeom prst="rect">
            <a:avLst/>
          </a:prstGeom>
          <a:noFill/>
        </p:spPr>
        <p:txBody>
          <a:bodyPr wrap="square">
            <a:spAutoFit/>
          </a:bodyPr>
          <a:lstStyle/>
          <a:p>
            <a:pPr algn="l"/>
            <a:r>
              <a:rPr sz="1100" b="0" i="0">
                <a:solidFill>
                  <a:srgbClr val="212121"/>
                </a:solidFill>
                <a:latin typeface="Calibri"/>
              </a:rPr>
              <a:t>UtteranceProgressListener triggers microphone 300 ms after TTS finishes. Both can run concurrently; ERROR_RECOGNIZER_BUSY retried after 500 ms.</a:t>
            </a:r>
          </a:p>
        </p:txBody>
      </p:sp>
      <p:sp>
        <p:nvSpPr>
          <p:cNvPr id="31" name="Rectangle 30"/>
          <p:cNvSpPr/>
          <p:nvPr/>
        </p:nvSpPr>
        <p:spPr>
          <a:xfrm>
            <a:off x="365760" y="5175504"/>
            <a:ext cx="310896" cy="118872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65760" y="5495544"/>
            <a:ext cx="310896" cy="457200"/>
          </a:xfrm>
          <a:prstGeom prst="rect">
            <a:avLst/>
          </a:prstGeom>
          <a:noFill/>
        </p:spPr>
        <p:txBody>
          <a:bodyPr wrap="square">
            <a:spAutoFit/>
          </a:bodyPr>
          <a:lstStyle/>
          <a:p>
            <a:pPr algn="ctr"/>
            <a:r>
              <a:rPr sz="1800" b="1" i="0">
                <a:solidFill>
                  <a:srgbClr val="FFFFFF"/>
                </a:solidFill>
                <a:latin typeface="Calibri"/>
              </a:rPr>
              <a:t>4</a:t>
            </a:r>
          </a:p>
        </p:txBody>
      </p:sp>
      <p:sp>
        <p:nvSpPr>
          <p:cNvPr id="33" name="Rectangle 32"/>
          <p:cNvSpPr/>
          <p:nvPr/>
        </p:nvSpPr>
        <p:spPr>
          <a:xfrm>
            <a:off x="704088" y="5175504"/>
            <a:ext cx="5029200" cy="1188720"/>
          </a:xfrm>
          <a:prstGeom prst="rect">
            <a:avLst/>
          </a:prstGeom>
          <a:solidFill>
            <a:srgbClr val="FFEBEE"/>
          </a:solidFill>
          <a:ln w="12700">
            <a:solidFill>
              <a:srgbClr val="EF9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86968" y="5230368"/>
            <a:ext cx="4663440" cy="329184"/>
          </a:xfrm>
          <a:prstGeom prst="rect">
            <a:avLst/>
          </a:prstGeom>
          <a:noFill/>
        </p:spPr>
        <p:txBody>
          <a:bodyPr wrap="square">
            <a:spAutoFit/>
          </a:bodyPr>
          <a:lstStyle/>
          <a:p>
            <a:pPr algn="l"/>
            <a:r>
              <a:rPr sz="1300" b="1" i="0">
                <a:solidFill>
                  <a:srgbClr val="C62828"/>
                </a:solidFill>
                <a:latin typeface="Calibri"/>
              </a:rPr>
              <a:t>Voice Recognition in Noisy Kitchen</a:t>
            </a:r>
          </a:p>
        </p:txBody>
      </p:sp>
      <p:sp>
        <p:nvSpPr>
          <p:cNvPr id="35" name="TextBox 34"/>
          <p:cNvSpPr txBox="1"/>
          <p:nvPr/>
        </p:nvSpPr>
        <p:spPr>
          <a:xfrm>
            <a:off x="886968" y="5559552"/>
            <a:ext cx="4663440" cy="694944"/>
          </a:xfrm>
          <a:prstGeom prst="rect">
            <a:avLst/>
          </a:prstGeom>
          <a:noFill/>
        </p:spPr>
        <p:txBody>
          <a:bodyPr wrap="square">
            <a:spAutoFit/>
          </a:bodyPr>
          <a:lstStyle/>
          <a:p>
            <a:pPr algn="l"/>
            <a:r>
              <a:rPr sz="1100" b="0" i="0">
                <a:solidFill>
                  <a:srgbClr val="212121"/>
                </a:solidFill>
                <a:latin typeface="Calibri"/>
              </a:rPr>
              <a:t>Short commands like 'next' are mis-heard in noisy environments.</a:t>
            </a:r>
          </a:p>
        </p:txBody>
      </p:sp>
      <p:sp>
        <p:nvSpPr>
          <p:cNvPr id="36" name="TextBox 35"/>
          <p:cNvSpPr txBox="1"/>
          <p:nvPr/>
        </p:nvSpPr>
        <p:spPr>
          <a:xfrm>
            <a:off x="5833872" y="5541264"/>
            <a:ext cx="457200" cy="457200"/>
          </a:xfrm>
          <a:prstGeom prst="rect">
            <a:avLst/>
          </a:prstGeom>
          <a:noFill/>
        </p:spPr>
        <p:txBody>
          <a:bodyPr wrap="square">
            <a:spAutoFit/>
          </a:bodyPr>
          <a:lstStyle/>
          <a:p>
            <a:pPr algn="ctr"/>
            <a:r>
              <a:rPr sz="2200" b="1" i="0">
                <a:solidFill>
                  <a:srgbClr val="2E7D32"/>
                </a:solidFill>
                <a:latin typeface="Calibri"/>
              </a:rPr>
              <a:t>-&gt;</a:t>
            </a:r>
          </a:p>
        </p:txBody>
      </p:sp>
      <p:sp>
        <p:nvSpPr>
          <p:cNvPr id="37" name="Rectangle 36"/>
          <p:cNvSpPr/>
          <p:nvPr/>
        </p:nvSpPr>
        <p:spPr>
          <a:xfrm>
            <a:off x="6355080" y="5175504"/>
            <a:ext cx="5486400" cy="1188720"/>
          </a:xfrm>
          <a:prstGeom prst="rect">
            <a:avLst/>
          </a:prstGeom>
          <a:solidFill>
            <a:srgbClr val="E8F5E9"/>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492240" y="5266944"/>
            <a:ext cx="5212080" cy="1005840"/>
          </a:xfrm>
          <a:prstGeom prst="rect">
            <a:avLst/>
          </a:prstGeom>
          <a:noFill/>
        </p:spPr>
        <p:txBody>
          <a:bodyPr wrap="square">
            <a:spAutoFit/>
          </a:bodyPr>
          <a:lstStyle/>
          <a:p>
            <a:pPr algn="l"/>
            <a:r>
              <a:rPr sz="1100" b="0" i="0">
                <a:solidFill>
                  <a:srgbClr val="212121"/>
                </a:solidFill>
                <a:latin typeface="Calibri"/>
              </a:rPr>
              <a:t>Top-3 recognition candidates all checked with contains() and lowercase normalisation -- significantly reduces missed commands.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972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65760" y="91440"/>
            <a:ext cx="10972800" cy="658368"/>
          </a:xfrm>
          <a:prstGeom prst="rect">
            <a:avLst/>
          </a:prstGeom>
          <a:noFill/>
        </p:spPr>
        <p:txBody>
          <a:bodyPr wrap="square">
            <a:spAutoFit/>
          </a:bodyPr>
          <a:lstStyle/>
          <a:p>
            <a:pPr algn="l"/>
            <a:r>
              <a:rPr sz="3000" b="1" i="0">
                <a:solidFill>
                  <a:srgbClr val="FFFFFF"/>
                </a:solidFill>
                <a:latin typeface="Calibri"/>
              </a:rPr>
              <a:t>Team Contributions</a:t>
            </a:r>
          </a:p>
        </p:txBody>
      </p:sp>
      <p:sp>
        <p:nvSpPr>
          <p:cNvPr id="4" name="Rectangle 3"/>
          <p:cNvSpPr/>
          <p:nvPr/>
        </p:nvSpPr>
        <p:spPr>
          <a:xfrm>
            <a:off x="0" y="1097280"/>
            <a:ext cx="12188952" cy="54864"/>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6537960"/>
            <a:ext cx="12188952" cy="32004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56248"/>
            <a:ext cx="11430000" cy="256032"/>
          </a:xfrm>
          <a:prstGeom prst="rect">
            <a:avLst/>
          </a:prstGeom>
          <a:noFill/>
        </p:spPr>
        <p:txBody>
          <a:bodyPr wrap="square">
            <a:spAutoFit/>
          </a:bodyPr>
          <a:lstStyle/>
          <a:p>
            <a:pPr algn="l"/>
            <a:r>
              <a:rPr sz="1000" b="0" i="0">
                <a:solidFill>
                  <a:srgbClr val="66BB6A"/>
                </a:solidFill>
                <a:latin typeface="Calibri"/>
              </a:rPr>
              <a:t>Snap &amp; Cook  |  CSD3156 Mobile and Cloud Computing  |  SIT</a:t>
            </a:r>
          </a:p>
        </p:txBody>
      </p:sp>
      <p:sp>
        <p:nvSpPr>
          <p:cNvPr id="7" name="Rectangle 6"/>
          <p:cNvSpPr/>
          <p:nvPr/>
        </p:nvSpPr>
        <p:spPr>
          <a:xfrm>
            <a:off x="365760" y="1298448"/>
            <a:ext cx="11430000" cy="713232"/>
          </a:xfrm>
          <a:prstGeom prst="rect">
            <a:avLst/>
          </a:prstGeom>
          <a:solidFill>
            <a:srgbClr val="E8F5E9"/>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57200" y="1426464"/>
            <a:ext cx="457200" cy="4572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26464"/>
            <a:ext cx="457200" cy="457200"/>
          </a:xfrm>
          <a:prstGeom prst="rect">
            <a:avLst/>
          </a:prstGeom>
          <a:noFill/>
        </p:spPr>
        <p:txBody>
          <a:bodyPr wrap="square">
            <a:spAutoFit/>
          </a:bodyPr>
          <a:lstStyle/>
          <a:p>
            <a:pPr algn="ctr"/>
            <a:r>
              <a:rPr sz="1400" b="1" i="0">
                <a:solidFill>
                  <a:srgbClr val="FFFFFF"/>
                </a:solidFill>
                <a:latin typeface="Calibri"/>
              </a:rPr>
              <a:t>E</a:t>
            </a:r>
          </a:p>
        </p:txBody>
      </p:sp>
      <p:sp>
        <p:nvSpPr>
          <p:cNvPr id="10" name="TextBox 9"/>
          <p:cNvSpPr txBox="1"/>
          <p:nvPr/>
        </p:nvSpPr>
        <p:spPr>
          <a:xfrm>
            <a:off x="1051560" y="1353312"/>
            <a:ext cx="3200400" cy="329184"/>
          </a:xfrm>
          <a:prstGeom prst="rect">
            <a:avLst/>
          </a:prstGeom>
          <a:noFill/>
        </p:spPr>
        <p:txBody>
          <a:bodyPr wrap="square">
            <a:spAutoFit/>
          </a:bodyPr>
          <a:lstStyle/>
          <a:p>
            <a:pPr algn="l"/>
            <a:r>
              <a:rPr sz="1300" b="1" i="0">
                <a:solidFill>
                  <a:srgbClr val="1B5E20"/>
                </a:solidFill>
                <a:latin typeface="Calibri"/>
              </a:rPr>
              <a:t>Ernest Ho Yong Heng</a:t>
            </a:r>
          </a:p>
        </p:txBody>
      </p:sp>
      <p:sp>
        <p:nvSpPr>
          <p:cNvPr id="11" name="TextBox 10"/>
          <p:cNvSpPr txBox="1"/>
          <p:nvPr/>
        </p:nvSpPr>
        <p:spPr>
          <a:xfrm>
            <a:off x="1051560" y="1682495"/>
            <a:ext cx="3200400" cy="256032"/>
          </a:xfrm>
          <a:prstGeom prst="rect">
            <a:avLst/>
          </a:prstGeom>
          <a:noFill/>
        </p:spPr>
        <p:txBody>
          <a:bodyPr wrap="square">
            <a:spAutoFit/>
          </a:bodyPr>
          <a:lstStyle/>
          <a:p>
            <a:pPr algn="l"/>
            <a:r>
              <a:rPr sz="1000" b="0" i="0">
                <a:solidFill>
                  <a:srgbClr val="616161"/>
                </a:solidFill>
                <a:latin typeface="Calibri"/>
              </a:rPr>
              <a:t>2301223</a:t>
            </a:r>
          </a:p>
        </p:txBody>
      </p:sp>
      <p:sp>
        <p:nvSpPr>
          <p:cNvPr id="12" name="TextBox 11"/>
          <p:cNvSpPr txBox="1"/>
          <p:nvPr/>
        </p:nvSpPr>
        <p:spPr>
          <a:xfrm>
            <a:off x="4389120" y="1444751"/>
            <a:ext cx="7223760" cy="438912"/>
          </a:xfrm>
          <a:prstGeom prst="rect">
            <a:avLst/>
          </a:prstGeom>
          <a:noFill/>
        </p:spPr>
        <p:txBody>
          <a:bodyPr wrap="square">
            <a:spAutoFit/>
          </a:bodyPr>
          <a:lstStyle/>
          <a:p>
            <a:pPr algn="l"/>
            <a:r>
              <a:rPr sz="1100" b="0" i="0">
                <a:solidFill>
                  <a:srgbClr val="212121"/>
                </a:solidFill>
                <a:latin typeface="Calibri"/>
              </a:rPr>
              <a:t>CameraX integration, IngredientDetector Gemini vision pipeline, image processing &amp; encoding</a:t>
            </a:r>
          </a:p>
        </p:txBody>
      </p:sp>
      <p:sp>
        <p:nvSpPr>
          <p:cNvPr id="13" name="Rectangle 12"/>
          <p:cNvSpPr/>
          <p:nvPr/>
        </p:nvSpPr>
        <p:spPr>
          <a:xfrm>
            <a:off x="365760" y="2075688"/>
            <a:ext cx="11430000" cy="713232"/>
          </a:xfrm>
          <a:prstGeom prst="rect">
            <a:avLst/>
          </a:prstGeom>
          <a:solidFill>
            <a:srgbClr val="FFFFFF"/>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2203704"/>
            <a:ext cx="457200" cy="4572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2203704"/>
            <a:ext cx="457200" cy="457200"/>
          </a:xfrm>
          <a:prstGeom prst="rect">
            <a:avLst/>
          </a:prstGeom>
          <a:noFill/>
        </p:spPr>
        <p:txBody>
          <a:bodyPr wrap="square">
            <a:spAutoFit/>
          </a:bodyPr>
          <a:lstStyle/>
          <a:p>
            <a:pPr algn="ctr"/>
            <a:r>
              <a:rPr sz="1400" b="1" i="0">
                <a:solidFill>
                  <a:srgbClr val="FFFFFF"/>
                </a:solidFill>
                <a:latin typeface="Calibri"/>
              </a:rPr>
              <a:t>L</a:t>
            </a:r>
          </a:p>
        </p:txBody>
      </p:sp>
      <p:sp>
        <p:nvSpPr>
          <p:cNvPr id="16" name="TextBox 15"/>
          <p:cNvSpPr txBox="1"/>
          <p:nvPr/>
        </p:nvSpPr>
        <p:spPr>
          <a:xfrm>
            <a:off x="1051560" y="2130552"/>
            <a:ext cx="3200400" cy="329184"/>
          </a:xfrm>
          <a:prstGeom prst="rect">
            <a:avLst/>
          </a:prstGeom>
          <a:noFill/>
        </p:spPr>
        <p:txBody>
          <a:bodyPr wrap="square">
            <a:spAutoFit/>
          </a:bodyPr>
          <a:lstStyle/>
          <a:p>
            <a:pPr algn="l"/>
            <a:r>
              <a:rPr sz="1300" b="1" i="0">
                <a:solidFill>
                  <a:srgbClr val="1B5E20"/>
                </a:solidFill>
                <a:latin typeface="Calibri"/>
              </a:rPr>
              <a:t>Lucas Yee Junjie</a:t>
            </a:r>
          </a:p>
        </p:txBody>
      </p:sp>
      <p:sp>
        <p:nvSpPr>
          <p:cNvPr id="17" name="TextBox 16"/>
          <p:cNvSpPr txBox="1"/>
          <p:nvPr/>
        </p:nvSpPr>
        <p:spPr>
          <a:xfrm>
            <a:off x="1051560" y="2459736"/>
            <a:ext cx="3200400" cy="256032"/>
          </a:xfrm>
          <a:prstGeom prst="rect">
            <a:avLst/>
          </a:prstGeom>
          <a:noFill/>
        </p:spPr>
        <p:txBody>
          <a:bodyPr wrap="square">
            <a:spAutoFit/>
          </a:bodyPr>
          <a:lstStyle/>
          <a:p>
            <a:pPr algn="l"/>
            <a:r>
              <a:rPr sz="1000" b="0" i="0">
                <a:solidFill>
                  <a:srgbClr val="616161"/>
                </a:solidFill>
                <a:latin typeface="Calibri"/>
              </a:rPr>
              <a:t>2301212</a:t>
            </a:r>
          </a:p>
        </p:txBody>
      </p:sp>
      <p:sp>
        <p:nvSpPr>
          <p:cNvPr id="18" name="TextBox 17"/>
          <p:cNvSpPr txBox="1"/>
          <p:nvPr/>
        </p:nvSpPr>
        <p:spPr>
          <a:xfrm>
            <a:off x="4389120" y="2221992"/>
            <a:ext cx="7223760" cy="438912"/>
          </a:xfrm>
          <a:prstGeom prst="rect">
            <a:avLst/>
          </a:prstGeom>
          <a:noFill/>
        </p:spPr>
        <p:txBody>
          <a:bodyPr wrap="square">
            <a:spAutoFit/>
          </a:bodyPr>
          <a:lstStyle/>
          <a:p>
            <a:pPr algn="l"/>
            <a:r>
              <a:rPr sz="1100" b="0" i="0">
                <a:solidFill>
                  <a:srgbClr val="212121"/>
                </a:solidFill>
                <a:latin typeface="Calibri"/>
              </a:rPr>
              <a:t>RecipeResultActivity, RecipeViewModel, Spoonacular API, ingredient matching, YouTube integration</a:t>
            </a:r>
          </a:p>
        </p:txBody>
      </p:sp>
      <p:sp>
        <p:nvSpPr>
          <p:cNvPr id="19" name="Rectangle 18"/>
          <p:cNvSpPr/>
          <p:nvPr/>
        </p:nvSpPr>
        <p:spPr>
          <a:xfrm>
            <a:off x="365760" y="2852928"/>
            <a:ext cx="11430000" cy="713232"/>
          </a:xfrm>
          <a:prstGeom prst="rect">
            <a:avLst/>
          </a:prstGeom>
          <a:solidFill>
            <a:srgbClr val="E8F5E9"/>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457200" y="2980944"/>
            <a:ext cx="457200" cy="4572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2980944"/>
            <a:ext cx="457200" cy="457200"/>
          </a:xfrm>
          <a:prstGeom prst="rect">
            <a:avLst/>
          </a:prstGeom>
          <a:noFill/>
        </p:spPr>
        <p:txBody>
          <a:bodyPr wrap="square">
            <a:spAutoFit/>
          </a:bodyPr>
          <a:lstStyle/>
          <a:p>
            <a:pPr algn="ctr"/>
            <a:r>
              <a:rPr sz="1400" b="1" i="0">
                <a:solidFill>
                  <a:srgbClr val="FFFFFF"/>
                </a:solidFill>
                <a:latin typeface="Calibri"/>
              </a:rPr>
              <a:t>T</a:t>
            </a:r>
          </a:p>
        </p:txBody>
      </p:sp>
      <p:sp>
        <p:nvSpPr>
          <p:cNvPr id="22" name="TextBox 21"/>
          <p:cNvSpPr txBox="1"/>
          <p:nvPr/>
        </p:nvSpPr>
        <p:spPr>
          <a:xfrm>
            <a:off x="1051560" y="2907792"/>
            <a:ext cx="3200400" cy="329184"/>
          </a:xfrm>
          <a:prstGeom prst="rect">
            <a:avLst/>
          </a:prstGeom>
          <a:noFill/>
        </p:spPr>
        <p:txBody>
          <a:bodyPr wrap="square">
            <a:spAutoFit/>
          </a:bodyPr>
          <a:lstStyle/>
          <a:p>
            <a:pPr algn="l"/>
            <a:r>
              <a:rPr sz="1300" b="1" i="0">
                <a:solidFill>
                  <a:srgbClr val="1B5E20"/>
                </a:solidFill>
                <a:latin typeface="Calibri"/>
              </a:rPr>
              <a:t>Tan Shun Zhi Tomy</a:t>
            </a:r>
          </a:p>
        </p:txBody>
      </p:sp>
      <p:sp>
        <p:nvSpPr>
          <p:cNvPr id="23" name="TextBox 22"/>
          <p:cNvSpPr txBox="1"/>
          <p:nvPr/>
        </p:nvSpPr>
        <p:spPr>
          <a:xfrm>
            <a:off x="1051560" y="3236976"/>
            <a:ext cx="3200400" cy="256032"/>
          </a:xfrm>
          <a:prstGeom prst="rect">
            <a:avLst/>
          </a:prstGeom>
          <a:noFill/>
        </p:spPr>
        <p:txBody>
          <a:bodyPr wrap="square">
            <a:spAutoFit/>
          </a:bodyPr>
          <a:lstStyle/>
          <a:p>
            <a:pPr algn="l"/>
            <a:r>
              <a:rPr sz="1000" b="0" i="0">
                <a:solidFill>
                  <a:srgbClr val="616161"/>
                </a:solidFill>
                <a:latin typeface="Calibri"/>
              </a:rPr>
              <a:t>2301341</a:t>
            </a:r>
          </a:p>
        </p:txBody>
      </p:sp>
      <p:sp>
        <p:nvSpPr>
          <p:cNvPr id="24" name="TextBox 23"/>
          <p:cNvSpPr txBox="1"/>
          <p:nvPr/>
        </p:nvSpPr>
        <p:spPr>
          <a:xfrm>
            <a:off x="4389120" y="2999232"/>
            <a:ext cx="7223760" cy="438912"/>
          </a:xfrm>
          <a:prstGeom prst="rect">
            <a:avLst/>
          </a:prstGeom>
          <a:noFill/>
        </p:spPr>
        <p:txBody>
          <a:bodyPr wrap="square">
            <a:spAutoFit/>
          </a:bodyPr>
          <a:lstStyle/>
          <a:p>
            <a:pPr algn="l"/>
            <a:r>
              <a:rPr sz="1100" b="0" i="0">
                <a:solidFill>
                  <a:srgbClr val="212121"/>
                </a:solidFill>
                <a:latin typeface="Calibri"/>
              </a:rPr>
              <a:t>CookingModeActivity, TTS narration, SpeechRecognizer voice commands, screen-on management</a:t>
            </a:r>
          </a:p>
        </p:txBody>
      </p:sp>
      <p:sp>
        <p:nvSpPr>
          <p:cNvPr id="25" name="Rectangle 24"/>
          <p:cNvSpPr/>
          <p:nvPr/>
        </p:nvSpPr>
        <p:spPr>
          <a:xfrm>
            <a:off x="365760" y="3630168"/>
            <a:ext cx="11430000" cy="713232"/>
          </a:xfrm>
          <a:prstGeom prst="rect">
            <a:avLst/>
          </a:prstGeom>
          <a:solidFill>
            <a:srgbClr val="FFFFFF"/>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457200" y="3758184"/>
            <a:ext cx="457200" cy="4572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57200" y="3758184"/>
            <a:ext cx="457200" cy="457200"/>
          </a:xfrm>
          <a:prstGeom prst="rect">
            <a:avLst/>
          </a:prstGeom>
          <a:noFill/>
        </p:spPr>
        <p:txBody>
          <a:bodyPr wrap="square">
            <a:spAutoFit/>
          </a:bodyPr>
          <a:lstStyle/>
          <a:p>
            <a:pPr algn="ctr"/>
            <a:r>
              <a:rPr sz="1400" b="1" i="0">
                <a:solidFill>
                  <a:srgbClr val="FFFFFF"/>
                </a:solidFill>
                <a:latin typeface="Calibri"/>
              </a:rPr>
              <a:t>W</a:t>
            </a:r>
          </a:p>
        </p:txBody>
      </p:sp>
      <p:sp>
        <p:nvSpPr>
          <p:cNvPr id="28" name="TextBox 27"/>
          <p:cNvSpPr txBox="1"/>
          <p:nvPr/>
        </p:nvSpPr>
        <p:spPr>
          <a:xfrm>
            <a:off x="1051560" y="3685032"/>
            <a:ext cx="3200400" cy="329184"/>
          </a:xfrm>
          <a:prstGeom prst="rect">
            <a:avLst/>
          </a:prstGeom>
          <a:noFill/>
        </p:spPr>
        <p:txBody>
          <a:bodyPr wrap="square">
            <a:spAutoFit/>
          </a:bodyPr>
          <a:lstStyle/>
          <a:p>
            <a:pPr algn="l"/>
            <a:r>
              <a:rPr sz="1300" b="1" i="0">
                <a:solidFill>
                  <a:srgbClr val="1B5E20"/>
                </a:solidFill>
                <a:latin typeface="Calibri"/>
              </a:rPr>
              <a:t>Wong Woon Li</a:t>
            </a:r>
          </a:p>
        </p:txBody>
      </p:sp>
      <p:sp>
        <p:nvSpPr>
          <p:cNvPr id="29" name="TextBox 28"/>
          <p:cNvSpPr txBox="1"/>
          <p:nvPr/>
        </p:nvSpPr>
        <p:spPr>
          <a:xfrm>
            <a:off x="1051560" y="4014216"/>
            <a:ext cx="3200400" cy="256032"/>
          </a:xfrm>
          <a:prstGeom prst="rect">
            <a:avLst/>
          </a:prstGeom>
          <a:noFill/>
        </p:spPr>
        <p:txBody>
          <a:bodyPr wrap="square">
            <a:spAutoFit/>
          </a:bodyPr>
          <a:lstStyle/>
          <a:p>
            <a:pPr algn="l"/>
            <a:r>
              <a:rPr sz="1000" b="0" i="0">
                <a:solidFill>
                  <a:srgbClr val="616161"/>
                </a:solidFill>
                <a:latin typeface="Calibri"/>
              </a:rPr>
              <a:t>2301308</a:t>
            </a:r>
          </a:p>
        </p:txBody>
      </p:sp>
      <p:sp>
        <p:nvSpPr>
          <p:cNvPr id="30" name="TextBox 29"/>
          <p:cNvSpPr txBox="1"/>
          <p:nvPr/>
        </p:nvSpPr>
        <p:spPr>
          <a:xfrm>
            <a:off x="4389120" y="3776472"/>
            <a:ext cx="7223760" cy="438912"/>
          </a:xfrm>
          <a:prstGeom prst="rect">
            <a:avLst/>
          </a:prstGeom>
          <a:noFill/>
        </p:spPr>
        <p:txBody>
          <a:bodyPr wrap="square">
            <a:spAutoFit/>
          </a:bodyPr>
          <a:lstStyle/>
          <a:p>
            <a:pPr algn="l"/>
            <a:r>
              <a:rPr sz="1100" b="0" i="0">
                <a:solidFill>
                  <a:srgbClr val="212121"/>
                </a:solidFill>
                <a:latin typeface="Calibri"/>
              </a:rPr>
              <a:t>Room database, SavedRecipesActivity, RecipeConverter, recently saved strip on home screen</a:t>
            </a:r>
          </a:p>
        </p:txBody>
      </p:sp>
      <p:sp>
        <p:nvSpPr>
          <p:cNvPr id="31" name="Rectangle 30"/>
          <p:cNvSpPr/>
          <p:nvPr/>
        </p:nvSpPr>
        <p:spPr>
          <a:xfrm>
            <a:off x="365760" y="4407408"/>
            <a:ext cx="11430000" cy="713232"/>
          </a:xfrm>
          <a:prstGeom prst="rect">
            <a:avLst/>
          </a:prstGeom>
          <a:solidFill>
            <a:srgbClr val="E8F5E9"/>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457200" y="4535424"/>
            <a:ext cx="457200" cy="4572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57200" y="4535424"/>
            <a:ext cx="457200" cy="457200"/>
          </a:xfrm>
          <a:prstGeom prst="rect">
            <a:avLst/>
          </a:prstGeom>
          <a:noFill/>
        </p:spPr>
        <p:txBody>
          <a:bodyPr wrap="square">
            <a:spAutoFit/>
          </a:bodyPr>
          <a:lstStyle/>
          <a:p>
            <a:pPr algn="ctr"/>
            <a:r>
              <a:rPr sz="1400" b="1" i="0">
                <a:solidFill>
                  <a:srgbClr val="FFFFFF"/>
                </a:solidFill>
                <a:latin typeface="Calibri"/>
              </a:rPr>
              <a:t>Y</a:t>
            </a:r>
          </a:p>
        </p:txBody>
      </p:sp>
      <p:sp>
        <p:nvSpPr>
          <p:cNvPr id="34" name="TextBox 33"/>
          <p:cNvSpPr txBox="1"/>
          <p:nvPr/>
        </p:nvSpPr>
        <p:spPr>
          <a:xfrm>
            <a:off x="1051560" y="4462272"/>
            <a:ext cx="3200400" cy="329184"/>
          </a:xfrm>
          <a:prstGeom prst="rect">
            <a:avLst/>
          </a:prstGeom>
          <a:noFill/>
        </p:spPr>
        <p:txBody>
          <a:bodyPr wrap="square">
            <a:spAutoFit/>
          </a:bodyPr>
          <a:lstStyle/>
          <a:p>
            <a:pPr algn="l"/>
            <a:r>
              <a:rPr sz="1300" b="1" i="0">
                <a:solidFill>
                  <a:srgbClr val="1B5E20"/>
                </a:solidFill>
                <a:latin typeface="Calibri"/>
              </a:rPr>
              <a:t>Yan Yu</a:t>
            </a:r>
          </a:p>
        </p:txBody>
      </p:sp>
      <p:sp>
        <p:nvSpPr>
          <p:cNvPr id="35" name="TextBox 34"/>
          <p:cNvSpPr txBox="1"/>
          <p:nvPr/>
        </p:nvSpPr>
        <p:spPr>
          <a:xfrm>
            <a:off x="1051560" y="4791456"/>
            <a:ext cx="3200400" cy="256032"/>
          </a:xfrm>
          <a:prstGeom prst="rect">
            <a:avLst/>
          </a:prstGeom>
          <a:noFill/>
        </p:spPr>
        <p:txBody>
          <a:bodyPr wrap="square">
            <a:spAutoFit/>
          </a:bodyPr>
          <a:lstStyle/>
          <a:p>
            <a:pPr algn="l"/>
            <a:r>
              <a:rPr sz="1000" b="0" i="0">
                <a:solidFill>
                  <a:srgbClr val="616161"/>
                </a:solidFill>
                <a:latin typeface="Calibri"/>
              </a:rPr>
              <a:t>2301213</a:t>
            </a:r>
          </a:p>
        </p:txBody>
      </p:sp>
      <p:sp>
        <p:nvSpPr>
          <p:cNvPr id="36" name="TextBox 35"/>
          <p:cNvSpPr txBox="1"/>
          <p:nvPr/>
        </p:nvSpPr>
        <p:spPr>
          <a:xfrm>
            <a:off x="4389120" y="4553712"/>
            <a:ext cx="7223760" cy="438912"/>
          </a:xfrm>
          <a:prstGeom prst="rect">
            <a:avLst/>
          </a:prstGeom>
          <a:noFill/>
        </p:spPr>
        <p:txBody>
          <a:bodyPr wrap="square">
            <a:spAutoFit/>
          </a:bodyPr>
          <a:lstStyle/>
          <a:p>
            <a:pPr algn="l"/>
            <a:r>
              <a:rPr sz="1100" b="0" i="0">
                <a:solidFill>
                  <a:srgbClr val="212121"/>
                </a:solidFill>
                <a:latin typeface="Calibri"/>
              </a:rPr>
              <a:t>VerificationActivity, ML Kit barcode scanning, Open Food Facts integration, ingredient editing</a:t>
            </a:r>
          </a:p>
        </p:txBody>
      </p:sp>
      <p:sp>
        <p:nvSpPr>
          <p:cNvPr id="37" name="Rectangle 36"/>
          <p:cNvSpPr/>
          <p:nvPr/>
        </p:nvSpPr>
        <p:spPr>
          <a:xfrm>
            <a:off x="365760" y="5184648"/>
            <a:ext cx="11430000" cy="713232"/>
          </a:xfrm>
          <a:prstGeom prst="rect">
            <a:avLst/>
          </a:prstGeom>
          <a:solidFill>
            <a:srgbClr val="FFFFFF"/>
          </a:solidFill>
          <a:ln w="12700">
            <a:solidFill>
              <a:srgbClr val="66BB6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457200" y="5312664"/>
            <a:ext cx="457200" cy="4572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457200" y="5312664"/>
            <a:ext cx="457200" cy="457200"/>
          </a:xfrm>
          <a:prstGeom prst="rect">
            <a:avLst/>
          </a:prstGeom>
          <a:noFill/>
        </p:spPr>
        <p:txBody>
          <a:bodyPr wrap="square">
            <a:spAutoFit/>
          </a:bodyPr>
          <a:lstStyle/>
          <a:p>
            <a:pPr algn="ctr"/>
            <a:r>
              <a:rPr sz="1400" b="1" i="0">
                <a:solidFill>
                  <a:srgbClr val="FFFFFF"/>
                </a:solidFill>
                <a:latin typeface="Calibri"/>
              </a:rPr>
              <a:t>M</a:t>
            </a:r>
          </a:p>
        </p:txBody>
      </p:sp>
      <p:sp>
        <p:nvSpPr>
          <p:cNvPr id="40" name="TextBox 39"/>
          <p:cNvSpPr txBox="1"/>
          <p:nvPr/>
        </p:nvSpPr>
        <p:spPr>
          <a:xfrm>
            <a:off x="1051560" y="5239512"/>
            <a:ext cx="3200400" cy="329184"/>
          </a:xfrm>
          <a:prstGeom prst="rect">
            <a:avLst/>
          </a:prstGeom>
          <a:noFill/>
        </p:spPr>
        <p:txBody>
          <a:bodyPr wrap="square">
            <a:spAutoFit/>
          </a:bodyPr>
          <a:lstStyle/>
          <a:p>
            <a:pPr algn="l"/>
            <a:r>
              <a:rPr sz="1300" b="1" i="0">
                <a:solidFill>
                  <a:srgbClr val="1B5E20"/>
                </a:solidFill>
                <a:latin typeface="Calibri"/>
              </a:rPr>
              <a:t>Muhammad Zikry Bin Zakaria</a:t>
            </a:r>
          </a:p>
        </p:txBody>
      </p:sp>
      <p:sp>
        <p:nvSpPr>
          <p:cNvPr id="41" name="TextBox 40"/>
          <p:cNvSpPr txBox="1"/>
          <p:nvPr/>
        </p:nvSpPr>
        <p:spPr>
          <a:xfrm>
            <a:off x="1051560" y="5568696"/>
            <a:ext cx="3200400" cy="256032"/>
          </a:xfrm>
          <a:prstGeom prst="rect">
            <a:avLst/>
          </a:prstGeom>
          <a:noFill/>
        </p:spPr>
        <p:txBody>
          <a:bodyPr wrap="square">
            <a:spAutoFit/>
          </a:bodyPr>
          <a:lstStyle/>
          <a:p>
            <a:pPr algn="l"/>
            <a:r>
              <a:rPr sz="1000" b="0" i="0">
                <a:solidFill>
                  <a:srgbClr val="616161"/>
                </a:solidFill>
                <a:latin typeface="Calibri"/>
              </a:rPr>
              <a:t>2201751</a:t>
            </a:r>
          </a:p>
        </p:txBody>
      </p:sp>
      <p:sp>
        <p:nvSpPr>
          <p:cNvPr id="42" name="TextBox 41"/>
          <p:cNvSpPr txBox="1"/>
          <p:nvPr/>
        </p:nvSpPr>
        <p:spPr>
          <a:xfrm>
            <a:off x="4389120" y="5330952"/>
            <a:ext cx="7223760" cy="438912"/>
          </a:xfrm>
          <a:prstGeom prst="rect">
            <a:avLst/>
          </a:prstGeom>
          <a:noFill/>
        </p:spPr>
        <p:txBody>
          <a:bodyPr wrap="square">
            <a:spAutoFit/>
          </a:bodyPr>
          <a:lstStyle/>
          <a:p>
            <a:pPr algn="l"/>
            <a:r>
              <a:rPr sz="1100" b="0" i="0">
                <a:solidFill>
                  <a:srgbClr val="212121"/>
                </a:solidFill>
                <a:latin typeface="Calibri"/>
              </a:rPr>
              <a:t>MainActivity, SplashActivity, MVVM architecture setup, API key rotation system, dark mode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SG" dirty="0"/>
          </a:p>
        </p:txBody>
      </p:sp>
      <p:sp>
        <p:nvSpPr>
          <p:cNvPr id="3" name="Rectangle 2"/>
          <p:cNvSpPr/>
          <p:nvPr/>
        </p:nvSpPr>
        <p:spPr>
          <a:xfrm>
            <a:off x="0" y="0"/>
            <a:ext cx="12188952" cy="914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66560"/>
            <a:ext cx="12188952" cy="914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0"/>
            <a:ext cx="12188952" cy="1200329"/>
          </a:xfrm>
          <a:prstGeom prst="rect">
            <a:avLst/>
          </a:prstGeom>
          <a:noFill/>
        </p:spPr>
        <p:txBody>
          <a:bodyPr wrap="square">
            <a:spAutoFit/>
          </a:bodyPr>
          <a:lstStyle/>
          <a:p>
            <a:pPr algn="ctr"/>
            <a:r>
              <a:rPr lang="en-SG" sz="7200" b="1" i="0" dirty="0">
                <a:solidFill>
                  <a:srgbClr val="FFFFFF"/>
                </a:solidFill>
                <a:latin typeface="Calibri"/>
              </a:rPr>
              <a:t>App D</a:t>
            </a:r>
            <a:r>
              <a:rPr sz="7200" b="1" i="0" dirty="0">
                <a:solidFill>
                  <a:srgbClr val="FFFFFF"/>
                </a:solidFill>
                <a:latin typeface="Calibri"/>
              </a:rPr>
              <a:t>EMO</a:t>
            </a:r>
          </a:p>
        </p:txBody>
      </p:sp>
      <p:pic>
        <p:nvPicPr>
          <p:cNvPr id="8" name="Online Media 7" title="snap&amp;cook app demo">
            <a:hlinkClick r:id="" action="ppaction://media"/>
            <a:extLst>
              <a:ext uri="{FF2B5EF4-FFF2-40B4-BE49-F238E27FC236}">
                <a16:creationId xmlns:a16="http://schemas.microsoft.com/office/drawing/2014/main" id="{0F501A45-AE38-8FD2-E927-FC6423F0999E}"/>
              </a:ext>
            </a:extLst>
          </p:cNvPr>
          <p:cNvPicPr>
            <a:picLocks noRot="1" noChangeAspect="1"/>
          </p:cNvPicPr>
          <p:nvPr>
            <a:videoFile r:link="rId1"/>
          </p:nvPr>
        </p:nvPicPr>
        <p:blipFill>
          <a:blip r:embed="rId3"/>
          <a:stretch>
            <a:fillRect/>
          </a:stretch>
        </p:blipFill>
        <p:spPr>
          <a:xfrm>
            <a:off x="1896731" y="1568791"/>
            <a:ext cx="8395361" cy="474339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8"/>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8"/>
                                        </p:tgtEl>
                                      </p:cBhvr>
                                    </p:cmd>
                                  </p:childTnLst>
                                </p:cTn>
                              </p:par>
                            </p:childTnLst>
                          </p:cTn>
                        </p:par>
                      </p:childTnLst>
                    </p:cTn>
                  </p:par>
                </p:childTnLst>
              </p:cTn>
              <p:nextCondLst>
                <p:cond evt="onClick" delay="0">
                  <p:tgtEl>
                    <p:spTgt spid="8"/>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914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66560"/>
            <a:ext cx="12188952" cy="91440"/>
          </a:xfrm>
          <a:prstGeom prst="rect">
            <a:avLst/>
          </a:prstGeom>
          <a:solidFill>
            <a:srgbClr val="FF6F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27" y="2869313"/>
            <a:ext cx="12188952" cy="1107996"/>
          </a:xfrm>
          <a:prstGeom prst="rect">
            <a:avLst/>
          </a:prstGeom>
          <a:noFill/>
        </p:spPr>
        <p:txBody>
          <a:bodyPr wrap="square">
            <a:spAutoFit/>
          </a:bodyPr>
          <a:lstStyle/>
          <a:p>
            <a:pPr algn="ctr"/>
            <a:r>
              <a:rPr lang="en-SG" sz="6600" b="1" dirty="0">
                <a:solidFill>
                  <a:srgbClr val="FFA726"/>
                </a:solidFill>
                <a:latin typeface="Calibri"/>
              </a:rPr>
              <a:t>Thank You</a:t>
            </a:r>
            <a:endParaRPr sz="6600" b="1" i="0" dirty="0">
              <a:solidFill>
                <a:srgbClr val="FFA726"/>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TotalTime>
  <Words>1872</Words>
  <Application>Microsoft Office PowerPoint</Application>
  <PresentationFormat>Custom</PresentationFormat>
  <Paragraphs>309</Paragraphs>
  <Slides>14</Slides>
  <Notes>1</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Brown White</cp:lastModifiedBy>
  <cp:revision>4</cp:revision>
  <dcterms:created xsi:type="dcterms:W3CDTF">2013-01-27T09:14:16Z</dcterms:created>
  <dcterms:modified xsi:type="dcterms:W3CDTF">2026-02-22T14:28:21Z</dcterms:modified>
  <cp:category/>
</cp:coreProperties>
</file>