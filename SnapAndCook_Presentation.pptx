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8" r:id="rId2"/>
    <p:sldId id="269" r:id="rId3"/>
    <p:sldId id="270" r:id="rId4"/>
    <p:sldId id="271" r:id="rId5"/>
    <p:sldId id="260" r:id="rId6"/>
    <p:sldId id="272" r:id="rId7"/>
    <p:sldId id="262" r:id="rId8"/>
    <p:sldId id="263" r:id="rId9"/>
    <p:sldId id="267" r:id="rId1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6" d="100"/>
          <a:sy n="156" d="100"/>
        </p:scale>
        <p:origin x="456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WJMpj2Y8c0" TargetMode="External"/><Relationship Id="rId2" Type="http://schemas.openxmlformats.org/officeDocument/2006/relationships/hyperlink" Target="https://github.com/tobenwarrior/MobileComputingProject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88825" cy="68580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8932522-55BA-E707-C0E5-85D5FAD830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9281" y="0"/>
            <a:ext cx="3970255" cy="3970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1" y="0"/>
            <a:ext cx="12188825" cy="9144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-1" y="6766560"/>
            <a:ext cx="12188825" cy="9144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" y="1769849"/>
            <a:ext cx="1218882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 dirty="0">
                <a:solidFill>
                  <a:srgbClr val="FFFFFF"/>
                </a:solidFill>
                <a:latin typeface="Calibri"/>
              </a:rPr>
              <a:t>Snap</a:t>
            </a:r>
            <a:r>
              <a:rPr lang="en-SG" sz="7200" b="1" i="0" dirty="0">
                <a:solidFill>
                  <a:srgbClr val="FFFFFF"/>
                </a:solidFill>
                <a:latin typeface="Calibri"/>
              </a:rPr>
              <a:t>						</a:t>
            </a:r>
            <a:r>
              <a:rPr sz="7200" b="1" i="0" dirty="0">
                <a:solidFill>
                  <a:srgbClr val="FFFFFF"/>
                </a:solidFill>
                <a:latin typeface="Calibri"/>
              </a:rPr>
              <a:t>Cook</a:t>
            </a:r>
            <a:endParaRPr lang="en-SG" sz="7200" b="1" i="0" dirty="0">
              <a:solidFill>
                <a:srgbClr val="FFFFFF"/>
              </a:solidFill>
              <a:latin typeface="Calibri"/>
            </a:endParaRPr>
          </a:p>
          <a:p>
            <a:pPr algn="ctr"/>
            <a:r>
              <a:rPr lang="en-SG" sz="7200" b="1" dirty="0">
                <a:solidFill>
                  <a:srgbClr val="FFFFFF"/>
                </a:solidFill>
                <a:latin typeface="Calibri"/>
              </a:rPr>
              <a:t>&amp;</a:t>
            </a:r>
            <a:endParaRPr sz="72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894009" y="3862730"/>
            <a:ext cx="6400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 dirty="0">
                <a:solidFill>
                  <a:srgbClr val="FFA726"/>
                </a:solidFill>
                <a:latin typeface="Calibri"/>
              </a:rPr>
              <a:t>Snap. Detect. Cook.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4009" y="4391799"/>
            <a:ext cx="64008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solidFill>
                  <a:srgbClr val="66BB6A"/>
                </a:solidFill>
                <a:latin typeface="Calibri"/>
              </a:rPr>
              <a:t>AI-powered ingredient detection
and hands-free guided cooking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8464" y="5412757"/>
            <a:ext cx="879189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dirty="0">
                <a:solidFill>
                  <a:srgbClr val="80CBC4"/>
                </a:solidFill>
                <a:latin typeface="Calibri"/>
              </a:rPr>
              <a:t>Ernest Ho  ·  Lucas Yee  ·  Tan Shun Zhi Tomy</a:t>
            </a:r>
            <a:r>
              <a:rPr lang="en-SG" sz="1300" b="0" i="0" dirty="0">
                <a:solidFill>
                  <a:srgbClr val="80CBC4"/>
                </a:solidFill>
                <a:latin typeface="Calibri"/>
              </a:rPr>
              <a:t> </a:t>
            </a:r>
            <a:r>
              <a:rPr lang="en-SG" sz="1300" dirty="0">
                <a:solidFill>
                  <a:srgbClr val="80CBC4"/>
                </a:solidFill>
              </a:rPr>
              <a:t> ·  </a:t>
            </a:r>
            <a:r>
              <a:rPr sz="1300" b="0" i="0" dirty="0">
                <a:solidFill>
                  <a:srgbClr val="80CBC4"/>
                </a:solidFill>
                <a:latin typeface="Calibri"/>
              </a:rPr>
              <a:t>Wong Woon Li  ·  Yan Yu  ·  Muhammad Zikry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" y="6175936"/>
            <a:ext cx="121888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dirty="0">
                <a:solidFill>
                  <a:srgbClr val="66BB6A"/>
                </a:solidFill>
                <a:latin typeface="Calibri"/>
              </a:rPr>
              <a:t>CSD3156 Mobile and Cloud Computing  |  SIT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09728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User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658368"/>
            <a:ext cx="10972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BB6A"/>
                </a:solidFill>
                <a:latin typeface="Calibri"/>
              </a:rPr>
              <a:t>Survey of 5 home cooks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6574536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BB6A"/>
                </a:solidFill>
                <a:latin typeface="Calibri"/>
              </a:rPr>
              <a:t>Snap &amp; Cook  |  CSD3156 Mobile and Cloud Computing  |  SIT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70432"/>
            <a:ext cx="11576304" cy="749808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188720"/>
            <a:ext cx="4114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A726"/>
                </a:solidFill>
                <a:latin typeface="Calibri"/>
              </a:rPr>
              <a:t>4 out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78681" y="1390440"/>
            <a:ext cx="73700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FFFFFF"/>
                </a:solidFill>
                <a:latin typeface="Calibri"/>
              </a:rPr>
              <a:t>surveyed regularly threw away ingredients because they did not know what to cook with them.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084831"/>
            <a:ext cx="2176272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2084831"/>
            <a:ext cx="2176272" cy="566928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97863" y="2084831"/>
            <a:ext cx="512064" cy="512064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97863" y="2084831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724912"/>
            <a:ext cx="20391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Calibri"/>
              </a:rPr>
              <a:t>Sarah, 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035808"/>
            <a:ext cx="2039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Calibri"/>
              </a:rPr>
              <a:t>Student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429000"/>
            <a:ext cx="1993391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212121"/>
                </a:solidFill>
                <a:latin typeface="Calibri"/>
              </a:rPr>
              <a:t>"I always end up throwing out vegetables
because I have no idea what to do with them."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15768" y="2084831"/>
            <a:ext cx="2176272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715768" y="2084831"/>
            <a:ext cx="2176272" cy="5669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547872" y="2084831"/>
            <a:ext cx="512064" cy="5120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47872" y="2084831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J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07208" y="2724912"/>
            <a:ext cx="20391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Calibri"/>
              </a:rPr>
              <a:t>James, 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07208" y="3035808"/>
            <a:ext cx="2039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Calibri"/>
              </a:rPr>
              <a:t>Working Professional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25496" y="3429000"/>
            <a:ext cx="1993391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212121"/>
                </a:solidFill>
                <a:latin typeface="Calibri"/>
              </a:rPr>
              <a:t>"I buy groceries weekly but half of it
goes to waste before I cook it."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65775" y="2084831"/>
            <a:ext cx="2176272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065775" y="2084831"/>
            <a:ext cx="2176272" cy="566928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897879" y="2084831"/>
            <a:ext cx="512064" cy="512064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897879" y="2084831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57215" y="2724912"/>
            <a:ext cx="20391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Calibri"/>
              </a:rPr>
              <a:t>Mei Ling, 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57215" y="3035808"/>
            <a:ext cx="2039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Calibri"/>
              </a:rPr>
              <a:t>Home Cook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75503" y="3429000"/>
            <a:ext cx="1993391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212121"/>
                </a:solidFill>
                <a:latin typeface="Calibri"/>
              </a:rPr>
              <a:t>"Random bits of food just pile up and
expire in the back of my fridge."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15783" y="2084831"/>
            <a:ext cx="2176272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415783" y="2084831"/>
            <a:ext cx="2176272" cy="566928"/>
          </a:xfrm>
          <a:prstGeom prst="rect">
            <a:avLst/>
          </a:prstGeom>
          <a:solidFill>
            <a:srgbClr val="4A1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247888" y="2084831"/>
            <a:ext cx="512064" cy="512064"/>
          </a:xfrm>
          <a:prstGeom prst="rect">
            <a:avLst/>
          </a:prstGeom>
          <a:solidFill>
            <a:srgbClr val="4A1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47888" y="2084831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07223" y="2724912"/>
            <a:ext cx="20391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Calibri"/>
              </a:rPr>
              <a:t>Raj, 35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07223" y="3035808"/>
            <a:ext cx="2039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Calibri"/>
              </a:rPr>
              <a:t>Parent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5511" y="3429000"/>
            <a:ext cx="1993391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212121"/>
                </a:solidFill>
                <a:latin typeface="Calibri"/>
              </a:rPr>
              <a:t>"With a busy schedule I never know
what to make from leftover ingredients."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765792" y="2084831"/>
            <a:ext cx="2176272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9765792" y="2084831"/>
            <a:ext cx="2176272" cy="56692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10597896" y="2084831"/>
            <a:ext cx="512064" cy="512064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597896" y="2084831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57232" y="2724912"/>
            <a:ext cx="20391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Calibri"/>
              </a:rPr>
              <a:t>Alex, 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57232" y="3035808"/>
            <a:ext cx="2039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Calibri"/>
              </a:rPr>
              <a:t>University Student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75519" y="3429000"/>
            <a:ext cx="1993391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212121"/>
                </a:solidFill>
                <a:latin typeface="Calibri"/>
              </a:rPr>
              <a:t>"Living alone means food expires before
I get a chance to use it all up."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6574536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BB6A"/>
                </a:solidFill>
                <a:latin typeface="Calibri"/>
              </a:rPr>
              <a:t>Snap &amp; Cook  |  CSD3156 Mobile and Cloud Computing  |  SIT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70432"/>
            <a:ext cx="11137265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170432"/>
            <a:ext cx="164592" cy="132588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261872"/>
            <a:ext cx="106674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 dirty="0">
                <a:solidFill>
                  <a:srgbClr val="212121"/>
                </a:solidFill>
                <a:latin typeface="Calibri"/>
              </a:rPr>
              <a:t>Home cooks often struggle to decide what to make when they have leftover or mismatched ingredients, leading to food waste and unnecessary grocery trips.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9748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2697480"/>
            <a:ext cx="3566160" cy="5029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724912"/>
            <a:ext cx="338327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Food Waste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91840"/>
            <a:ext cx="33832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555555"/>
                </a:solidFill>
                <a:latin typeface="Calibri"/>
              </a:rPr>
              <a:t>Ingredients expire
before they are used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269748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160520" y="2697480"/>
            <a:ext cx="3566160" cy="5029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251960" y="2724912"/>
            <a:ext cx="338327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Unnecessary Trips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3291840"/>
            <a:ext cx="33832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555555"/>
                </a:solidFill>
                <a:latin typeface="Calibri"/>
              </a:rPr>
              <a:t>Buying items already
in the fridge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55280" y="269748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955280" y="2697480"/>
            <a:ext cx="3566160" cy="5029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0" y="2724912"/>
            <a:ext cx="338327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No Guidance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3291840"/>
            <a:ext cx="33832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555555"/>
                </a:solidFill>
                <a:latin typeface="Calibri"/>
              </a:rPr>
              <a:t>No hands-free help
while cooking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75488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5E20"/>
                </a:solidFill>
                <a:latin typeface="Calibri"/>
              </a:rPr>
              <a:t>Primary Goal: Reduce food waste and simplify meal planning by helping users make the most of what they already have.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09728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658368"/>
            <a:ext cx="10972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BB6A"/>
                </a:solidFill>
                <a:latin typeface="Calibri"/>
              </a:rPr>
              <a:t>One app — from fridge to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6574536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BB6A"/>
                </a:solidFill>
                <a:latin typeface="Calibri"/>
              </a:rPr>
              <a:t>Snap &amp; Cook  |  CSD3156 Mobile and Cloud Computing  |  SIT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" y="1115568"/>
            <a:ext cx="2457493" cy="5047488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Main 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70432"/>
            <a:ext cx="2347765" cy="49377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932981" y="1115568"/>
            <a:ext cx="2422291" cy="5047488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Recipes 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7845" y="1170432"/>
            <a:ext cx="2312564" cy="493776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666168" y="1170432"/>
            <a:ext cx="6248463" cy="4937760"/>
          </a:xfrm>
          <a:prstGeom prst="rect">
            <a:avLst/>
          </a:prstGeom>
          <a:solidFill>
            <a:srgbClr val="F1F8E9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94768" y="1298448"/>
            <a:ext cx="62210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5E20"/>
                </a:solidFill>
                <a:latin typeface="Calibri"/>
              </a:rPr>
              <a:t>Snap &amp; Cook solves this by: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94768" y="1847088"/>
            <a:ext cx="256032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60528" y="1847088"/>
            <a:ext cx="558095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5E20"/>
                </a:solidFill>
                <a:latin typeface="Calibri"/>
              </a:rPr>
              <a:t>Snap a photo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0528" y="2121408"/>
            <a:ext cx="558095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Calibri"/>
              </a:rPr>
              <a:t>Gemini AI identifies your ingredients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94768" y="2688336"/>
            <a:ext cx="256032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0528" y="3534371"/>
            <a:ext cx="558095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5E20"/>
                </a:solidFill>
                <a:latin typeface="Calibri"/>
              </a:rPr>
              <a:t>Find recipes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0528" y="3808691"/>
            <a:ext cx="558095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Calibri"/>
              </a:rPr>
              <a:t>Spoonacular matches what you have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94768" y="3529584"/>
            <a:ext cx="256032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60528" y="2683549"/>
            <a:ext cx="558095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1B5E20"/>
                </a:solidFill>
                <a:latin typeface="Calibri"/>
              </a:rPr>
              <a:t>Scan barcodes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0528" y="2957869"/>
            <a:ext cx="558095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555555"/>
                </a:solidFill>
                <a:latin typeface="Calibri"/>
              </a:rPr>
              <a:t>ML Kit + Open Food Facts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94768" y="4370832"/>
            <a:ext cx="256032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60528" y="4370832"/>
            <a:ext cx="558095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5E20"/>
                </a:solidFill>
                <a:latin typeface="Calibri"/>
              </a:rPr>
              <a:t>Cook hands-free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0528" y="4645152"/>
            <a:ext cx="558095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Calibri"/>
              </a:rPr>
              <a:t>TTS reads steps, voice controls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94768" y="5212080"/>
            <a:ext cx="256032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60528" y="5212080"/>
            <a:ext cx="558095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5E20"/>
                </a:solidFill>
                <a:latin typeface="Calibri"/>
              </a:rPr>
              <a:t>Save for later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0528" y="5486400"/>
            <a:ext cx="558095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Calibri"/>
              </a:rPr>
              <a:t>Offline access via Room database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09728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Ingredient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658368"/>
            <a:ext cx="10972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BB6A"/>
                </a:solidFill>
                <a:latin typeface="Calibri"/>
              </a:rPr>
              <a:t>Google Gemini 1.5 Flash  +  ML Kit Barcode Scanning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6574536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BB6A"/>
                </a:solidFill>
                <a:latin typeface="Calibri"/>
              </a:rPr>
              <a:t>Snap &amp; Cook  |  CSD3156 Mobile and Cloud Computing  |  SIT</a:t>
            </a:r>
          </a:p>
        </p:txBody>
      </p:sp>
      <p:sp>
        <p:nvSpPr>
          <p:cNvPr id="8" name="Rectangle 7"/>
          <p:cNvSpPr/>
          <p:nvPr/>
        </p:nvSpPr>
        <p:spPr>
          <a:xfrm>
            <a:off x="9447089" y="1115568"/>
            <a:ext cx="2476686" cy="5138928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Show Ingre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1953" y="1170432"/>
            <a:ext cx="2366958" cy="50292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1170432"/>
            <a:ext cx="8999033" cy="2606040"/>
          </a:xfrm>
          <a:prstGeom prst="rect">
            <a:avLst/>
          </a:prstGeom>
          <a:solidFill>
            <a:srgbClr val="F1F8E9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261872"/>
            <a:ext cx="8724713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5E20"/>
                </a:solidFill>
                <a:latin typeface="Calibri"/>
              </a:rPr>
              <a:t>AI Detection  —  Gemini 1.5 Flash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691640"/>
            <a:ext cx="8724713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300" b="0">
                <a:solidFill>
                  <a:srgbClr val="212121"/>
                </a:solidFill>
                <a:latin typeface="Calibri"/>
              </a:rPr>
              <a:t>1.  Take a photo or choose from gallery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212121"/>
                </a:solidFill>
                <a:latin typeface="Calibri"/>
              </a:rPr>
              <a:t>2.  Image sent to Gemini 1.5 Flash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212121"/>
                </a:solidFill>
                <a:latin typeface="Calibri"/>
              </a:rPr>
              <a:t>3.  AI returns specific ingredient names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212121"/>
                </a:solidFill>
                <a:latin typeface="Calibri"/>
              </a:rPr>
              <a:t>4.  Review, edit or remove items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212121"/>
                </a:solidFill>
                <a:latin typeface="Calibri"/>
              </a:rPr>
              <a:t>5.  Hit Find Recipes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913632"/>
            <a:ext cx="8999033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4005072"/>
            <a:ext cx="8724713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5E20"/>
                </a:solidFill>
                <a:latin typeface="Calibri"/>
              </a:rPr>
              <a:t>Barcode Scanning  —  ML Kit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34840"/>
            <a:ext cx="8724713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300" b="0">
                <a:solidFill>
                  <a:srgbClr val="212121"/>
                </a:solidFill>
                <a:latin typeface="Calibri"/>
              </a:rPr>
              <a:t>Scan any packaged product barcode</a:t>
            </a:r>
          </a:p>
          <a:p>
            <a:pPr algn="l">
              <a:spcBef>
                <a:spcPts val="700"/>
              </a:spcBef>
            </a:pPr>
            <a:r>
              <a:rPr sz="1300" b="0">
                <a:solidFill>
                  <a:srgbClr val="212121"/>
                </a:solidFill>
                <a:latin typeface="Calibri"/>
              </a:rPr>
              <a:t>Open Food Facts resolves product name</a:t>
            </a:r>
          </a:p>
          <a:p>
            <a:pPr algn="l">
              <a:spcBef>
                <a:spcPts val="700"/>
              </a:spcBef>
            </a:pPr>
            <a:r>
              <a:rPr sz="1300" b="0">
                <a:solidFill>
                  <a:srgbClr val="212121"/>
                </a:solidFill>
                <a:latin typeface="Calibri"/>
              </a:rPr>
              <a:t>Ingredient added to list automatically</a:t>
            </a:r>
          </a:p>
          <a:p>
            <a:pPr algn="l">
              <a:spcBef>
                <a:spcPts val="700"/>
              </a:spcBef>
            </a:pPr>
            <a:r>
              <a:rPr sz="1300" b="0">
                <a:solidFill>
                  <a:srgbClr val="212121"/>
                </a:solidFill>
                <a:latin typeface="Calibri"/>
              </a:rPr>
              <a:t>Works on EAN / UPC barcodes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09728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Recipe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658368"/>
            <a:ext cx="10972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BB6A"/>
                </a:solidFill>
                <a:latin typeface="Calibri"/>
              </a:rPr>
              <a:t>Spoonacular 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6574536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BB6A"/>
                </a:solidFill>
                <a:latin typeface="Calibri"/>
              </a:rPr>
              <a:t>Snap &amp; Cook  |  CSD3156 Mobile and Cloud Computing  |  SIT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" y="1115568"/>
            <a:ext cx="2465116" cy="5138928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Recipes 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70432"/>
            <a:ext cx="2355389" cy="5029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041188" y="1234440"/>
            <a:ext cx="88277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5E20"/>
                </a:solidFill>
                <a:latin typeface="Calibri"/>
              </a:rPr>
              <a:t>What you see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1188" y="1737360"/>
            <a:ext cx="8827723" cy="25340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12121"/>
                </a:solidFill>
                <a:latin typeface="Calibri"/>
              </a:rPr>
              <a:t>Up to 6 matched recipes returned</a:t>
            </a:r>
          </a:p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12121"/>
                </a:solidFill>
                <a:latin typeface="Calibri"/>
              </a:rPr>
              <a:t>Paginate with Prev / Next</a:t>
            </a:r>
          </a:p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rgbClr val="212121"/>
                </a:solidFill>
                <a:latin typeface="Calibri"/>
              </a:rPr>
              <a:t>Green </a:t>
            </a:r>
            <a:r>
              <a:rPr lang="en-US" sz="1400" dirty="0">
                <a:solidFill>
                  <a:srgbClr val="212121"/>
                </a:solidFill>
                <a:latin typeface="Calibri"/>
              </a:rPr>
              <a:t>tick = </a:t>
            </a:r>
            <a:r>
              <a:rPr lang="en-US" sz="1400" b="0" dirty="0">
                <a:solidFill>
                  <a:srgbClr val="212121"/>
                </a:solidFill>
                <a:latin typeface="Calibri"/>
              </a:rPr>
              <a:t>Ingredients you own</a:t>
            </a:r>
          </a:p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rgbClr val="212121"/>
                </a:solidFill>
                <a:latin typeface="Calibri"/>
              </a:rPr>
              <a:t>Bullet point = Ingredients you still need to buy</a:t>
            </a:r>
          </a:p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12121"/>
                </a:solidFill>
                <a:latin typeface="Calibri"/>
              </a:rPr>
              <a:t>Cooking time, servings, calories</a:t>
            </a:r>
          </a:p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12121"/>
                </a:solidFill>
                <a:latin typeface="Calibri"/>
              </a:rPr>
              <a:t>YouTube cooking video embedded</a:t>
            </a:r>
          </a:p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12121"/>
                </a:solidFill>
                <a:latin typeface="Calibri"/>
              </a:rPr>
              <a:t>Tap image for </a:t>
            </a:r>
            <a:r>
              <a:rPr sz="1400" b="0" dirty="0" err="1">
                <a:solidFill>
                  <a:srgbClr val="212121"/>
                </a:solidFill>
                <a:latin typeface="Calibri"/>
              </a:rPr>
              <a:t>fullscreen</a:t>
            </a:r>
            <a:r>
              <a:rPr sz="1400" b="0" dirty="0">
                <a:solidFill>
                  <a:srgbClr val="212121"/>
                </a:solidFill>
                <a:latin typeface="Calibri"/>
              </a:rPr>
              <a:t> view</a:t>
            </a:r>
          </a:p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12121"/>
                </a:solidFill>
                <a:latin typeface="Calibri"/>
              </a:rPr>
              <a:t>Save recipe for offline access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41188" y="5321808"/>
            <a:ext cx="8827723" cy="868680"/>
          </a:xfrm>
          <a:prstGeom prst="rect">
            <a:avLst/>
          </a:prstGeom>
          <a:solidFill>
            <a:srgbClr val="F1F8E9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24068" y="5394960"/>
            <a:ext cx="8553403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API Key Rotation — multiple Spoonacular keys auto-swap on quota exhaustion. Zero interruption to the user.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09728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Hands-Free Cooking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658368"/>
            <a:ext cx="10972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BB6A"/>
                </a:solidFill>
                <a:latin typeface="Calibri"/>
              </a:rPr>
              <a:t>Text-to-Speech  +  Voice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6574536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BB6A"/>
                </a:solidFill>
                <a:latin typeface="Calibri"/>
              </a:rPr>
              <a:t>Snap &amp; Cook  |  CSD3156 Mobile and Cloud Computing  |  SIT</a:t>
            </a:r>
          </a:p>
        </p:txBody>
      </p:sp>
      <p:sp>
        <p:nvSpPr>
          <p:cNvPr id="8" name="Rectangle 7"/>
          <p:cNvSpPr/>
          <p:nvPr/>
        </p:nvSpPr>
        <p:spPr>
          <a:xfrm>
            <a:off x="9445426" y="1115568"/>
            <a:ext cx="2478349" cy="5138928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T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0290" y="1170432"/>
            <a:ext cx="2368621" cy="50292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1170432"/>
            <a:ext cx="8997370" cy="2514600"/>
          </a:xfrm>
          <a:prstGeom prst="rect">
            <a:avLst/>
          </a:prstGeom>
          <a:solidFill>
            <a:srgbClr val="F1F8E9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261872"/>
            <a:ext cx="872305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5E20"/>
                </a:solidFill>
                <a:latin typeface="Calibri"/>
              </a:rPr>
              <a:t>Text-to-Speech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691640"/>
            <a:ext cx="872305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12121"/>
                </a:solidFill>
                <a:latin typeface="Calibri"/>
              </a:rPr>
              <a:t>Reads each step aloud automatically</a:t>
            </a:r>
          </a:p>
          <a:p>
            <a:pPr marL="285750" indent="-2857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12121"/>
                </a:solidFill>
                <a:latin typeface="Calibri"/>
              </a:rPr>
              <a:t>Toggle narration on / off</a:t>
            </a:r>
          </a:p>
          <a:p>
            <a:pPr marL="285750" indent="-2857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12121"/>
                </a:solidFill>
                <a:latin typeface="Calibri"/>
              </a:rPr>
              <a:t>Mic activates after TTS finishes</a:t>
            </a:r>
          </a:p>
          <a:p>
            <a:pPr marL="285750" indent="-2857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12121"/>
                </a:solidFill>
                <a:latin typeface="Calibri"/>
              </a:rPr>
              <a:t>Completion message spoken at 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822191"/>
            <a:ext cx="899737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3913632"/>
            <a:ext cx="872305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5E20"/>
                </a:solidFill>
                <a:latin typeface="Calibri"/>
              </a:rPr>
              <a:t>Voice Commands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343400"/>
            <a:ext cx="872305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12121"/>
                </a:solidFill>
                <a:latin typeface="Calibri"/>
              </a:rPr>
              <a:t>"next"  —  advance step</a:t>
            </a:r>
          </a:p>
          <a:p>
            <a:pPr marL="285750" indent="-2857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12121"/>
                </a:solidFill>
                <a:latin typeface="Calibri"/>
              </a:rPr>
              <a:t>"previous" / "back"  —  go back</a:t>
            </a:r>
          </a:p>
          <a:p>
            <a:pPr marL="285750" indent="-2857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12121"/>
                </a:solidFill>
                <a:latin typeface="Calibri"/>
              </a:rPr>
              <a:t>"repeat"  —  re-read current step</a:t>
            </a:r>
          </a:p>
          <a:p>
            <a:pPr marL="285750" indent="-2857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12121"/>
                </a:solidFill>
                <a:latin typeface="Calibri"/>
              </a:rPr>
              <a:t>Screen stays on during cooking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09728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Saved Recipes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658368"/>
            <a:ext cx="10972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BB6A"/>
                </a:solidFill>
                <a:latin typeface="Calibri"/>
              </a:rPr>
              <a:t>Offline Access  —  Room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6574536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BB6A"/>
                </a:solidFill>
                <a:latin typeface="Calibri"/>
              </a:rPr>
              <a:t>Snap &amp; Cook  |  CSD3156 Mobile and Cloud Computing  |  SIT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" y="1115568"/>
            <a:ext cx="2372868" cy="5138928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Saved Recip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70432"/>
            <a:ext cx="2263140" cy="5029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48940" y="1234440"/>
            <a:ext cx="89199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5E20"/>
                </a:solidFill>
                <a:latin typeface="Calibri"/>
              </a:rPr>
              <a:t>Your recipes, anytime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8940" y="1755648"/>
            <a:ext cx="8919972" cy="21185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212121"/>
                </a:solidFill>
                <a:latin typeface="Calibri"/>
              </a:rPr>
              <a:t>Save any recipe with one tap</a:t>
            </a:r>
          </a:p>
          <a:p>
            <a:pPr marL="285750" indent="-285750" algn="l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212121"/>
                </a:solidFill>
                <a:latin typeface="Calibri"/>
              </a:rPr>
              <a:t>Stored locally — no internet needed</a:t>
            </a:r>
          </a:p>
          <a:p>
            <a:pPr marL="285750" indent="-285750" algn="l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212121"/>
                </a:solidFill>
                <a:latin typeface="Calibri"/>
              </a:rPr>
              <a:t>Search through your saved collection</a:t>
            </a:r>
          </a:p>
          <a:p>
            <a:pPr marL="285750" indent="-285750" algn="l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212121"/>
                </a:solidFill>
                <a:latin typeface="Calibri"/>
              </a:rPr>
              <a:t>Recently saved shown on home screen</a:t>
            </a:r>
          </a:p>
          <a:p>
            <a:pPr marL="285750" indent="-285750" algn="l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212121"/>
                </a:solidFill>
                <a:latin typeface="Calibri"/>
              </a:rPr>
              <a:t>Tap to view full recipe details</a:t>
            </a:r>
          </a:p>
          <a:p>
            <a:pPr marL="285750" indent="-285750" algn="l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212121"/>
                </a:solidFill>
                <a:latin typeface="Calibri"/>
              </a:rPr>
              <a:t>Launch directly into Cooking Mode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48940" y="5166360"/>
            <a:ext cx="8919972" cy="1051560"/>
          </a:xfrm>
          <a:prstGeom prst="rect">
            <a:avLst/>
          </a:prstGeom>
          <a:solidFill>
            <a:srgbClr val="F1F8E9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31820" y="5239512"/>
            <a:ext cx="86456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Calibri"/>
              </a:rPr>
              <a:t>How it 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31820" y="5577840"/>
            <a:ext cx="86456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Calibri"/>
              </a:rPr>
              <a:t>Recipes are stored in a Room (SQLite) database using a SavedRecipe entity. Ingredients and steps are JSON-serialised for compact storage.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-127" y="2289069"/>
            <a:ext cx="121889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 dirty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-127" y="4170998"/>
            <a:ext cx="121889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2400" dirty="0"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en-SG" sz="2400" dirty="0">
                <a:solidFill>
                  <a:schemeClr val="bg1"/>
                </a:solidFill>
              </a:rPr>
              <a:t> &amp; </a:t>
            </a:r>
            <a:r>
              <a:rPr lang="en-SG" sz="2400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 Demo</a:t>
            </a:r>
            <a:endParaRPr lang="en-SG" sz="2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692</Words>
  <Application>Microsoft Office PowerPoint</Application>
  <PresentationFormat>Custom</PresentationFormat>
  <Paragraphs>109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Brown White</cp:lastModifiedBy>
  <cp:revision>2</cp:revision>
  <dcterms:created xsi:type="dcterms:W3CDTF">2013-01-27T09:14:16Z</dcterms:created>
  <dcterms:modified xsi:type="dcterms:W3CDTF">2026-02-22T16:09:02Z</dcterms:modified>
  <cp:category/>
</cp:coreProperties>
</file>