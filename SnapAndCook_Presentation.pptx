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69" r:id="rId3"/>
    <p:sldId id="270" r:id="rId4"/>
    <p:sldId id="271" r:id="rId5"/>
    <p:sldId id="260" r:id="rId6"/>
    <p:sldId id="272" r:id="rId7"/>
    <p:sldId id="262" r:id="rId8"/>
    <p:sldId id="263" r:id="rId9"/>
    <p:sldId id="273" r:id="rId10"/>
    <p:sldId id="267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0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WJMpj2Y8c0" TargetMode="External"/><Relationship Id="rId2" Type="http://schemas.openxmlformats.org/officeDocument/2006/relationships/hyperlink" Target="https://github.com/tobenwarrior/MobileComputingProjec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88825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932522-55BA-E707-C0E5-85D5FAD83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281" y="0"/>
            <a:ext cx="3970255" cy="3970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1" y="0"/>
            <a:ext cx="12188825" cy="9144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" y="6766560"/>
            <a:ext cx="12188825" cy="9144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" y="1769849"/>
            <a:ext cx="121888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 dirty="0">
                <a:solidFill>
                  <a:srgbClr val="FFFFFF"/>
                </a:solidFill>
                <a:latin typeface="Calibri"/>
              </a:rPr>
              <a:t>Snap</a:t>
            </a:r>
            <a:r>
              <a:rPr lang="en-SG" sz="7200" b="1" i="0" dirty="0">
                <a:solidFill>
                  <a:srgbClr val="FFFFFF"/>
                </a:solidFill>
                <a:latin typeface="Calibri"/>
              </a:rPr>
              <a:t>						</a:t>
            </a:r>
            <a:r>
              <a:rPr sz="7200" b="1" i="0" dirty="0">
                <a:solidFill>
                  <a:srgbClr val="FFFFFF"/>
                </a:solidFill>
                <a:latin typeface="Calibri"/>
              </a:rPr>
              <a:t>Cook</a:t>
            </a:r>
            <a:endParaRPr lang="en-SG" sz="7200" b="1" i="0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lang="en-SG" sz="7200" b="1" dirty="0">
                <a:solidFill>
                  <a:srgbClr val="FFFFFF"/>
                </a:solidFill>
                <a:latin typeface="Calibri"/>
              </a:rPr>
              <a:t>&amp;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94009" y="3862730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 dirty="0">
                <a:solidFill>
                  <a:srgbClr val="FFA726"/>
                </a:solidFill>
                <a:latin typeface="Calibri"/>
              </a:rPr>
              <a:t>Snap. Detect. Cook.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09" y="4391799"/>
            <a:ext cx="6400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66BB6A"/>
                </a:solidFill>
                <a:latin typeface="Calibri"/>
              </a:rPr>
              <a:t>AI-powered ingredient detection
and hands-free guided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464" y="5412757"/>
            <a:ext cx="87918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80CBC4"/>
                </a:solidFill>
                <a:latin typeface="Calibri"/>
              </a:rPr>
              <a:t>Ernest Ho  ·  Lucas Yee  ·  Tan Shun Zhi Tomy</a:t>
            </a:r>
            <a:r>
              <a:rPr lang="en-SG" sz="1300" b="0" i="0" dirty="0">
                <a:solidFill>
                  <a:srgbClr val="80CBC4"/>
                </a:solidFill>
                <a:latin typeface="Calibri"/>
              </a:rPr>
              <a:t> </a:t>
            </a:r>
            <a:r>
              <a:rPr lang="en-SG" sz="1300" dirty="0">
                <a:solidFill>
                  <a:srgbClr val="80CBC4"/>
                </a:solidFill>
              </a:rPr>
              <a:t> ·  </a:t>
            </a:r>
            <a:r>
              <a:rPr sz="1300" b="0" i="0" dirty="0">
                <a:solidFill>
                  <a:srgbClr val="80CBC4"/>
                </a:solidFill>
                <a:latin typeface="Calibri"/>
              </a:rPr>
              <a:t>Wong Woon Li  ·  Yan Yu  ·  Muhammad Zikry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" y="6175936"/>
            <a:ext cx="1218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66BB6A"/>
                </a:solidFill>
                <a:latin typeface="Calibri"/>
              </a:rPr>
              <a:t>CSD3156 Mobile and Cloud Computing  |  SIT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User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Survey of 5 home cooks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576304" cy="74980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A726"/>
                </a:solidFill>
                <a:latin typeface="Calibri"/>
              </a:rPr>
              <a:t>4 out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8681" y="1390440"/>
            <a:ext cx="7370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surveyed regularly threw away ingredients because they did not know what to cook with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2176272" cy="566928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97863" y="2084831"/>
            <a:ext cx="512064" cy="5120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97863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Sarah,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Student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"I always end up throwing out vegetables
because I have no idea what to do with them."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5768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15768" y="2084831"/>
            <a:ext cx="2176272" cy="5669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47872" y="2084831"/>
            <a:ext cx="512064" cy="5120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James, 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Working Professional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5496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"I buy groceries weekly but half of it
goes to waste before I cook it."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5775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65775" y="2084831"/>
            <a:ext cx="2176272" cy="56692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897879" y="2084831"/>
            <a:ext cx="512064" cy="512064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97879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57215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Mei Ling,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5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Home Cook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5503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"Random bits of food just pile up and
expire in the back of my fridge."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15783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15783" y="2084831"/>
            <a:ext cx="2176272" cy="566928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2084831"/>
            <a:ext cx="512064" cy="512064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47888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7223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Raj, 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7223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Parent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1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"With a busy schedule I never know
what to make from leftover ingredients."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65792" y="2084831"/>
            <a:ext cx="217627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765792" y="2084831"/>
            <a:ext cx="2176272" cy="56692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597896" y="2084831"/>
            <a:ext cx="512064" cy="512064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597896" y="2084831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57232" y="2724912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Calibri"/>
              </a:rPr>
              <a:t>Alex, 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7232" y="3035808"/>
            <a:ext cx="2039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University Student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19" y="3429000"/>
            <a:ext cx="19933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12121"/>
                </a:solidFill>
                <a:latin typeface="Calibri"/>
              </a:rPr>
              <a:t>"Living alone means food expires before
I get a chance to use it all up."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13726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164592" cy="1325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261872"/>
            <a:ext cx="106674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12121"/>
                </a:solidFill>
                <a:latin typeface="Calibri"/>
              </a:rPr>
              <a:t>Home cooks often struggle to decide what to make when they have leftover or mismatched ingredients, leading to food waste and unnecessary grocery trips.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Food Waste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Ingredients expire
before they are 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052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6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Unnecessary Trips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Buying items already
in the fridge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0" y="2697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55280" y="26974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0" y="2724912"/>
            <a:ext cx="3383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No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291840"/>
            <a:ext cx="3383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alibri"/>
              </a:rPr>
              <a:t>No hands-free help
while cooking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Primary Goal: Reduce food waste and simplify meal planning by helping users make the most of what they already have.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One app — from fridge to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457493" cy="504748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Main 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347765" cy="4937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932981" y="1115568"/>
            <a:ext cx="2422291" cy="504748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cipes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845" y="1170432"/>
            <a:ext cx="2312564" cy="49377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666168" y="1170432"/>
            <a:ext cx="6248463" cy="493776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4768" y="1298448"/>
            <a:ext cx="62210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Snap &amp; Cook solves this by: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4768" y="1847088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0528" y="1847088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Snap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0528" y="2121408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Gemini AI identifies your ingredients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4768" y="2688336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0528" y="3534371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Find recipes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0528" y="3808691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Spoonacular matches what you have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4768" y="3529584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0528" y="2683549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B5E20"/>
                </a:solidFill>
                <a:latin typeface="Calibri"/>
              </a:rPr>
              <a:t>Scan barcodes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0528" y="2957869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555555"/>
                </a:solidFill>
                <a:latin typeface="Calibri"/>
              </a:rPr>
              <a:t>ML Kit + Open Food Facts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4768" y="4370832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0528" y="4370832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Cook hands-free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0528" y="4645152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TTS reads steps, voice controls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94768" y="5212080"/>
            <a:ext cx="25603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0528" y="5212080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Save for later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0528" y="5486400"/>
            <a:ext cx="55809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Offline access via Room database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Ingredient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Google Gemini 1.5 Flash  +  ML Kit Barcode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447089" y="1115568"/>
            <a:ext cx="2476686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ow Ingre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953" y="1170432"/>
            <a:ext cx="2366958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1170432"/>
            <a:ext cx="8999033" cy="260604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261872"/>
            <a:ext cx="872471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Calibri"/>
              </a:rPr>
              <a:t>AI Detection  —  Gemini 1.5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8724713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1.  Take a photo or choose from gallery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2.  Image sent to Gemini 1.5 Flash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3.  AI returns specific ingredient names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4.  Review, edit or remove items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5.  Hit Find Recipes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899903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005072"/>
            <a:ext cx="872471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Calibri"/>
              </a:rPr>
              <a:t>Barcode Scanning  —  ML 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8724713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Scan any packaged product barcode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Open Food Facts resolves product name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Ingredient added to list automatically</a:t>
            </a:r>
          </a:p>
          <a:p>
            <a:pPr algn="l">
              <a:spcBef>
                <a:spcPts val="700"/>
              </a:spcBef>
            </a:pPr>
            <a:r>
              <a:rPr sz="1300" b="0">
                <a:solidFill>
                  <a:srgbClr val="212121"/>
                </a:solidFill>
                <a:latin typeface="Calibri"/>
              </a:rPr>
              <a:t>Works on EAN / UPC barcodes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Recipe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Spoonacular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465116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Recipes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355389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41188" y="1234440"/>
            <a:ext cx="88277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5E20"/>
                </a:solidFill>
                <a:latin typeface="Calibri"/>
              </a:rPr>
              <a:t>What you 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8" y="1737360"/>
            <a:ext cx="8827723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Up to 6 matched recipes returned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Paginate with Prev / Next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212121"/>
                </a:solidFill>
                <a:latin typeface="Calibri"/>
              </a:rPr>
              <a:t>Green </a:t>
            </a:r>
            <a:r>
              <a:rPr lang="en-US" sz="1400" dirty="0">
                <a:solidFill>
                  <a:srgbClr val="212121"/>
                </a:solidFill>
                <a:latin typeface="Calibri"/>
              </a:rPr>
              <a:t>tick = </a:t>
            </a:r>
            <a:r>
              <a:rPr lang="en-US" sz="1400" b="0" dirty="0">
                <a:solidFill>
                  <a:srgbClr val="212121"/>
                </a:solidFill>
                <a:latin typeface="Calibri"/>
              </a:rPr>
              <a:t>Ingredients you own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212121"/>
                </a:solidFill>
                <a:latin typeface="Calibri"/>
              </a:rPr>
              <a:t>Bullet point = Ingredients you still need to buy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Cooking time, servings, calories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YouTube cooking video embedded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Tap image for </a:t>
            </a:r>
            <a:r>
              <a:rPr sz="1400" b="0" dirty="0" err="1">
                <a:solidFill>
                  <a:srgbClr val="212121"/>
                </a:solidFill>
                <a:latin typeface="Calibri"/>
              </a:rPr>
              <a:t>fullscreen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 view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Save recipe for offline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41188" y="5321808"/>
            <a:ext cx="8827723" cy="86868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24068" y="5394960"/>
            <a:ext cx="855340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API Key Rotation — multiple Spoonacular keys auto-swap on quota exhaustion. Zero interruption to the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Hands-Free Cooking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Text-to-Speech  +  Voice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445426" y="1115568"/>
            <a:ext cx="2478349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290" y="1170432"/>
            <a:ext cx="2368621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1170432"/>
            <a:ext cx="8997370" cy="251460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261872"/>
            <a:ext cx="872305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Text-to-Speech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872305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Reads each step aloud automatically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Toggle narration on / off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Mic activates after TTS finishes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Completion message spoken at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22191"/>
            <a:ext cx="899737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913632"/>
            <a:ext cx="872305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Voice Commands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872305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"next"  —  advance step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"previous" / "back"  —  go back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"repeat"  —  re-read current step</a:t>
            </a:r>
          </a:p>
          <a:p>
            <a:pPr marL="285750" indent="-2857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Screen stays on during cooking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09728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Saved Recipes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658368"/>
            <a:ext cx="10972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BB6A"/>
                </a:solidFill>
                <a:latin typeface="Calibri"/>
              </a:rPr>
              <a:t>Offline Access  —  Room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  |  SIT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1115568"/>
            <a:ext cx="2372868" cy="513892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aved Recip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2263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48940" y="1234440"/>
            <a:ext cx="89199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5E20"/>
                </a:solidFill>
                <a:latin typeface="Calibri"/>
              </a:rPr>
              <a:t>Your recipes, anytime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940" y="1755648"/>
            <a:ext cx="8919972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Save any recipe with one tap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Stored locally — no internet needed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Search through your saved collection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Recently saved shown on home screen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Tap to view full recipe details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Launch directly into Cooking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8940" y="5166360"/>
            <a:ext cx="8919972" cy="105156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31820" y="5239512"/>
            <a:ext cx="86456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1820" y="5577840"/>
            <a:ext cx="86456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Recipes are stored in a Room (SQLite) database using a SavedRecipe entity. Ingredients and steps are JSON-serialised for compact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B43F69-40DA-42DC-14FB-E4F6681E5771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2876A0-1030-B6AA-979E-F6F950AD5C40}"/>
              </a:ext>
            </a:extLst>
          </p:cNvPr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B9D61C-BBC0-4F3C-81F2-BDC2215F0281}"/>
              </a:ext>
            </a:extLst>
          </p:cNvPr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52D29-925F-660D-EA0A-D3BC484C9B9B}"/>
              </a:ext>
            </a:extLst>
          </p:cNvPr>
          <p:cNvSpPr txBox="1"/>
          <p:nvPr/>
        </p:nvSpPr>
        <p:spPr>
          <a:xfrm>
            <a:off x="-127" y="2289069"/>
            <a:ext cx="121889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6000" b="1" i="0" dirty="0">
                <a:solidFill>
                  <a:srgbClr val="FFFFFF"/>
                </a:solidFill>
                <a:latin typeface="Calibri"/>
              </a:rPr>
              <a:t>App Demo</a:t>
            </a:r>
            <a:endParaRPr sz="6000" b="1" i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325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-127" y="2289069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27" y="4170998"/>
            <a:ext cx="12188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24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en-SG" sz="2400" dirty="0">
                <a:solidFill>
                  <a:schemeClr val="bg1"/>
                </a:solidFill>
              </a:rPr>
              <a:t> &amp; </a:t>
            </a:r>
            <a:r>
              <a:rPr lang="en-SG" sz="24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 Demo</a:t>
            </a:r>
            <a:endParaRPr lang="en-SG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694</Words>
  <Application>Microsoft Office PowerPoint</Application>
  <PresentationFormat>Custom</PresentationFormat>
  <Paragraphs>110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Brown White</cp:lastModifiedBy>
  <cp:revision>3</cp:revision>
  <dcterms:created xsi:type="dcterms:W3CDTF">2013-01-27T09:14:16Z</dcterms:created>
  <dcterms:modified xsi:type="dcterms:W3CDTF">2026-02-24T06:03:10Z</dcterms:modified>
  <cp:category/>
</cp:coreProperties>
</file>