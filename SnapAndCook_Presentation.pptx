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88952" cy="33832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337560"/>
            <a:ext cx="12188952" cy="13716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15600" y="-457200"/>
            <a:ext cx="2743200" cy="2743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55680" y="182880"/>
            <a:ext cx="1645920" cy="16459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"/>
            <a:ext cx="1463040" cy="14630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1463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Calibri"/>
              </a:rPr>
              <a:t>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7315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Snap &amp; Cook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73736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6BB6A"/>
                </a:solidFill>
                <a:latin typeface="Calibri"/>
              </a:rPr>
              <a:t>AI-Powered Ingredient Detection &amp; Recipe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1">
                <a:solidFill>
                  <a:srgbClr val="FFA726"/>
                </a:solidFill>
                <a:latin typeface="Calibri"/>
              </a:rPr>
              <a:t>"Turn your fridge into a recipe book"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Ernest Ho  ·  Lucas Yee  ·  Tan Shun Zhi Tomy  ·  Wong Woon Li  ·  Yan Yu  ·  Muhammad Zikry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6BB6A"/>
                </a:solidFill>
                <a:latin typeface="Calibri"/>
              </a:rPr>
              <a:t>CSD3156 Mobile and Cloud Computing  |  Singapore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Problem &amp;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303520" cy="4389120"/>
          </a:xfrm>
          <a:prstGeom prst="rect">
            <a:avLst/>
          </a:prstGeom>
          <a:solidFill>
            <a:srgbClr val="FFEBEE"/>
          </a:solidFill>
          <a:ln w="12700">
            <a:solidFill>
              <a:srgbClr val="E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62828"/>
                </a:solidFill>
                <a:latin typeface="Calibri"/>
              </a:rPr>
              <a:t>❌ 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212121"/>
                </a:solidFill>
                <a:latin typeface="Calibri"/>
              </a:rPr>
              <a:t>• Opening the fridge and not knowing what to cook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12121"/>
                </a:solidFill>
                <a:latin typeface="Calibri"/>
              </a:rPr>
              <a:t>• Manually searching recipes by ingredient is tedious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12121"/>
                </a:solidFill>
                <a:latin typeface="Calibri"/>
              </a:rPr>
              <a:t>• Forgetting recipe steps while cooking with messy hands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12121"/>
                </a:solidFill>
                <a:latin typeface="Calibri"/>
              </a:rPr>
              <a:t>• Free-tier API quota limits causing service interruptions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577840" cy="4389120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716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5E20"/>
                </a:solidFill>
                <a:latin typeface="Calibri"/>
              </a:rPr>
              <a:t>✅  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2024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212121"/>
                </a:solidFill>
                <a:latin typeface="Calibri"/>
              </a:rPr>
              <a:t>• Snap a photo → Gemini AI identifies ingredients instantly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12121"/>
                </a:solidFill>
                <a:latin typeface="Calibri"/>
              </a:rPr>
              <a:t>• Spoonacular matches recipes to your exact ingredients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12121"/>
                </a:solidFill>
                <a:latin typeface="Calibri"/>
              </a:rPr>
              <a:t>• Hands-free cooking mode with TTS step-by-step narration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12121"/>
                </a:solidFill>
                <a:latin typeface="Calibri"/>
              </a:rPr>
              <a:t>• Voice commands: "next", "previous", "repeat"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12121"/>
                </a:solidFill>
                <a:latin typeface="Calibri"/>
              </a:rPr>
              <a:t>• Automatic API key rotation for uninterrupted service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212121"/>
                </a:solidFill>
                <a:latin typeface="Calibri"/>
              </a:rPr>
              <a:t>• Offline saved recipes via local Room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301752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6F00"/>
                </a:solidFill>
                <a:latin typeface="Calibri"/>
              </a:rPr>
              <a:t>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App Screen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6BB6A"/>
                </a:solidFill>
                <a:latin typeface="Calibri"/>
              </a:rPr>
              <a:t>End-to-end user journey across 7 screens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463040" cy="256032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481328"/>
            <a:ext cx="4572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" y="1965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Splash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4231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Branded
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4" y="23774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74520" y="1371600"/>
            <a:ext cx="14630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40" y="1481328"/>
            <a:ext cx="4572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14813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1965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Home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4231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Gallery /
Camera CTA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6704" y="23774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1371600"/>
            <a:ext cx="1463040" cy="256032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1481328"/>
            <a:ext cx="4572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14813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1965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Camera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4231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CameraX
live preview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1184" y="23774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3480" y="1371600"/>
            <a:ext cx="14630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0" y="1481328"/>
            <a:ext cx="4572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14813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1965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24231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Review &amp;
edit ingredients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3774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1371600"/>
            <a:ext cx="1463040" cy="256032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0" y="1481328"/>
            <a:ext cx="4572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14813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1965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Recipes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24231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Spoonacular
result cards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4" y="23774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92440" y="1371600"/>
            <a:ext cx="14630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1481328"/>
            <a:ext cx="4572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14813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1965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Cooking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24231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TTS + voice
commands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64624" y="237744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46920" y="1371600"/>
            <a:ext cx="1463040" cy="256032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49840" y="1481328"/>
            <a:ext cx="4572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14813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1965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Saved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24231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Offline
bookmarks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4160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* MainActivity and RecipeResultActivity also branch to Saved Recipes screen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19" y="1325880"/>
            <a:ext cx="1554480" cy="2651760"/>
          </a:xfrm>
          <a:prstGeom prst="rect">
            <a:avLst/>
          </a:prstGeom>
          <a:noFill/>
          <a:ln w="25400">
            <a:solidFill>
              <a:srgbClr val="FF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4023359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6F00"/>
                </a:solidFill>
                <a:latin typeface="Calibri"/>
              </a:rPr>
              <a:t>★ KEY FEATURE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Software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6BB6A"/>
                </a:solidFill>
                <a:latin typeface="Calibri"/>
              </a:rPr>
              <a:t>MVVM + Repository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6583680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1673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UI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316736"/>
            <a:ext cx="4297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Activities + ViewModels + RecyclerView Adapters
ui/camera  ·  ui/cooking  ·  ui/main  ·  ui/recipe  ·  ui/saved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21408"/>
            <a:ext cx="6583680" cy="749808"/>
          </a:xfrm>
          <a:prstGeom prst="rect">
            <a:avLst/>
          </a:prstGeom>
          <a:solidFill>
            <a:srgbClr val="FF6F00"/>
          </a:solidFill>
          <a:ln w="12700">
            <a:solidFill>
              <a:srgbClr val="FF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15798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157984"/>
            <a:ext cx="4297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RecipeRepository — mediates ViewModel ↔ APIs
WithKeyRotation() transparently retries on HTTP 402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62656"/>
            <a:ext cx="6583680" cy="74980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992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Remote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999232"/>
            <a:ext cx="4297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GeminiClient  ·  RetrofitClient (Spoonacular)  ·  OpenFoodFactsClient
data/remote/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03904"/>
            <a:ext cx="6583680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40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Local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840480"/>
            <a:ext cx="4297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Room Database  ·  RecipeDao  ·  SavedRecipe entity
data/local/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45152"/>
            <a:ext cx="6583680" cy="749808"/>
          </a:xfrm>
          <a:prstGeom prst="rect">
            <a:avLst/>
          </a:prstGeom>
          <a:solidFill>
            <a:srgbClr val="FF6F00"/>
          </a:solidFill>
          <a:ln w="12700">
            <a:solidFill>
              <a:srgbClr val="FF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6817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ML / Vision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4681728"/>
            <a:ext cx="4297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IngredientDetector — bitmap → JPEG → base64 → Gemini 1.5 Flash
ml/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2344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Design Patterns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1691640"/>
            <a:ext cx="43891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172821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Calibri"/>
              </a:rPr>
              <a:t>MVVM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00253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ViewModel + LiveData keep UI reactive and lifecycle-safe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2459736"/>
            <a:ext cx="43891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2496312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Calibri"/>
              </a:rPr>
              <a:t>Repository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7706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Single source of truth; ViewModel never touches APIs directly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227832"/>
            <a:ext cx="43891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3264408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Calibri"/>
              </a:rPr>
              <a:t>Singleton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538727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GeminiClient, RetrofitClient, AppDatabase — one instance each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06640" y="3995928"/>
            <a:ext cx="43891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3800" y="4032504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Calibri"/>
              </a:rPr>
              <a:t>Coroutines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4306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viewModelScope + Dispatchers.IO for non-blocking I/O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4764024"/>
            <a:ext cx="43891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43800" y="480060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Calibri"/>
              </a:rPr>
              <a:t>Key Rotation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507492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SpoonacularKeyManager pools multiple API keys; rotates on 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Feature 1 — AI Ingredient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6BB6A"/>
                </a:solidFill>
                <a:latin typeface="Calibri"/>
              </a:rPr>
              <a:t>Google Gemini 1.5 Flash Vision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1737360" cy="2194560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12121"/>
                </a:solidFill>
                <a:latin typeface="Calibri"/>
              </a:rPr>
              <a:t>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57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Capture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CameraX or gallery
multi-image picker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0823" y="2148840"/>
            <a:ext cx="128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21408" y="1371600"/>
            <a:ext cx="1737360" cy="2194560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21408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12121"/>
                </a:solidFill>
                <a:latin typeface="Calibri"/>
              </a:rPr>
              <a:t>🗜️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1408" y="2057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Downsample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4688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Bitmap → 1024×1024
max (prevent OOM)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911" y="2148840"/>
            <a:ext cx="128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8496" y="1371600"/>
            <a:ext cx="1737360" cy="2194560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8496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12121"/>
                </a:solidFill>
                <a:latin typeface="Calibri"/>
              </a:rPr>
              <a:t>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057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Compress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9935" y="24688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JPEG quality 85
reduce payload size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2148840"/>
            <a:ext cx="128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15584" y="1371600"/>
            <a:ext cx="1737360" cy="2194560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5584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12121"/>
                </a:solidFill>
                <a:latin typeface="Calibri"/>
              </a:rPr>
              <a:t>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5584" y="2057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Encode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7024" y="24688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Base64 encode
for REST 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2148840"/>
            <a:ext cx="128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62672" y="1371600"/>
            <a:ext cx="1737360" cy="2194560"/>
          </a:xfrm>
          <a:prstGeom prst="rect">
            <a:avLst/>
          </a:prstGeom>
          <a:solidFill>
            <a:srgbClr val="E8F5E9"/>
          </a:solidFill>
          <a:ln w="12700">
            <a:solidFill>
              <a:srgbClr val="FF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62672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12121"/>
                </a:solidFill>
                <a:latin typeface="Calibri"/>
              </a:rPr>
              <a:t>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2057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Gemini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4112" y="24688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1.5 Flash vision
structured prompt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2148840"/>
            <a:ext cx="128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F00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1371600"/>
            <a:ext cx="1737360" cy="2194560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0" y="14173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12121"/>
                </a:solidFill>
                <a:latin typeface="Calibri"/>
              </a:rPr>
              <a:t>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2057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5E20"/>
                </a:solidFill>
                <a:latin typeface="Calibri"/>
              </a:rPr>
              <a:t>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24688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16161"/>
                </a:solidFill>
                <a:latin typeface="Calibri"/>
              </a:rPr>
              <a:t>Deduplicated
ingredient list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794760"/>
            <a:ext cx="11430000" cy="1280160"/>
          </a:xfrm>
          <a:prstGeom prst="rect">
            <a:avLst/>
          </a:prstGeom>
          <a:solidFill>
            <a:srgbClr val="FFF9C4"/>
          </a:solidFill>
          <a:ln w="12700">
            <a:solidFill>
              <a:srgbClr val="FF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840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F00"/>
                </a:solidFill>
                <a:latin typeface="Calibri"/>
              </a:rPr>
              <a:t>🔑  Prompt Engineering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224528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Prompt specifies: specific ingredient names (not generic "vegetable"), comma-separated plain list only, no explanations.
Graceful degradation: returns empty list on any API failure — app never crashes.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Feature 2 — Recipe Search &amp; API Key Rotation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6BB6A"/>
                </a:solidFill>
                <a:latin typeface="Calibri"/>
              </a:rPr>
              <a:t>Spoonacular API + Transparent Quota Failover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Recipe Search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347472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16916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Ingredient list → Spoonacular /findByIngredients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67128"/>
            <a:ext cx="347472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1671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1671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Ranked by matched / missing ingredient 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42616"/>
            <a:ext cx="347472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642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64261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Tap recipe → fetch full details + nutrition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18104"/>
            <a:ext cx="347472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1181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11810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Display card: image, time, servings, calories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93592"/>
            <a:ext cx="347472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59359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59359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Save to Room database for offline access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343400"/>
            <a:ext cx="5577840" cy="1188720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4074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Calibri"/>
              </a:rPr>
              <a:t>📦  Barcode Scanning (ML Kit)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773168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16161"/>
                </a:solidFill>
                <a:latin typeface="Calibri"/>
              </a:rPr>
              <a:t>Scan product barcodes in Verification screen → Open Food Facts API lookup → product name added as ingredient automatically.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2344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API Key Rotation System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69164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178308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1">
                <a:solidFill>
                  <a:srgbClr val="1B5E20"/>
                </a:solidFill>
                <a:latin typeface="Calibri"/>
              </a:rPr>
              <a:t>SpoonacularKeyManager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• Holds pool of N keys from local.properties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• Thread-safe via synchronized sets</a:t>
            </a:r>
          </a:p>
          <a:p>
            <a:pPr algn="l">
              <a:spcBef>
                <a:spcPts val="400"/>
              </a:spcBef>
            </a:pPr>
            <a:r>
              <a:rPr sz="800" b="0">
                <a:solidFill>
                  <a:srgbClr val="212121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>
                <a:solidFill>
                  <a:srgbClr val="1B5E20"/>
                </a:solidFill>
                <a:latin typeface="Calibri"/>
              </a:rPr>
              <a:t>RecipeRepository.withKeyRotation()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• Wraps every Spoonacular API call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• Catches HTTP 402 (quota exhausted)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• Transparently retries with next key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• No user-visible interruption</a:t>
            </a:r>
          </a:p>
          <a:p>
            <a:pPr algn="l">
              <a:spcBef>
                <a:spcPts val="400"/>
              </a:spcBef>
            </a:pPr>
            <a:r>
              <a:rPr sz="800" b="0">
                <a:solidFill>
                  <a:srgbClr val="212121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FF6F00"/>
                </a:solidFill>
                <a:latin typeface="Calibri"/>
              </a:rPr>
              <a:t>Result: uninterrupted service even when</a:t>
            </a: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FF6F00"/>
                </a:solidFill>
                <a:latin typeface="Calibri"/>
              </a:rPr>
              <a:t>individual free-tier keys hit daily limits.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Feature 3 — Hands-Free Cooking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6BB6A"/>
                </a:solidFill>
                <a:latin typeface="Calibri"/>
              </a:rPr>
              <a:t>Text-to-Speech + Voice Commands + Screen-On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3474720" cy="49377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212121"/>
                </a:solidFill>
                <a:latin typeface="Calibri"/>
              </a:rPr>
              <a:t>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E20"/>
                </a:solidFill>
                <a:latin typeface="Calibri"/>
              </a:rPr>
              <a:t>Text-to-Speech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2926079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Android TextToSpeech reads each
  recipe step aloud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Microphone auto-activates after
  TTS finishes speaking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Congratulations message on
  recipe completion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206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Toggle button to enable/disable
  narration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1280160"/>
            <a:ext cx="347472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13716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212121"/>
                </a:solidFill>
                <a:latin typeface="Calibri"/>
              </a:rPr>
              <a:t>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E20"/>
                </a:solidFill>
                <a:latin typeface="Calibri"/>
              </a:rPr>
              <a:t>Voice Commands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2514600"/>
            <a:ext cx="2926079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2651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SpeechRecognizer listens
  continuously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474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"next" / "previous" / "repeat"
  (case-insensitive)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2976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Auto-restarts after command
  or timeout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51206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ERROR_RECOGNIZER_BUSY
  retry handled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1280160"/>
            <a:ext cx="3474720" cy="49377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13716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212121"/>
                </a:solidFill>
                <a:latin typeface="Calibri"/>
              </a:rPr>
              <a:t>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E20"/>
                </a:solidFill>
                <a:latin typeface="Calibri"/>
              </a:rPr>
              <a:t>UX Details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2514600"/>
            <a:ext cx="2926079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19" y="26517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FLAG_KEEP_SCREEN_ON
  prevents sleep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34747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Progress bar shows step
  completion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9" y="42976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Equipment chips shown
  per step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19" y="51206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Portrait locked; no
  accidental rotation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Offline Storage &amp; Data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6BB6A"/>
                </a:solidFill>
                <a:latin typeface="Calibri"/>
              </a:rPr>
              <a:t>Room Database + Local Persistence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SavedRecipe Entity (Room / SQLite)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943600" cy="384048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28216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5E20"/>
                </a:solidFill>
                <a:latin typeface="Calibri"/>
              </a:rPr>
              <a:t>PK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recipeId: 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76479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Spoonacular recipe 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12264"/>
            <a:ext cx="5943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1671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title: String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18541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Recipe display 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32888"/>
            <a:ext cx="5943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87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image: String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060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Thumbnail URL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53512"/>
            <a:ext cx="5943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0083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cookingTime: 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02666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Minutes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74136"/>
            <a:ext cx="5943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29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servings: 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44728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Portions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5943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8496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calories: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386791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Nutritional 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215384"/>
            <a:ext cx="5943600" cy="384048"/>
          </a:xfrm>
          <a:prstGeom prst="rect">
            <a:avLst/>
          </a:prstGeom>
          <a:solidFill>
            <a:srgbClr val="FFF3E0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4251960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F00"/>
                </a:solidFill>
                <a:latin typeface="Calibri"/>
              </a:rPr>
              <a:t>JSON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2702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ingredients: String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28853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Serialised via RecipeConverter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636008"/>
            <a:ext cx="5943600" cy="384048"/>
          </a:xfrm>
          <a:prstGeom prst="rect">
            <a:avLst/>
          </a:prstGeom>
          <a:solidFill>
            <a:srgbClr val="FFF3E0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672584"/>
            <a:ext cx="548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F00"/>
                </a:solidFill>
                <a:latin typeface="Calibri"/>
              </a:rPr>
              <a:t>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6908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steps: String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470916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Serialised cooking steps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56632"/>
            <a:ext cx="5943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11149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savedAt: Long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2978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Unix timestamp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5E20"/>
                </a:solidFill>
                <a:latin typeface="Calibri"/>
              </a:rPr>
              <a:t>Data Access &amp; Architecture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0" y="1691640"/>
            <a:ext cx="5120640" cy="4114800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78308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 b="1">
                <a:solidFill>
                  <a:srgbClr val="1B5E20"/>
                </a:solidFill>
                <a:latin typeface="Calibri"/>
              </a:rPr>
              <a:t>RecipeDao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  insertRecipe(recipe) — REPLACE strategy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  deleteRecipe(recipe)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  getAllRecipes() : LiveData&lt;List&lt;SavedRecipe&gt;&gt;</a:t>
            </a:r>
          </a:p>
          <a:p>
            <a:pPr algn="l">
              <a:spcBef>
                <a:spcPts val="300"/>
              </a:spcBef>
            </a:pPr>
            <a:r>
              <a:rPr sz="800" b="0">
                <a:solidFill>
                  <a:srgbClr val="212121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400" b="1">
                <a:solidFill>
                  <a:srgbClr val="1B5E20"/>
                </a:solidFill>
                <a:latin typeface="Calibri"/>
              </a:rPr>
              <a:t>RecipeConverter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  ingredients ↔ JSON via Gson serialisation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  steps ↔ JSON stored as single String column</a:t>
            </a:r>
          </a:p>
          <a:p>
            <a:pPr algn="l">
              <a:spcBef>
                <a:spcPts val="300"/>
              </a:spcBef>
            </a:pPr>
            <a:r>
              <a:rPr sz="800" b="0">
                <a:solidFill>
                  <a:srgbClr val="212121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400" b="1">
                <a:solidFill>
                  <a:srgbClr val="1B5E20"/>
                </a:solidFill>
                <a:latin typeface="Calibri"/>
              </a:rPr>
              <a:t>AppDatabase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  Singleton via getInstance(context)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  Version 1 · fallbackToDestructiveMigration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  Table: saved_recipes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6BB6A"/>
                </a:solidFill>
                <a:latin typeface="Calibri"/>
              </a:rPr>
              <a:t>Libraries, APIs &amp;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486400" cy="24231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📡  Networking &amp; APIs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10512"/>
            <a:ext cx="5212080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Retrofit 2 + OkHttp 4 — REST 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3113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Gson converter — JSON deserialisation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032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Google Gemini 1.5 Flash — AI vision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89503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Spoonacular API — recipe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18687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Open Food Facts — barcode product lookup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80160"/>
            <a:ext cx="5486400" cy="242316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🗄️  Data &amp; Persistence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810512"/>
            <a:ext cx="5212080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9019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Room 2.6 — SQLite 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3113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Kotlin Coroutines — async I/O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6032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LiveData — reactive UI updates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889503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Gson — JSON serialisation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886200"/>
            <a:ext cx="548640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977639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📷  Camera &amp; Media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416552"/>
            <a:ext cx="5212080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0799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CameraX — live preview + capture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3717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Glide 4 — image loading &amp; caching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16636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ML Kit Barcode Scanning (GMS)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9554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Android SpeechRecognizer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2472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Android TextToSpeech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886200"/>
            <a:ext cx="548640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977639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  <a:latin typeface="Calibri"/>
              </a:rPr>
              <a:t>🏗️  Architecture &amp;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4416552"/>
            <a:ext cx="5212080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450799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Kotlin (min SDK 26 / target SDK 35)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83717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MVVM + Repository pattern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16636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ViewBinding — type-safe view access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49554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Gradle Kotlin DSL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82472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Android Studio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Challenges &amp;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92608" cy="118872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5029200" cy="1188720"/>
          </a:xfrm>
          <a:prstGeom prst="rect">
            <a:avLst/>
          </a:prstGeom>
          <a:solidFill>
            <a:srgbClr val="FFEBEE"/>
          </a:solidFill>
          <a:ln w="12700">
            <a:solidFill>
              <a:srgbClr val="E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33502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API Quota Exhaustion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664207"/>
            <a:ext cx="4663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Spoonacular free tier hits daily limit mid-session, breaking recipe search.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16276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D32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80160"/>
            <a:ext cx="5486400" cy="118872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71600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✅ Built SpoonacularKeyManager with a key pool. withKeyRotation() catches HTTP 402 and transparently retries with next available key — zero user-visible failure.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78608"/>
            <a:ext cx="292608" cy="118872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898648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578608"/>
            <a:ext cx="5029200" cy="1188720"/>
          </a:xfrm>
          <a:prstGeom prst="rect">
            <a:avLst/>
          </a:prstGeom>
          <a:solidFill>
            <a:srgbClr val="FFEBEE"/>
          </a:solidFill>
          <a:ln w="12700">
            <a:solidFill>
              <a:srgbClr val="E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63347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Image Size &amp; OOM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962656"/>
            <a:ext cx="4663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High-res camera photos cause OutOfMemoryError when base64-encoding for Gemini API.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9260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D32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578608"/>
            <a:ext cx="5486400" cy="118872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670048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✅ IngredientDetector downsamples all bitmaps to 1024×1024 max and compresses to JPEG quality 85 before encoding — reducing payload ~10× with no accuracy loss.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877056"/>
            <a:ext cx="292608" cy="118872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197096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877056"/>
            <a:ext cx="5029200" cy="1188720"/>
          </a:xfrm>
          <a:prstGeom prst="rect">
            <a:avLst/>
          </a:prstGeom>
          <a:solidFill>
            <a:srgbClr val="FFEBEE"/>
          </a:solidFill>
          <a:ln w="12700">
            <a:solidFill>
              <a:srgbClr val="E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319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Hands-Free Cooking 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261104"/>
            <a:ext cx="4663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Microphone and TTS must interleave smoothly without overlap or dropped voice commands.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D32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877056"/>
            <a:ext cx="5486400" cy="118872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968496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✅ TTS UtteranceProgressListener auto-starts SpeechRecognizer after speech ends. ERROR_RECOGNIZER_BUSY is caught and retried after a short delay.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175504"/>
            <a:ext cx="292608" cy="118872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5495544"/>
            <a:ext cx="292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5175504"/>
            <a:ext cx="5029200" cy="1188720"/>
          </a:xfrm>
          <a:prstGeom prst="rect">
            <a:avLst/>
          </a:prstGeom>
          <a:solidFill>
            <a:srgbClr val="FFEBEE"/>
          </a:solidFill>
          <a:ln w="12700">
            <a:solidFill>
              <a:srgbClr val="E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23036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Voice Recognition Accuracy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559552"/>
            <a:ext cx="4663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Short commands like "next" are sometimes mis-heard in noisy kitchens.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5522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E7D32"/>
                </a:solidFill>
                <a:latin typeface="Calibr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5175504"/>
            <a:ext cx="5486400" cy="118872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5266944"/>
            <a:ext cx="5166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✅ Accepting top 3 recognition results (EXTRA_MAX_RESULTS=3) and matching any of them against command keywords with contains() + lowercase normalisation.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Team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54864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56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BB6A"/>
                </a:solidFill>
                <a:latin typeface="Calibri"/>
              </a:rPr>
              <a:t>Snap &amp; Cook  |  CSD3156 Mobile and Cloud Computing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11430000" cy="713232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53895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53895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380744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Calibri"/>
              </a:rPr>
              <a:t>Ernest Ho Yong Heng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70992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2301223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472184"/>
            <a:ext cx="7315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CameraX integration, IngredientDetector (Gemini vision pipeline), image processing pipeline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12264"/>
            <a:ext cx="11430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40280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40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16712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Calibri"/>
              </a:rPr>
              <a:t>Lucas Yee Junjie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49631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2301212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258568"/>
            <a:ext cx="7315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RecipeResultActivity, RecipeViewModel, Spoonacular API integration, recipe cards UI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98648"/>
            <a:ext cx="11430000" cy="713232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026664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0266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95351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Calibri"/>
              </a:rPr>
              <a:t>Tan Shun Zhi Tomy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28269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2301341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044952"/>
            <a:ext cx="7315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CookingModeActivity, TTS narration, SpeechRecognizer voice commands, screen-on management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85032"/>
            <a:ext cx="11430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813048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8130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73989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Calibri"/>
              </a:rPr>
              <a:t>Wong Woon 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06908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2301308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3831336"/>
            <a:ext cx="7315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Room database, SavedRecipesActivity, offline persistence, RecipeConverter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71416"/>
            <a:ext cx="11430000" cy="713232"/>
          </a:xfrm>
          <a:prstGeom prst="rect">
            <a:avLst/>
          </a:prstGeom>
          <a:solidFill>
            <a:srgbClr val="E8F5E9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599431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5994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526279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Calibri"/>
              </a:rPr>
              <a:t>Yan Yu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85546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2301213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617720"/>
            <a:ext cx="7315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VerificationActivity, barcode scanning (ML Kit + Open Food Facts), ingredient editing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257800"/>
            <a:ext cx="11430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85816"/>
            <a:ext cx="45720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3858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5312664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  <a:latin typeface="Calibri"/>
              </a:rPr>
              <a:t>Muhammad Zikry Bin Zakaria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564184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16161"/>
                </a:solidFill>
                <a:latin typeface="Calibri"/>
              </a:rPr>
              <a:t>2201751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5404104"/>
            <a:ext cx="7315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MainActivity, SplashActivity, MVVM architecture setup, API key rotation system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645920"/>
            <a:ext cx="121889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10896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6BB6A"/>
                </a:solidFill>
                <a:latin typeface="Calibri"/>
              </a:rPr>
              <a:t>Snap &amp; Cook  —  End-to-End Walkthrough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384048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500" b="0">
                <a:solidFill>
                  <a:srgbClr val="F5F5F5"/>
                </a:solidFill>
                <a:latin typeface="Calibri"/>
              </a:rPr>
              <a:t>1. Launch app  →  Home screen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F5F5F5"/>
                </a:solidFill>
                <a:latin typeface="Calibri"/>
              </a:rPr>
              <a:t>2. Tap Camera  →  Photograph ingredients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F5F5F5"/>
                </a:solidFill>
                <a:latin typeface="Calibri"/>
              </a:rPr>
              <a:t>3. Review &amp; edit detected ingredients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F5F5F5"/>
                </a:solidFill>
                <a:latin typeface="Calibri"/>
              </a:rPr>
              <a:t>4. Browse recipe results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F5F5F5"/>
                </a:solidFill>
                <a:latin typeface="Calibri"/>
              </a:rPr>
              <a:t>5. Enter Cooking Mode  →  voice command "next"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F5F5F5"/>
                </a:solidFill>
                <a:latin typeface="Calibri"/>
              </a:rPr>
              <a:t>6. Show Saved Recipes (offline)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57200"/>
            <a:ext cx="12188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54480"/>
            <a:ext cx="9601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📷  Camera &amp; AI  —  CameraX + Gemini 1.5 Flash ingredient detection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🌐  Networking   —  3 REST APIs with transparent key rotation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🗄️  Persistence  —  Room database for offline saved recipes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🎤  Sensors      —  Microphone (voice commands), Camera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🔊  Cooking Mode —  TTS narration + hands-free voice navigation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📦  Barcode      —  ML Kit scanning + Open Food Facts lookup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FFFFFF"/>
                </a:solidFill>
                <a:latin typeface="Calibri"/>
              </a:rPr>
              <a:t>🏗️  Architecture —  MVVM + Repository, Kotlin Coroutines, LiveData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394960"/>
            <a:ext cx="12188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A726"/>
                </a:solidFill>
                <a:latin typeface="Calibri"/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080760"/>
            <a:ext cx="12188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6BB6A"/>
                </a:solidFill>
                <a:latin typeface="Calibri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